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3" r:id="rId4"/>
  </p:sldMasterIdLst>
  <p:sldIdLst>
    <p:sldId id="257" r:id="rId5"/>
    <p:sldId id="258" r:id="rId6"/>
    <p:sldId id="346" r:id="rId7"/>
    <p:sldId id="345" r:id="rId8"/>
    <p:sldId id="354" r:id="rId9"/>
    <p:sldId id="356" r:id="rId10"/>
    <p:sldId id="341" r:id="rId11"/>
    <p:sldId id="337" r:id="rId12"/>
    <p:sldId id="338" r:id="rId13"/>
    <p:sldId id="357" r:id="rId14"/>
    <p:sldId id="358" r:id="rId15"/>
    <p:sldId id="347" r:id="rId16"/>
    <p:sldId id="353" r:id="rId17"/>
    <p:sldId id="344" r:id="rId18"/>
    <p:sldId id="359" r:id="rId19"/>
    <p:sldId id="355" r:id="rId20"/>
    <p:sldId id="329" r:id="rId21"/>
    <p:sldId id="360" r:id="rId22"/>
    <p:sldId id="270" r:id="rId23"/>
  </p:sldIdLst>
  <p:sldSz cx="9144000" cy="6858000" type="screen4x3"/>
  <p:notesSz cx="7023100" cy="93091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
          <p15:clr>
            <a:srgbClr val="A4A3A4"/>
          </p15:clr>
        </p15:guide>
        <p15:guide id="2" pos="287">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ice, Diane" initials="RD" lastIdx="3" clrIdx="0">
    <p:extLst>
      <p:ext uri="{19B8F6BF-5375-455C-9EA6-DF929625EA0E}">
        <p15:presenceInfo xmlns:p15="http://schemas.microsoft.com/office/powerpoint/2012/main" userId="S-1-5-21-2069052126-675938317-1039276024-162036" providerId="AD"/>
      </p:ext>
    </p:extLst>
  </p:cmAuthor>
  <p:cmAuthor id="2" name="Capodanno, Evelyn" initials="CE" lastIdx="1" clrIdx="1">
    <p:extLst>
      <p:ext uri="{19B8F6BF-5375-455C-9EA6-DF929625EA0E}">
        <p15:presenceInfo xmlns:p15="http://schemas.microsoft.com/office/powerpoint/2012/main" userId="S-1-5-21-2069052126-675938317-1039276024-13598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27518"/>
    <a:srgbClr val="D000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10" autoAdjust="0"/>
    <p:restoredTop sz="99591" autoAdjust="0"/>
  </p:normalViewPr>
  <p:slideViewPr>
    <p:cSldViewPr snapToGrid="0">
      <p:cViewPr varScale="1">
        <p:scale>
          <a:sx n="108" d="100"/>
          <a:sy n="108" d="100"/>
        </p:scale>
        <p:origin x="264" y="102"/>
      </p:cViewPr>
      <p:guideLst>
        <p:guide orient="horz" pos="208"/>
        <p:guide pos="287"/>
      </p:guideLst>
    </p:cSldViewPr>
  </p:slideViewPr>
  <p:notesTextViewPr>
    <p:cViewPr>
      <p:scale>
        <a:sx n="100" d="100"/>
        <a:sy n="100" d="100"/>
      </p:scale>
      <p:origin x="0" y="0"/>
    </p:cViewPr>
  </p:notesTextViewPr>
  <p:sorterViewPr>
    <p:cViewPr>
      <p:scale>
        <a:sx n="150" d="100"/>
        <a:sy n="15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5DBF87-26B5-4561-AFBD-522D007BCC4E}" type="doc">
      <dgm:prSet loTypeId="urn:microsoft.com/office/officeart/2005/8/layout/cycle3" loCatId="cycle" qsTypeId="urn:microsoft.com/office/officeart/2005/8/quickstyle/simple5" qsCatId="simple" csTypeId="urn:microsoft.com/office/officeart/2005/8/colors/accent0_3" csCatId="mainScheme" phldr="1"/>
      <dgm:spPr/>
      <dgm:t>
        <a:bodyPr/>
        <a:lstStyle/>
        <a:p>
          <a:endParaRPr lang="en-US"/>
        </a:p>
      </dgm:t>
    </dgm:pt>
    <dgm:pt modelId="{1A90A7B6-7D81-482B-813B-5B21D408C339}">
      <dgm:prSet phldrT="[Text]"/>
      <dgm:spPr/>
      <dgm:t>
        <a:bodyPr/>
        <a:lstStyle/>
        <a:p>
          <a:r>
            <a:rPr lang="en-US" dirty="0" smtClean="0"/>
            <a:t>Debt is furnished to the CRAs by the DF. CRAs put the information on the credit report</a:t>
          </a:r>
          <a:endParaRPr lang="en-US" dirty="0"/>
        </a:p>
      </dgm:t>
    </dgm:pt>
    <dgm:pt modelId="{56183FCC-08EC-459A-BB74-268EA6E67E91}" type="parTrans" cxnId="{B4913776-1356-45B3-93C0-683BF593779E}">
      <dgm:prSet/>
      <dgm:spPr/>
      <dgm:t>
        <a:bodyPr/>
        <a:lstStyle/>
        <a:p>
          <a:endParaRPr lang="en-US"/>
        </a:p>
      </dgm:t>
    </dgm:pt>
    <dgm:pt modelId="{C09AD9E8-DA7E-49A5-A248-C245B1B318F7}" type="sibTrans" cxnId="{B4913776-1356-45B3-93C0-683BF593779E}">
      <dgm:prSet/>
      <dgm:spPr/>
      <dgm:t>
        <a:bodyPr/>
        <a:lstStyle/>
        <a:p>
          <a:endParaRPr lang="en-US"/>
        </a:p>
      </dgm:t>
    </dgm:pt>
    <dgm:pt modelId="{55B6F898-A2AA-4BE1-BC0A-7EF1FF2F0D2E}">
      <dgm:prSet phldrT="[Text]"/>
      <dgm:spPr/>
      <dgm:t>
        <a:bodyPr/>
        <a:lstStyle/>
        <a:p>
          <a:r>
            <a:rPr lang="en-US" dirty="0" smtClean="0"/>
            <a:t>Consumer accesses their credit report and detects inaccurate or incomplete information</a:t>
          </a:r>
          <a:endParaRPr lang="en-US" dirty="0"/>
        </a:p>
      </dgm:t>
    </dgm:pt>
    <dgm:pt modelId="{9EF9C6EF-06DF-47DF-9D20-63F99D36DA5A}" type="parTrans" cxnId="{061E98A7-CA92-4B46-8099-1668F0ECF7E9}">
      <dgm:prSet/>
      <dgm:spPr/>
      <dgm:t>
        <a:bodyPr/>
        <a:lstStyle/>
        <a:p>
          <a:endParaRPr lang="en-US"/>
        </a:p>
      </dgm:t>
    </dgm:pt>
    <dgm:pt modelId="{15D00E95-79D4-429B-95F8-F36929CE8A73}" type="sibTrans" cxnId="{061E98A7-CA92-4B46-8099-1668F0ECF7E9}">
      <dgm:prSet/>
      <dgm:spPr/>
      <dgm:t>
        <a:bodyPr/>
        <a:lstStyle/>
        <a:p>
          <a:endParaRPr lang="en-US"/>
        </a:p>
      </dgm:t>
    </dgm:pt>
    <dgm:pt modelId="{3C606A51-DE74-4708-915D-E530604C352C}">
      <dgm:prSet phldrT="[Text]"/>
      <dgm:spPr/>
      <dgm:t>
        <a:bodyPr/>
        <a:lstStyle/>
        <a:p>
          <a:r>
            <a:rPr lang="en-US" dirty="0" smtClean="0"/>
            <a:t>Consumer submits dispute to the CRA (online, mail, phone)</a:t>
          </a:r>
          <a:endParaRPr lang="en-US" dirty="0"/>
        </a:p>
      </dgm:t>
    </dgm:pt>
    <dgm:pt modelId="{CCAAFC31-6557-457B-84B7-DF0F525118C1}" type="parTrans" cxnId="{6F99B3FA-1234-49F2-BE3D-1D7B2652A1EA}">
      <dgm:prSet/>
      <dgm:spPr/>
      <dgm:t>
        <a:bodyPr/>
        <a:lstStyle/>
        <a:p>
          <a:endParaRPr lang="en-US"/>
        </a:p>
      </dgm:t>
    </dgm:pt>
    <dgm:pt modelId="{4930279C-75F5-4010-B0E2-85EA824EE566}" type="sibTrans" cxnId="{6F99B3FA-1234-49F2-BE3D-1D7B2652A1EA}">
      <dgm:prSet/>
      <dgm:spPr/>
      <dgm:t>
        <a:bodyPr/>
        <a:lstStyle/>
        <a:p>
          <a:endParaRPr lang="en-US"/>
        </a:p>
      </dgm:t>
    </dgm:pt>
    <dgm:pt modelId="{D36DB4AE-1BA3-431E-BF94-A014996F9367}">
      <dgm:prSet phldrT="[Text]"/>
      <dgm:spPr/>
      <dgm:t>
        <a:bodyPr/>
        <a:lstStyle/>
        <a:p>
          <a:r>
            <a:rPr lang="en-US" dirty="0" smtClean="0"/>
            <a:t>DF investigates and responds to the CRA via e-Oscar (verify, update, delete)</a:t>
          </a:r>
          <a:endParaRPr lang="en-US" dirty="0"/>
        </a:p>
      </dgm:t>
    </dgm:pt>
    <dgm:pt modelId="{CA61717A-860F-43F7-B29E-7BCD4E72B491}" type="parTrans" cxnId="{D64052A0-4AA8-4516-9CF1-628672904CDF}">
      <dgm:prSet/>
      <dgm:spPr/>
      <dgm:t>
        <a:bodyPr/>
        <a:lstStyle/>
        <a:p>
          <a:endParaRPr lang="en-US"/>
        </a:p>
      </dgm:t>
    </dgm:pt>
    <dgm:pt modelId="{9EA45C63-011B-4E96-A5EB-B87D7902DC5E}" type="sibTrans" cxnId="{D64052A0-4AA8-4516-9CF1-628672904CDF}">
      <dgm:prSet/>
      <dgm:spPr/>
      <dgm:t>
        <a:bodyPr/>
        <a:lstStyle/>
        <a:p>
          <a:endParaRPr lang="en-US"/>
        </a:p>
      </dgm:t>
    </dgm:pt>
    <dgm:pt modelId="{C2B2E14A-95D5-49B2-B1FE-216FD4CF2EB7}">
      <dgm:prSet phldrT="[Text]"/>
      <dgm:spPr/>
      <dgm:t>
        <a:bodyPr/>
        <a:lstStyle/>
        <a:p>
          <a:r>
            <a:rPr lang="en-US" dirty="0" smtClean="0"/>
            <a:t>CRA responds to the consumer and updates information on credit file</a:t>
          </a:r>
          <a:endParaRPr lang="en-US" dirty="0"/>
        </a:p>
      </dgm:t>
    </dgm:pt>
    <dgm:pt modelId="{22EDD98A-B41A-42D0-9BBC-5349BC93C735}" type="parTrans" cxnId="{E1C52502-429E-43D8-9C7F-02470E7F623D}">
      <dgm:prSet/>
      <dgm:spPr/>
      <dgm:t>
        <a:bodyPr/>
        <a:lstStyle/>
        <a:p>
          <a:endParaRPr lang="en-US"/>
        </a:p>
      </dgm:t>
    </dgm:pt>
    <dgm:pt modelId="{602FE906-9DC0-4EDA-A81D-60DCE11E0DFB}" type="sibTrans" cxnId="{E1C52502-429E-43D8-9C7F-02470E7F623D}">
      <dgm:prSet/>
      <dgm:spPr/>
      <dgm:t>
        <a:bodyPr/>
        <a:lstStyle/>
        <a:p>
          <a:endParaRPr lang="en-US"/>
        </a:p>
      </dgm:t>
    </dgm:pt>
    <dgm:pt modelId="{C6FBEB64-AE2C-47FF-9DC9-4DC02AA0AB9B}">
      <dgm:prSet phldrT="[Text]"/>
      <dgm:spPr/>
      <dgm:t>
        <a:bodyPr/>
        <a:lstStyle/>
        <a:p>
          <a:r>
            <a:rPr lang="en-US" dirty="0" smtClean="0"/>
            <a:t>CRA reviews the dispute, assigns a dispute reason code, and sends the disputed information to the DF via e-Oscar</a:t>
          </a:r>
          <a:endParaRPr lang="en-US" dirty="0"/>
        </a:p>
      </dgm:t>
    </dgm:pt>
    <dgm:pt modelId="{32DA6B49-E086-4439-B0D2-A54C06BBA934}" type="parTrans" cxnId="{3A576FC8-547E-49CD-B329-A6EEBE75C758}">
      <dgm:prSet/>
      <dgm:spPr/>
      <dgm:t>
        <a:bodyPr/>
        <a:lstStyle/>
        <a:p>
          <a:endParaRPr lang="en-US"/>
        </a:p>
      </dgm:t>
    </dgm:pt>
    <dgm:pt modelId="{274F351A-08DA-4BE5-A925-A491E254BFF8}" type="sibTrans" cxnId="{3A576FC8-547E-49CD-B329-A6EEBE75C758}">
      <dgm:prSet/>
      <dgm:spPr/>
      <dgm:t>
        <a:bodyPr/>
        <a:lstStyle/>
        <a:p>
          <a:endParaRPr lang="en-US"/>
        </a:p>
      </dgm:t>
    </dgm:pt>
    <dgm:pt modelId="{678DB0A0-0FA0-4599-90B1-A396E20ECEFE}" type="pres">
      <dgm:prSet presAssocID="{6B5DBF87-26B5-4561-AFBD-522D007BCC4E}" presName="Name0" presStyleCnt="0">
        <dgm:presLayoutVars>
          <dgm:dir/>
          <dgm:resizeHandles val="exact"/>
        </dgm:presLayoutVars>
      </dgm:prSet>
      <dgm:spPr/>
      <dgm:t>
        <a:bodyPr/>
        <a:lstStyle/>
        <a:p>
          <a:endParaRPr lang="en-US"/>
        </a:p>
      </dgm:t>
    </dgm:pt>
    <dgm:pt modelId="{1C91FB72-AAE4-4676-A155-5FC124DFC7AA}" type="pres">
      <dgm:prSet presAssocID="{6B5DBF87-26B5-4561-AFBD-522D007BCC4E}" presName="cycle" presStyleCnt="0"/>
      <dgm:spPr/>
    </dgm:pt>
    <dgm:pt modelId="{DF28F15B-62D6-4B7C-B576-461CA756D078}" type="pres">
      <dgm:prSet presAssocID="{1A90A7B6-7D81-482B-813B-5B21D408C339}" presName="nodeFirstNode" presStyleLbl="node1" presStyleIdx="0" presStyleCnt="6">
        <dgm:presLayoutVars>
          <dgm:bulletEnabled val="1"/>
        </dgm:presLayoutVars>
      </dgm:prSet>
      <dgm:spPr/>
      <dgm:t>
        <a:bodyPr/>
        <a:lstStyle/>
        <a:p>
          <a:endParaRPr lang="en-US"/>
        </a:p>
      </dgm:t>
    </dgm:pt>
    <dgm:pt modelId="{3157602F-517D-4249-8E63-22B6F29B2849}" type="pres">
      <dgm:prSet presAssocID="{C09AD9E8-DA7E-49A5-A248-C245B1B318F7}" presName="sibTransFirstNode" presStyleLbl="bgShp" presStyleIdx="0" presStyleCnt="1"/>
      <dgm:spPr/>
      <dgm:t>
        <a:bodyPr/>
        <a:lstStyle/>
        <a:p>
          <a:endParaRPr lang="en-US"/>
        </a:p>
      </dgm:t>
    </dgm:pt>
    <dgm:pt modelId="{1550EDA2-50AD-4D33-ADE5-F6FC103131AB}" type="pres">
      <dgm:prSet presAssocID="{55B6F898-A2AA-4BE1-BC0A-7EF1FF2F0D2E}" presName="nodeFollowingNodes" presStyleLbl="node1" presStyleIdx="1" presStyleCnt="6">
        <dgm:presLayoutVars>
          <dgm:bulletEnabled val="1"/>
        </dgm:presLayoutVars>
      </dgm:prSet>
      <dgm:spPr/>
      <dgm:t>
        <a:bodyPr/>
        <a:lstStyle/>
        <a:p>
          <a:endParaRPr lang="en-US"/>
        </a:p>
      </dgm:t>
    </dgm:pt>
    <dgm:pt modelId="{7CCC5BB4-7914-46CE-97D9-D5A21D067CC3}" type="pres">
      <dgm:prSet presAssocID="{3C606A51-DE74-4708-915D-E530604C352C}" presName="nodeFollowingNodes" presStyleLbl="node1" presStyleIdx="2" presStyleCnt="6">
        <dgm:presLayoutVars>
          <dgm:bulletEnabled val="1"/>
        </dgm:presLayoutVars>
      </dgm:prSet>
      <dgm:spPr/>
      <dgm:t>
        <a:bodyPr/>
        <a:lstStyle/>
        <a:p>
          <a:endParaRPr lang="en-US"/>
        </a:p>
      </dgm:t>
    </dgm:pt>
    <dgm:pt modelId="{C741F927-7F3E-4BB6-ACFC-FAB9EEC1125C}" type="pres">
      <dgm:prSet presAssocID="{C6FBEB64-AE2C-47FF-9DC9-4DC02AA0AB9B}" presName="nodeFollowingNodes" presStyleLbl="node1" presStyleIdx="3" presStyleCnt="6">
        <dgm:presLayoutVars>
          <dgm:bulletEnabled val="1"/>
        </dgm:presLayoutVars>
      </dgm:prSet>
      <dgm:spPr/>
      <dgm:t>
        <a:bodyPr/>
        <a:lstStyle/>
        <a:p>
          <a:endParaRPr lang="en-US"/>
        </a:p>
      </dgm:t>
    </dgm:pt>
    <dgm:pt modelId="{4CD9ED8D-D50E-40AA-B6CF-9622F85A09D8}" type="pres">
      <dgm:prSet presAssocID="{D36DB4AE-1BA3-431E-BF94-A014996F9367}" presName="nodeFollowingNodes" presStyleLbl="node1" presStyleIdx="4" presStyleCnt="6">
        <dgm:presLayoutVars>
          <dgm:bulletEnabled val="1"/>
        </dgm:presLayoutVars>
      </dgm:prSet>
      <dgm:spPr/>
      <dgm:t>
        <a:bodyPr/>
        <a:lstStyle/>
        <a:p>
          <a:endParaRPr lang="en-US"/>
        </a:p>
      </dgm:t>
    </dgm:pt>
    <dgm:pt modelId="{728F6C18-73D2-46D4-AD71-AB503DB2AB28}" type="pres">
      <dgm:prSet presAssocID="{C2B2E14A-95D5-49B2-B1FE-216FD4CF2EB7}" presName="nodeFollowingNodes" presStyleLbl="node1" presStyleIdx="5" presStyleCnt="6">
        <dgm:presLayoutVars>
          <dgm:bulletEnabled val="1"/>
        </dgm:presLayoutVars>
      </dgm:prSet>
      <dgm:spPr/>
      <dgm:t>
        <a:bodyPr/>
        <a:lstStyle/>
        <a:p>
          <a:endParaRPr lang="en-US"/>
        </a:p>
      </dgm:t>
    </dgm:pt>
  </dgm:ptLst>
  <dgm:cxnLst>
    <dgm:cxn modelId="{D64052A0-4AA8-4516-9CF1-628672904CDF}" srcId="{6B5DBF87-26B5-4561-AFBD-522D007BCC4E}" destId="{D36DB4AE-1BA3-431E-BF94-A014996F9367}" srcOrd="4" destOrd="0" parTransId="{CA61717A-860F-43F7-B29E-7BCD4E72B491}" sibTransId="{9EA45C63-011B-4E96-A5EB-B87D7902DC5E}"/>
    <dgm:cxn modelId="{6F99B3FA-1234-49F2-BE3D-1D7B2652A1EA}" srcId="{6B5DBF87-26B5-4561-AFBD-522D007BCC4E}" destId="{3C606A51-DE74-4708-915D-E530604C352C}" srcOrd="2" destOrd="0" parTransId="{CCAAFC31-6557-457B-84B7-DF0F525118C1}" sibTransId="{4930279C-75F5-4010-B0E2-85EA824EE566}"/>
    <dgm:cxn modelId="{D0E0FEA3-FF15-4F92-A204-77808108A461}" type="presOf" srcId="{C2B2E14A-95D5-49B2-B1FE-216FD4CF2EB7}" destId="{728F6C18-73D2-46D4-AD71-AB503DB2AB28}" srcOrd="0" destOrd="0" presId="urn:microsoft.com/office/officeart/2005/8/layout/cycle3"/>
    <dgm:cxn modelId="{B4913776-1356-45B3-93C0-683BF593779E}" srcId="{6B5DBF87-26B5-4561-AFBD-522D007BCC4E}" destId="{1A90A7B6-7D81-482B-813B-5B21D408C339}" srcOrd="0" destOrd="0" parTransId="{56183FCC-08EC-459A-BB74-268EA6E67E91}" sibTransId="{C09AD9E8-DA7E-49A5-A248-C245B1B318F7}"/>
    <dgm:cxn modelId="{F108E154-7505-4301-8421-13CD4C672426}" type="presOf" srcId="{C6FBEB64-AE2C-47FF-9DC9-4DC02AA0AB9B}" destId="{C741F927-7F3E-4BB6-ACFC-FAB9EEC1125C}" srcOrd="0" destOrd="0" presId="urn:microsoft.com/office/officeart/2005/8/layout/cycle3"/>
    <dgm:cxn modelId="{D418F454-4D45-4B87-85BD-078B18135024}" type="presOf" srcId="{D36DB4AE-1BA3-431E-BF94-A014996F9367}" destId="{4CD9ED8D-D50E-40AA-B6CF-9622F85A09D8}" srcOrd="0" destOrd="0" presId="urn:microsoft.com/office/officeart/2005/8/layout/cycle3"/>
    <dgm:cxn modelId="{15199BE1-9F1F-4858-B674-37AD34E75BC6}" type="presOf" srcId="{1A90A7B6-7D81-482B-813B-5B21D408C339}" destId="{DF28F15B-62D6-4B7C-B576-461CA756D078}" srcOrd="0" destOrd="0" presId="urn:microsoft.com/office/officeart/2005/8/layout/cycle3"/>
    <dgm:cxn modelId="{44E60D8F-E1F1-48EE-A966-1D05E8478645}" type="presOf" srcId="{C09AD9E8-DA7E-49A5-A248-C245B1B318F7}" destId="{3157602F-517D-4249-8E63-22B6F29B2849}" srcOrd="0" destOrd="0" presId="urn:microsoft.com/office/officeart/2005/8/layout/cycle3"/>
    <dgm:cxn modelId="{061E98A7-CA92-4B46-8099-1668F0ECF7E9}" srcId="{6B5DBF87-26B5-4561-AFBD-522D007BCC4E}" destId="{55B6F898-A2AA-4BE1-BC0A-7EF1FF2F0D2E}" srcOrd="1" destOrd="0" parTransId="{9EF9C6EF-06DF-47DF-9D20-63F99D36DA5A}" sibTransId="{15D00E95-79D4-429B-95F8-F36929CE8A73}"/>
    <dgm:cxn modelId="{E6FB33EC-9274-48FC-8609-DFCD944EECE3}" type="presOf" srcId="{6B5DBF87-26B5-4561-AFBD-522D007BCC4E}" destId="{678DB0A0-0FA0-4599-90B1-A396E20ECEFE}" srcOrd="0" destOrd="0" presId="urn:microsoft.com/office/officeart/2005/8/layout/cycle3"/>
    <dgm:cxn modelId="{8584B547-8AFF-4D51-96A3-89B1DE746F19}" type="presOf" srcId="{55B6F898-A2AA-4BE1-BC0A-7EF1FF2F0D2E}" destId="{1550EDA2-50AD-4D33-ADE5-F6FC103131AB}" srcOrd="0" destOrd="0" presId="urn:microsoft.com/office/officeart/2005/8/layout/cycle3"/>
    <dgm:cxn modelId="{E1C52502-429E-43D8-9C7F-02470E7F623D}" srcId="{6B5DBF87-26B5-4561-AFBD-522D007BCC4E}" destId="{C2B2E14A-95D5-49B2-B1FE-216FD4CF2EB7}" srcOrd="5" destOrd="0" parTransId="{22EDD98A-B41A-42D0-9BBC-5349BC93C735}" sibTransId="{602FE906-9DC0-4EDA-A81D-60DCE11E0DFB}"/>
    <dgm:cxn modelId="{3A576FC8-547E-49CD-B329-A6EEBE75C758}" srcId="{6B5DBF87-26B5-4561-AFBD-522D007BCC4E}" destId="{C6FBEB64-AE2C-47FF-9DC9-4DC02AA0AB9B}" srcOrd="3" destOrd="0" parTransId="{32DA6B49-E086-4439-B0D2-A54C06BBA934}" sibTransId="{274F351A-08DA-4BE5-A925-A491E254BFF8}"/>
    <dgm:cxn modelId="{91DC0F84-43DE-40B9-9149-65802DDB9ABC}" type="presOf" srcId="{3C606A51-DE74-4708-915D-E530604C352C}" destId="{7CCC5BB4-7914-46CE-97D9-D5A21D067CC3}" srcOrd="0" destOrd="0" presId="urn:microsoft.com/office/officeart/2005/8/layout/cycle3"/>
    <dgm:cxn modelId="{CAB22E33-D158-454E-8626-883667AC6A3F}" type="presParOf" srcId="{678DB0A0-0FA0-4599-90B1-A396E20ECEFE}" destId="{1C91FB72-AAE4-4676-A155-5FC124DFC7AA}" srcOrd="0" destOrd="0" presId="urn:microsoft.com/office/officeart/2005/8/layout/cycle3"/>
    <dgm:cxn modelId="{C7BB40EF-120A-4F17-996E-5E625DAF8058}" type="presParOf" srcId="{1C91FB72-AAE4-4676-A155-5FC124DFC7AA}" destId="{DF28F15B-62D6-4B7C-B576-461CA756D078}" srcOrd="0" destOrd="0" presId="urn:microsoft.com/office/officeart/2005/8/layout/cycle3"/>
    <dgm:cxn modelId="{F0F1CE78-ABAD-47BB-94BD-37B00EEC65E1}" type="presParOf" srcId="{1C91FB72-AAE4-4676-A155-5FC124DFC7AA}" destId="{3157602F-517D-4249-8E63-22B6F29B2849}" srcOrd="1" destOrd="0" presId="urn:microsoft.com/office/officeart/2005/8/layout/cycle3"/>
    <dgm:cxn modelId="{FE097D46-8F93-4C57-B88E-6F751A120AC5}" type="presParOf" srcId="{1C91FB72-AAE4-4676-A155-5FC124DFC7AA}" destId="{1550EDA2-50AD-4D33-ADE5-F6FC103131AB}" srcOrd="2" destOrd="0" presId="urn:microsoft.com/office/officeart/2005/8/layout/cycle3"/>
    <dgm:cxn modelId="{535F126E-56CE-4AB1-8DF3-CAAE0E75CE38}" type="presParOf" srcId="{1C91FB72-AAE4-4676-A155-5FC124DFC7AA}" destId="{7CCC5BB4-7914-46CE-97D9-D5A21D067CC3}" srcOrd="3" destOrd="0" presId="urn:microsoft.com/office/officeart/2005/8/layout/cycle3"/>
    <dgm:cxn modelId="{F5C84AAD-191A-4041-93B5-42F1DF4BCDB7}" type="presParOf" srcId="{1C91FB72-AAE4-4676-A155-5FC124DFC7AA}" destId="{C741F927-7F3E-4BB6-ACFC-FAB9EEC1125C}" srcOrd="4" destOrd="0" presId="urn:microsoft.com/office/officeart/2005/8/layout/cycle3"/>
    <dgm:cxn modelId="{ACF9D7DB-2CA4-4B96-A54C-02BE0F41C5E2}" type="presParOf" srcId="{1C91FB72-AAE4-4676-A155-5FC124DFC7AA}" destId="{4CD9ED8D-D50E-40AA-B6CF-9622F85A09D8}" srcOrd="5" destOrd="0" presId="urn:microsoft.com/office/officeart/2005/8/layout/cycle3"/>
    <dgm:cxn modelId="{EA8DB217-E236-4875-A9CD-B5BAF69C5FF8}" type="presParOf" srcId="{1C91FB72-AAE4-4676-A155-5FC124DFC7AA}" destId="{728F6C18-73D2-46D4-AD71-AB503DB2AB28}" srcOrd="6" destOrd="0" presId="urn:microsoft.com/office/officeart/2005/8/layout/cycle3"/>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5DBF87-26B5-4561-AFBD-522D007BCC4E}" type="doc">
      <dgm:prSet loTypeId="urn:microsoft.com/office/officeart/2005/8/layout/cycle3" loCatId="cycle" qsTypeId="urn:microsoft.com/office/officeart/2005/8/quickstyle/simple5" qsCatId="simple" csTypeId="urn:microsoft.com/office/officeart/2005/8/colors/accent0_3" csCatId="mainScheme" phldr="1"/>
      <dgm:spPr/>
      <dgm:t>
        <a:bodyPr/>
        <a:lstStyle/>
        <a:p>
          <a:endParaRPr lang="en-US"/>
        </a:p>
      </dgm:t>
    </dgm:pt>
    <dgm:pt modelId="{1A90A7B6-7D81-482B-813B-5B21D408C339}">
      <dgm:prSet phldrT="[Text]" custT="1"/>
      <dgm:spPr/>
      <dgm:t>
        <a:bodyPr/>
        <a:lstStyle/>
        <a:p>
          <a:r>
            <a:rPr lang="en-US" sz="1400" dirty="0" smtClean="0"/>
            <a:t>Debt is furnished to the CRAs by the DF; CRAs put the information on the credit report</a:t>
          </a:r>
          <a:endParaRPr lang="en-US" sz="1400" dirty="0"/>
        </a:p>
      </dgm:t>
    </dgm:pt>
    <dgm:pt modelId="{56183FCC-08EC-459A-BB74-268EA6E67E91}" type="parTrans" cxnId="{B4913776-1356-45B3-93C0-683BF593779E}">
      <dgm:prSet/>
      <dgm:spPr/>
      <dgm:t>
        <a:bodyPr/>
        <a:lstStyle/>
        <a:p>
          <a:endParaRPr lang="en-US"/>
        </a:p>
      </dgm:t>
    </dgm:pt>
    <dgm:pt modelId="{C09AD9E8-DA7E-49A5-A248-C245B1B318F7}" type="sibTrans" cxnId="{B4913776-1356-45B3-93C0-683BF593779E}">
      <dgm:prSet/>
      <dgm:spPr/>
      <dgm:t>
        <a:bodyPr/>
        <a:lstStyle/>
        <a:p>
          <a:endParaRPr lang="en-US"/>
        </a:p>
      </dgm:t>
    </dgm:pt>
    <dgm:pt modelId="{55B6F898-A2AA-4BE1-BC0A-7EF1FF2F0D2E}">
      <dgm:prSet phldrT="[Text]" custT="1"/>
      <dgm:spPr/>
      <dgm:t>
        <a:bodyPr/>
        <a:lstStyle/>
        <a:p>
          <a:r>
            <a:rPr lang="en-US" sz="1400" dirty="0" smtClean="0"/>
            <a:t>Consumer accesses their credit report and detects inaccurate or incomplete information</a:t>
          </a:r>
          <a:endParaRPr lang="en-US" sz="1400" dirty="0"/>
        </a:p>
      </dgm:t>
    </dgm:pt>
    <dgm:pt modelId="{9EF9C6EF-06DF-47DF-9D20-63F99D36DA5A}" type="parTrans" cxnId="{061E98A7-CA92-4B46-8099-1668F0ECF7E9}">
      <dgm:prSet/>
      <dgm:spPr/>
      <dgm:t>
        <a:bodyPr/>
        <a:lstStyle/>
        <a:p>
          <a:endParaRPr lang="en-US"/>
        </a:p>
      </dgm:t>
    </dgm:pt>
    <dgm:pt modelId="{15D00E95-79D4-429B-95F8-F36929CE8A73}" type="sibTrans" cxnId="{061E98A7-CA92-4B46-8099-1668F0ECF7E9}">
      <dgm:prSet/>
      <dgm:spPr/>
      <dgm:t>
        <a:bodyPr/>
        <a:lstStyle/>
        <a:p>
          <a:endParaRPr lang="en-US"/>
        </a:p>
      </dgm:t>
    </dgm:pt>
    <dgm:pt modelId="{3C606A51-DE74-4708-915D-E530604C352C}">
      <dgm:prSet phldrT="[Text]" custT="1"/>
      <dgm:spPr/>
      <dgm:t>
        <a:bodyPr/>
        <a:lstStyle/>
        <a:p>
          <a:r>
            <a:rPr lang="en-US" sz="1400" dirty="0" smtClean="0"/>
            <a:t>Consumer submits dispute to the DF</a:t>
          </a:r>
          <a:endParaRPr lang="en-US" sz="1400" dirty="0"/>
        </a:p>
      </dgm:t>
    </dgm:pt>
    <dgm:pt modelId="{CCAAFC31-6557-457B-84B7-DF0F525118C1}" type="parTrans" cxnId="{6F99B3FA-1234-49F2-BE3D-1D7B2652A1EA}">
      <dgm:prSet/>
      <dgm:spPr/>
      <dgm:t>
        <a:bodyPr/>
        <a:lstStyle/>
        <a:p>
          <a:endParaRPr lang="en-US"/>
        </a:p>
      </dgm:t>
    </dgm:pt>
    <dgm:pt modelId="{4930279C-75F5-4010-B0E2-85EA824EE566}" type="sibTrans" cxnId="{6F99B3FA-1234-49F2-BE3D-1D7B2652A1EA}">
      <dgm:prSet/>
      <dgm:spPr/>
      <dgm:t>
        <a:bodyPr/>
        <a:lstStyle/>
        <a:p>
          <a:endParaRPr lang="en-US"/>
        </a:p>
      </dgm:t>
    </dgm:pt>
    <dgm:pt modelId="{D36DB4AE-1BA3-431E-BF94-A014996F9367}">
      <dgm:prSet phldrT="[Text]" custT="1"/>
      <dgm:spPr/>
      <dgm:t>
        <a:bodyPr/>
        <a:lstStyle/>
        <a:p>
          <a:r>
            <a:rPr lang="en-US" sz="1400" dirty="0" smtClean="0"/>
            <a:t>DF investigates and responds to the consumer;  updates information if required and reports account as disputed</a:t>
          </a:r>
          <a:endParaRPr lang="en-US" sz="1400" dirty="0"/>
        </a:p>
      </dgm:t>
    </dgm:pt>
    <dgm:pt modelId="{CA61717A-860F-43F7-B29E-7BCD4E72B491}" type="parTrans" cxnId="{D64052A0-4AA8-4516-9CF1-628672904CDF}">
      <dgm:prSet/>
      <dgm:spPr/>
      <dgm:t>
        <a:bodyPr/>
        <a:lstStyle/>
        <a:p>
          <a:endParaRPr lang="en-US"/>
        </a:p>
      </dgm:t>
    </dgm:pt>
    <dgm:pt modelId="{9EA45C63-011B-4E96-A5EB-B87D7902DC5E}" type="sibTrans" cxnId="{D64052A0-4AA8-4516-9CF1-628672904CDF}">
      <dgm:prSet/>
      <dgm:spPr/>
      <dgm:t>
        <a:bodyPr/>
        <a:lstStyle/>
        <a:p>
          <a:endParaRPr lang="en-US"/>
        </a:p>
      </dgm:t>
    </dgm:pt>
    <dgm:pt modelId="{678DB0A0-0FA0-4599-90B1-A396E20ECEFE}" type="pres">
      <dgm:prSet presAssocID="{6B5DBF87-26B5-4561-AFBD-522D007BCC4E}" presName="Name0" presStyleCnt="0">
        <dgm:presLayoutVars>
          <dgm:dir/>
          <dgm:resizeHandles val="exact"/>
        </dgm:presLayoutVars>
      </dgm:prSet>
      <dgm:spPr/>
      <dgm:t>
        <a:bodyPr/>
        <a:lstStyle/>
        <a:p>
          <a:endParaRPr lang="en-US"/>
        </a:p>
      </dgm:t>
    </dgm:pt>
    <dgm:pt modelId="{1C91FB72-AAE4-4676-A155-5FC124DFC7AA}" type="pres">
      <dgm:prSet presAssocID="{6B5DBF87-26B5-4561-AFBD-522D007BCC4E}" presName="cycle" presStyleCnt="0"/>
      <dgm:spPr/>
    </dgm:pt>
    <dgm:pt modelId="{DF28F15B-62D6-4B7C-B576-461CA756D078}" type="pres">
      <dgm:prSet presAssocID="{1A90A7B6-7D81-482B-813B-5B21D408C339}" presName="nodeFirstNode" presStyleLbl="node1" presStyleIdx="0" presStyleCnt="4" custScaleX="83169" custScaleY="66178">
        <dgm:presLayoutVars>
          <dgm:bulletEnabled val="1"/>
        </dgm:presLayoutVars>
      </dgm:prSet>
      <dgm:spPr/>
      <dgm:t>
        <a:bodyPr/>
        <a:lstStyle/>
        <a:p>
          <a:endParaRPr lang="en-US"/>
        </a:p>
      </dgm:t>
    </dgm:pt>
    <dgm:pt modelId="{3157602F-517D-4249-8E63-22B6F29B2849}" type="pres">
      <dgm:prSet presAssocID="{C09AD9E8-DA7E-49A5-A248-C245B1B318F7}" presName="sibTransFirstNode" presStyleLbl="bgShp" presStyleIdx="0" presStyleCnt="1"/>
      <dgm:spPr/>
      <dgm:t>
        <a:bodyPr/>
        <a:lstStyle/>
        <a:p>
          <a:endParaRPr lang="en-US"/>
        </a:p>
      </dgm:t>
    </dgm:pt>
    <dgm:pt modelId="{1550EDA2-50AD-4D33-ADE5-F6FC103131AB}" type="pres">
      <dgm:prSet presAssocID="{55B6F898-A2AA-4BE1-BC0A-7EF1FF2F0D2E}" presName="nodeFollowingNodes" presStyleLbl="node1" presStyleIdx="1" presStyleCnt="4" custScaleX="77336" custScaleY="59010">
        <dgm:presLayoutVars>
          <dgm:bulletEnabled val="1"/>
        </dgm:presLayoutVars>
      </dgm:prSet>
      <dgm:spPr/>
      <dgm:t>
        <a:bodyPr/>
        <a:lstStyle/>
        <a:p>
          <a:endParaRPr lang="en-US"/>
        </a:p>
      </dgm:t>
    </dgm:pt>
    <dgm:pt modelId="{7CCC5BB4-7914-46CE-97D9-D5A21D067CC3}" type="pres">
      <dgm:prSet presAssocID="{3C606A51-DE74-4708-915D-E530604C352C}" presName="nodeFollowingNodes" presStyleLbl="node1" presStyleIdx="2" presStyleCnt="4" custScaleX="82670" custScaleY="55872">
        <dgm:presLayoutVars>
          <dgm:bulletEnabled val="1"/>
        </dgm:presLayoutVars>
      </dgm:prSet>
      <dgm:spPr/>
      <dgm:t>
        <a:bodyPr/>
        <a:lstStyle/>
        <a:p>
          <a:endParaRPr lang="en-US"/>
        </a:p>
      </dgm:t>
    </dgm:pt>
    <dgm:pt modelId="{4CD9ED8D-D50E-40AA-B6CF-9622F85A09D8}" type="pres">
      <dgm:prSet presAssocID="{D36DB4AE-1BA3-431E-BF94-A014996F9367}" presName="nodeFollowingNodes" presStyleLbl="node1" presStyleIdx="3" presStyleCnt="4" custScaleX="80605" custScaleY="69631">
        <dgm:presLayoutVars>
          <dgm:bulletEnabled val="1"/>
        </dgm:presLayoutVars>
      </dgm:prSet>
      <dgm:spPr/>
      <dgm:t>
        <a:bodyPr/>
        <a:lstStyle/>
        <a:p>
          <a:endParaRPr lang="en-US"/>
        </a:p>
      </dgm:t>
    </dgm:pt>
  </dgm:ptLst>
  <dgm:cxnLst>
    <dgm:cxn modelId="{15199BE1-9F1F-4858-B674-37AD34E75BC6}" type="presOf" srcId="{1A90A7B6-7D81-482B-813B-5B21D408C339}" destId="{DF28F15B-62D6-4B7C-B576-461CA756D078}" srcOrd="0" destOrd="0" presId="urn:microsoft.com/office/officeart/2005/8/layout/cycle3"/>
    <dgm:cxn modelId="{D64052A0-4AA8-4516-9CF1-628672904CDF}" srcId="{6B5DBF87-26B5-4561-AFBD-522D007BCC4E}" destId="{D36DB4AE-1BA3-431E-BF94-A014996F9367}" srcOrd="3" destOrd="0" parTransId="{CA61717A-860F-43F7-B29E-7BCD4E72B491}" sibTransId="{9EA45C63-011B-4E96-A5EB-B87D7902DC5E}"/>
    <dgm:cxn modelId="{6F99B3FA-1234-49F2-BE3D-1D7B2652A1EA}" srcId="{6B5DBF87-26B5-4561-AFBD-522D007BCC4E}" destId="{3C606A51-DE74-4708-915D-E530604C352C}" srcOrd="2" destOrd="0" parTransId="{CCAAFC31-6557-457B-84B7-DF0F525118C1}" sibTransId="{4930279C-75F5-4010-B0E2-85EA824EE566}"/>
    <dgm:cxn modelId="{E6FB33EC-9274-48FC-8609-DFCD944EECE3}" type="presOf" srcId="{6B5DBF87-26B5-4561-AFBD-522D007BCC4E}" destId="{678DB0A0-0FA0-4599-90B1-A396E20ECEFE}" srcOrd="0" destOrd="0" presId="urn:microsoft.com/office/officeart/2005/8/layout/cycle3"/>
    <dgm:cxn modelId="{061E98A7-CA92-4B46-8099-1668F0ECF7E9}" srcId="{6B5DBF87-26B5-4561-AFBD-522D007BCC4E}" destId="{55B6F898-A2AA-4BE1-BC0A-7EF1FF2F0D2E}" srcOrd="1" destOrd="0" parTransId="{9EF9C6EF-06DF-47DF-9D20-63F99D36DA5A}" sibTransId="{15D00E95-79D4-429B-95F8-F36929CE8A73}"/>
    <dgm:cxn modelId="{91DC0F84-43DE-40B9-9149-65802DDB9ABC}" type="presOf" srcId="{3C606A51-DE74-4708-915D-E530604C352C}" destId="{7CCC5BB4-7914-46CE-97D9-D5A21D067CC3}" srcOrd="0" destOrd="0" presId="urn:microsoft.com/office/officeart/2005/8/layout/cycle3"/>
    <dgm:cxn modelId="{B4913776-1356-45B3-93C0-683BF593779E}" srcId="{6B5DBF87-26B5-4561-AFBD-522D007BCC4E}" destId="{1A90A7B6-7D81-482B-813B-5B21D408C339}" srcOrd="0" destOrd="0" parTransId="{56183FCC-08EC-459A-BB74-268EA6E67E91}" sibTransId="{C09AD9E8-DA7E-49A5-A248-C245B1B318F7}"/>
    <dgm:cxn modelId="{D418F454-4D45-4B87-85BD-078B18135024}" type="presOf" srcId="{D36DB4AE-1BA3-431E-BF94-A014996F9367}" destId="{4CD9ED8D-D50E-40AA-B6CF-9622F85A09D8}" srcOrd="0" destOrd="0" presId="urn:microsoft.com/office/officeart/2005/8/layout/cycle3"/>
    <dgm:cxn modelId="{8584B547-8AFF-4D51-96A3-89B1DE746F19}" type="presOf" srcId="{55B6F898-A2AA-4BE1-BC0A-7EF1FF2F0D2E}" destId="{1550EDA2-50AD-4D33-ADE5-F6FC103131AB}" srcOrd="0" destOrd="0" presId="urn:microsoft.com/office/officeart/2005/8/layout/cycle3"/>
    <dgm:cxn modelId="{44E60D8F-E1F1-48EE-A966-1D05E8478645}" type="presOf" srcId="{C09AD9E8-DA7E-49A5-A248-C245B1B318F7}" destId="{3157602F-517D-4249-8E63-22B6F29B2849}" srcOrd="0" destOrd="0" presId="urn:microsoft.com/office/officeart/2005/8/layout/cycle3"/>
    <dgm:cxn modelId="{CAB22E33-D158-454E-8626-883667AC6A3F}" type="presParOf" srcId="{678DB0A0-0FA0-4599-90B1-A396E20ECEFE}" destId="{1C91FB72-AAE4-4676-A155-5FC124DFC7AA}" srcOrd="0" destOrd="0" presId="urn:microsoft.com/office/officeart/2005/8/layout/cycle3"/>
    <dgm:cxn modelId="{C7BB40EF-120A-4F17-996E-5E625DAF8058}" type="presParOf" srcId="{1C91FB72-AAE4-4676-A155-5FC124DFC7AA}" destId="{DF28F15B-62D6-4B7C-B576-461CA756D078}" srcOrd="0" destOrd="0" presId="urn:microsoft.com/office/officeart/2005/8/layout/cycle3"/>
    <dgm:cxn modelId="{F0F1CE78-ABAD-47BB-94BD-37B00EEC65E1}" type="presParOf" srcId="{1C91FB72-AAE4-4676-A155-5FC124DFC7AA}" destId="{3157602F-517D-4249-8E63-22B6F29B2849}" srcOrd="1" destOrd="0" presId="urn:microsoft.com/office/officeart/2005/8/layout/cycle3"/>
    <dgm:cxn modelId="{FE097D46-8F93-4C57-B88E-6F751A120AC5}" type="presParOf" srcId="{1C91FB72-AAE4-4676-A155-5FC124DFC7AA}" destId="{1550EDA2-50AD-4D33-ADE5-F6FC103131AB}" srcOrd="2" destOrd="0" presId="urn:microsoft.com/office/officeart/2005/8/layout/cycle3"/>
    <dgm:cxn modelId="{535F126E-56CE-4AB1-8DF3-CAAE0E75CE38}" type="presParOf" srcId="{1C91FB72-AAE4-4676-A155-5FC124DFC7AA}" destId="{7CCC5BB4-7914-46CE-97D9-D5A21D067CC3}" srcOrd="3" destOrd="0" presId="urn:microsoft.com/office/officeart/2005/8/layout/cycle3"/>
    <dgm:cxn modelId="{ACF9D7DB-2CA4-4B96-A54C-02BE0F41C5E2}" type="presParOf" srcId="{1C91FB72-AAE4-4676-A155-5FC124DFC7AA}" destId="{4CD9ED8D-D50E-40AA-B6CF-9622F85A09D8}" srcOrd="4" destOrd="0" presId="urn:microsoft.com/office/officeart/2005/8/layout/cycle3"/>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57602F-517D-4249-8E63-22B6F29B2849}">
      <dsp:nvSpPr>
        <dsp:cNvPr id="0" name=""/>
        <dsp:cNvSpPr/>
      </dsp:nvSpPr>
      <dsp:spPr>
        <a:xfrm>
          <a:off x="1343660" y="-3189"/>
          <a:ext cx="5005650" cy="5005650"/>
        </a:xfrm>
        <a:prstGeom prst="circularArrow">
          <a:avLst>
            <a:gd name="adj1" fmla="val 5274"/>
            <a:gd name="adj2" fmla="val 312630"/>
            <a:gd name="adj3" fmla="val 14233845"/>
            <a:gd name="adj4" fmla="val 17123676"/>
            <a:gd name="adj5" fmla="val 5477"/>
          </a:avLst>
        </a:prstGeom>
        <a:solidFill>
          <a:schemeClr val="dk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F28F15B-62D6-4B7C-B576-461CA756D078}">
      <dsp:nvSpPr>
        <dsp:cNvPr id="0" name=""/>
        <dsp:cNvSpPr/>
      </dsp:nvSpPr>
      <dsp:spPr>
        <a:xfrm>
          <a:off x="2898011" y="3005"/>
          <a:ext cx="1896948" cy="948474"/>
        </a:xfrm>
        <a:prstGeom prst="roundRect">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100" kern="1200" dirty="0" smtClean="0"/>
            <a:t>Debt is furnished to the CRAs by the DF. CRAs put the information on the credit report</a:t>
          </a:r>
          <a:endParaRPr lang="en-US" sz="1100" kern="1200" dirty="0"/>
        </a:p>
      </dsp:txBody>
      <dsp:txXfrm>
        <a:off x="2944312" y="49306"/>
        <a:ext cx="1804346" cy="855872"/>
      </dsp:txXfrm>
    </dsp:sp>
    <dsp:sp modelId="{1550EDA2-50AD-4D33-ADE5-F6FC103131AB}">
      <dsp:nvSpPr>
        <dsp:cNvPr id="0" name=""/>
        <dsp:cNvSpPr/>
      </dsp:nvSpPr>
      <dsp:spPr>
        <a:xfrm>
          <a:off x="4656640" y="1018350"/>
          <a:ext cx="1896948" cy="948474"/>
        </a:xfrm>
        <a:prstGeom prst="roundRect">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100" kern="1200" dirty="0" smtClean="0"/>
            <a:t>Consumer accesses their credit report and detects inaccurate or incomplete information</a:t>
          </a:r>
          <a:endParaRPr lang="en-US" sz="1100" kern="1200" dirty="0"/>
        </a:p>
      </dsp:txBody>
      <dsp:txXfrm>
        <a:off x="4702941" y="1064651"/>
        <a:ext cx="1804346" cy="855872"/>
      </dsp:txXfrm>
    </dsp:sp>
    <dsp:sp modelId="{7CCC5BB4-7914-46CE-97D9-D5A21D067CC3}">
      <dsp:nvSpPr>
        <dsp:cNvPr id="0" name=""/>
        <dsp:cNvSpPr/>
      </dsp:nvSpPr>
      <dsp:spPr>
        <a:xfrm>
          <a:off x="4656640" y="3049040"/>
          <a:ext cx="1896948" cy="948474"/>
        </a:xfrm>
        <a:prstGeom prst="roundRect">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100" kern="1200" dirty="0" smtClean="0"/>
            <a:t>Consumer submits dispute to the CRA (online, mail, phone)</a:t>
          </a:r>
          <a:endParaRPr lang="en-US" sz="1100" kern="1200" dirty="0"/>
        </a:p>
      </dsp:txBody>
      <dsp:txXfrm>
        <a:off x="4702941" y="3095341"/>
        <a:ext cx="1804346" cy="855872"/>
      </dsp:txXfrm>
    </dsp:sp>
    <dsp:sp modelId="{C741F927-7F3E-4BB6-ACFC-FAB9EEC1125C}">
      <dsp:nvSpPr>
        <dsp:cNvPr id="0" name=""/>
        <dsp:cNvSpPr/>
      </dsp:nvSpPr>
      <dsp:spPr>
        <a:xfrm>
          <a:off x="2898011" y="4064385"/>
          <a:ext cx="1896948" cy="948474"/>
        </a:xfrm>
        <a:prstGeom prst="roundRect">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100" kern="1200" dirty="0" smtClean="0"/>
            <a:t>CRA reviews the dispute, assigns a dispute reason code, and sends the disputed information to the DF via e-Oscar</a:t>
          </a:r>
          <a:endParaRPr lang="en-US" sz="1100" kern="1200" dirty="0"/>
        </a:p>
      </dsp:txBody>
      <dsp:txXfrm>
        <a:off x="2944312" y="4110686"/>
        <a:ext cx="1804346" cy="855872"/>
      </dsp:txXfrm>
    </dsp:sp>
    <dsp:sp modelId="{4CD9ED8D-D50E-40AA-B6CF-9622F85A09D8}">
      <dsp:nvSpPr>
        <dsp:cNvPr id="0" name=""/>
        <dsp:cNvSpPr/>
      </dsp:nvSpPr>
      <dsp:spPr>
        <a:xfrm>
          <a:off x="1139382" y="3049040"/>
          <a:ext cx="1896948" cy="948474"/>
        </a:xfrm>
        <a:prstGeom prst="roundRect">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100" kern="1200" dirty="0" smtClean="0"/>
            <a:t>DF investigates and responds to the CRA via e-Oscar (verify, update, delete)</a:t>
          </a:r>
          <a:endParaRPr lang="en-US" sz="1100" kern="1200" dirty="0"/>
        </a:p>
      </dsp:txBody>
      <dsp:txXfrm>
        <a:off x="1185683" y="3095341"/>
        <a:ext cx="1804346" cy="855872"/>
      </dsp:txXfrm>
    </dsp:sp>
    <dsp:sp modelId="{728F6C18-73D2-46D4-AD71-AB503DB2AB28}">
      <dsp:nvSpPr>
        <dsp:cNvPr id="0" name=""/>
        <dsp:cNvSpPr/>
      </dsp:nvSpPr>
      <dsp:spPr>
        <a:xfrm>
          <a:off x="1139382" y="1018350"/>
          <a:ext cx="1896948" cy="948474"/>
        </a:xfrm>
        <a:prstGeom prst="roundRect">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1910" tIns="41910" rIns="41910" bIns="41910" numCol="1" spcCol="1270" anchor="ctr" anchorCtr="0">
          <a:noAutofit/>
        </a:bodyPr>
        <a:lstStyle/>
        <a:p>
          <a:pPr lvl="0" algn="ctr" defTabSz="488950">
            <a:lnSpc>
              <a:spcPct val="90000"/>
            </a:lnSpc>
            <a:spcBef>
              <a:spcPct val="0"/>
            </a:spcBef>
            <a:spcAft>
              <a:spcPct val="35000"/>
            </a:spcAft>
          </a:pPr>
          <a:r>
            <a:rPr lang="en-US" sz="1100" kern="1200" dirty="0" smtClean="0"/>
            <a:t>CRA responds to the consumer and updates information on credit file</a:t>
          </a:r>
          <a:endParaRPr lang="en-US" sz="1100" kern="1200" dirty="0"/>
        </a:p>
      </dsp:txBody>
      <dsp:txXfrm>
        <a:off x="1185683" y="1064651"/>
        <a:ext cx="1804346" cy="8558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57602F-517D-4249-8E63-22B6F29B2849}">
      <dsp:nvSpPr>
        <dsp:cNvPr id="0" name=""/>
        <dsp:cNvSpPr/>
      </dsp:nvSpPr>
      <dsp:spPr>
        <a:xfrm>
          <a:off x="1582084" y="162989"/>
          <a:ext cx="4844643" cy="4844643"/>
        </a:xfrm>
        <a:prstGeom prst="circularArrow">
          <a:avLst>
            <a:gd name="adj1" fmla="val 4668"/>
            <a:gd name="adj2" fmla="val 272909"/>
            <a:gd name="adj3" fmla="val 13498276"/>
            <a:gd name="adj4" fmla="val 17593659"/>
            <a:gd name="adj5" fmla="val 4847"/>
          </a:avLst>
        </a:prstGeom>
        <a:solidFill>
          <a:schemeClr val="dk2">
            <a:tint val="40000"/>
            <a:hueOff val="0"/>
            <a:satOff val="0"/>
            <a:lumOff val="0"/>
            <a:alphaOff val="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DF28F15B-62D6-4B7C-B576-461CA756D078}">
      <dsp:nvSpPr>
        <dsp:cNvPr id="0" name=""/>
        <dsp:cNvSpPr/>
      </dsp:nvSpPr>
      <dsp:spPr>
        <a:xfrm>
          <a:off x="2684420" y="310362"/>
          <a:ext cx="2639970" cy="1050319"/>
        </a:xfrm>
        <a:prstGeom prst="roundRect">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Debt is furnished to the CRAs by the DF; CRAs put the information on the credit report</a:t>
          </a:r>
          <a:endParaRPr lang="en-US" sz="1400" kern="1200" dirty="0"/>
        </a:p>
      </dsp:txBody>
      <dsp:txXfrm>
        <a:off x="2735692" y="361634"/>
        <a:ext cx="2537426" cy="947775"/>
      </dsp:txXfrm>
    </dsp:sp>
    <dsp:sp modelId="{1550EDA2-50AD-4D33-ADE5-F6FC103131AB}">
      <dsp:nvSpPr>
        <dsp:cNvPr id="0" name=""/>
        <dsp:cNvSpPr/>
      </dsp:nvSpPr>
      <dsp:spPr>
        <a:xfrm>
          <a:off x="4516545" y="2106793"/>
          <a:ext cx="2454817" cy="936554"/>
        </a:xfrm>
        <a:prstGeom prst="roundRect">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Consumer accesses their credit report and detects inaccurate or incomplete information</a:t>
          </a:r>
          <a:endParaRPr lang="en-US" sz="1400" kern="1200" dirty="0"/>
        </a:p>
      </dsp:txBody>
      <dsp:txXfrm>
        <a:off x="4562264" y="2152512"/>
        <a:ext cx="2363379" cy="845116"/>
      </dsp:txXfrm>
    </dsp:sp>
    <dsp:sp modelId="{7CCC5BB4-7914-46CE-97D9-D5A21D067CC3}">
      <dsp:nvSpPr>
        <dsp:cNvPr id="0" name=""/>
        <dsp:cNvSpPr/>
      </dsp:nvSpPr>
      <dsp:spPr>
        <a:xfrm>
          <a:off x="2692340" y="3871243"/>
          <a:ext cx="2624131" cy="886751"/>
        </a:xfrm>
        <a:prstGeom prst="roundRect">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Consumer submits dispute to the DF</a:t>
          </a:r>
          <a:endParaRPr lang="en-US" sz="1400" kern="1200" dirty="0"/>
        </a:p>
      </dsp:txBody>
      <dsp:txXfrm>
        <a:off x="2735628" y="3914531"/>
        <a:ext cx="2537555" cy="800175"/>
      </dsp:txXfrm>
    </dsp:sp>
    <dsp:sp modelId="{4CD9ED8D-D50E-40AA-B6CF-9622F85A09D8}">
      <dsp:nvSpPr>
        <dsp:cNvPr id="0" name=""/>
        <dsp:cNvSpPr/>
      </dsp:nvSpPr>
      <dsp:spPr>
        <a:xfrm>
          <a:off x="985565" y="2022509"/>
          <a:ext cx="2558583" cy="1105121"/>
        </a:xfrm>
        <a:prstGeom prst="roundRect">
          <a:avLst/>
        </a:prstGeom>
        <a:gradFill rotWithShape="0">
          <a:gsLst>
            <a:gs pos="0">
              <a:schemeClr val="dk2">
                <a:hueOff val="0"/>
                <a:satOff val="0"/>
                <a:lumOff val="0"/>
                <a:alphaOff val="0"/>
                <a:tint val="100000"/>
                <a:shade val="100000"/>
                <a:satMod val="130000"/>
              </a:schemeClr>
            </a:gs>
            <a:gs pos="100000">
              <a:schemeClr val="dk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sz="1400" kern="1200" dirty="0" smtClean="0"/>
            <a:t>DF investigates and responds to the consumer;  updates information if required and reports account as disputed</a:t>
          </a:r>
          <a:endParaRPr lang="en-US" sz="1400" kern="1200" dirty="0"/>
        </a:p>
      </dsp:txBody>
      <dsp:txXfrm>
        <a:off x="1039513" y="2076457"/>
        <a:ext cx="2450687" cy="997225"/>
      </dsp:txXfrm>
    </dsp:sp>
  </dsp:spTree>
</dsp:drawing>
</file>

<file path=ppt/diagrams/layout1.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35872"/>
            <a:ext cx="8229600" cy="1470025"/>
          </a:xfrm>
        </p:spPr>
        <p:txBody>
          <a:bodyPr/>
          <a:lstStyle>
            <a:lvl1pPr>
              <a:defRPr sz="4400">
                <a:solidFill>
                  <a:srgbClr val="A27518"/>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457200" y="2058811"/>
            <a:ext cx="6400800" cy="819856"/>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cxnSp>
        <p:nvCxnSpPr>
          <p:cNvPr id="9" name="Straight Connector 8"/>
          <p:cNvCxnSpPr/>
          <p:nvPr/>
        </p:nvCxnSpPr>
        <p:spPr>
          <a:xfrm>
            <a:off x="458218" y="5905520"/>
            <a:ext cx="8227564" cy="0"/>
          </a:xfrm>
          <a:prstGeom prst="line">
            <a:avLst/>
          </a:prstGeom>
          <a:ln w="104775" cmpd="sng">
            <a:solidFill>
              <a:srgbClr val="1F684E"/>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889500" y="6497025"/>
            <a:ext cx="3591562" cy="184666"/>
          </a:xfrm>
          <a:prstGeom prst="rect">
            <a:avLst/>
          </a:prstGeom>
          <a:noFill/>
        </p:spPr>
        <p:txBody>
          <a:bodyPr wrap="square" rtlCol="0">
            <a:spAutoFit/>
          </a:bodyPr>
          <a:lstStyle/>
          <a:p>
            <a:pPr algn="r"/>
            <a:r>
              <a:rPr lang="en-US" sz="600" dirty="0" smtClean="0"/>
              <a:t>Confidential and proprietary information © 2016 General Revenue Corporation. All rights reserved.</a:t>
            </a:r>
            <a:endParaRPr lang="en-US" sz="600" dirty="0" smtClean="0">
              <a:solidFill>
                <a:srgbClr val="838383"/>
              </a:solidFill>
            </a:endParaRPr>
          </a:p>
        </p:txBody>
      </p:sp>
      <p:pic>
        <p:nvPicPr>
          <p:cNvPr id="10" name="Picture 9" descr="APGGR_CSP2558_GRCLogo_Update_FNL 2.gif"/>
          <p:cNvPicPr>
            <a:picLocks noChangeAspect="1"/>
          </p:cNvPicPr>
          <p:nvPr/>
        </p:nvPicPr>
        <p:blipFill rotWithShape="1">
          <a:blip r:embed="rId2">
            <a:extLst>
              <a:ext uri="{28A0092B-C50C-407E-A947-70E740481C1C}">
                <a14:useLocalDpi xmlns:a14="http://schemas.microsoft.com/office/drawing/2010/main" val="0"/>
              </a:ext>
            </a:extLst>
          </a:blip>
          <a:srcRect r="68120"/>
          <a:stretch/>
        </p:blipFill>
        <p:spPr>
          <a:xfrm>
            <a:off x="4301289" y="6186821"/>
            <a:ext cx="537411" cy="564285"/>
          </a:xfrm>
          <a:prstGeom prst="rect">
            <a:avLst/>
          </a:prstGeom>
        </p:spPr>
      </p:pic>
      <p:cxnSp>
        <p:nvCxnSpPr>
          <p:cNvPr id="11" name="Straight Connector 10"/>
          <p:cNvCxnSpPr/>
          <p:nvPr userDrawn="1"/>
        </p:nvCxnSpPr>
        <p:spPr>
          <a:xfrm>
            <a:off x="458218" y="5905520"/>
            <a:ext cx="8227564" cy="0"/>
          </a:xfrm>
          <a:prstGeom prst="line">
            <a:avLst/>
          </a:prstGeom>
          <a:ln w="104775" cmpd="sng">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userDrawn="1"/>
        </p:nvCxnSpPr>
        <p:spPr>
          <a:xfrm>
            <a:off x="458218" y="345723"/>
            <a:ext cx="8227564" cy="0"/>
          </a:xfrm>
          <a:prstGeom prst="line">
            <a:avLst/>
          </a:prstGeom>
          <a:ln w="60325" cmpd="sng">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userDrawn="1"/>
        </p:nvSpPr>
        <p:spPr>
          <a:xfrm>
            <a:off x="8164336" y="6456033"/>
            <a:ext cx="522464" cy="246221"/>
          </a:xfrm>
          <a:prstGeom prst="rect">
            <a:avLst/>
          </a:prstGeom>
          <a:noFill/>
        </p:spPr>
        <p:txBody>
          <a:bodyPr wrap="square" lIns="0" rIns="0" rtlCol="0">
            <a:noAutofit/>
          </a:bodyPr>
          <a:lstStyle/>
          <a:p>
            <a:pPr algn="r"/>
            <a:fld id="{8EF3A903-7F25-E440-BA55-7115C69D9986}" type="slidenum">
              <a:rPr lang="en-US" sz="1000" smtClean="0">
                <a:solidFill>
                  <a:srgbClr val="838383"/>
                </a:solidFill>
              </a:rPr>
              <a:t>‹#›</a:t>
            </a:fld>
            <a:endParaRPr lang="en-US" sz="1000" dirty="0" smtClean="0">
              <a:solidFill>
                <a:srgbClr val="838383"/>
              </a:solidFill>
            </a:endParaRPr>
          </a:p>
        </p:txBody>
      </p:sp>
    </p:spTree>
    <p:extLst>
      <p:ext uri="{BB962C8B-B14F-4D97-AF65-F5344CB8AC3E}">
        <p14:creationId xmlns:p14="http://schemas.microsoft.com/office/powerpoint/2010/main" val="3091515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White Purple">
    <p:spTree>
      <p:nvGrpSpPr>
        <p:cNvPr id="1" name=""/>
        <p:cNvGrpSpPr/>
        <p:nvPr/>
      </p:nvGrpSpPr>
      <p:grpSpPr>
        <a:xfrm>
          <a:off x="0" y="0"/>
          <a:ext cx="0" cy="0"/>
          <a:chOff x="0" y="0"/>
          <a:chExt cx="0" cy="0"/>
        </a:xfrm>
      </p:grpSpPr>
      <p:sp>
        <p:nvSpPr>
          <p:cNvPr id="2" name="Title 1"/>
          <p:cNvSpPr>
            <a:spLocks noGrp="1"/>
          </p:cNvSpPr>
          <p:nvPr>
            <p:ph type="title"/>
          </p:nvPr>
        </p:nvSpPr>
        <p:spPr>
          <a:xfrm>
            <a:off x="458218" y="484632"/>
            <a:ext cx="8229600" cy="1043693"/>
          </a:xfrm>
        </p:spPr>
        <p:txBody>
          <a:bodyPr/>
          <a:lstStyle>
            <a:lvl1pPr>
              <a:defRPr sz="4800">
                <a:solidFill>
                  <a:schemeClr val="tx2"/>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458218" y="1540765"/>
            <a:ext cx="8229600" cy="4525963"/>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8" name="Straight Connector 7"/>
          <p:cNvCxnSpPr/>
          <p:nvPr/>
        </p:nvCxnSpPr>
        <p:spPr>
          <a:xfrm>
            <a:off x="458218" y="345723"/>
            <a:ext cx="8227564" cy="0"/>
          </a:xfrm>
          <a:prstGeom prst="line">
            <a:avLst/>
          </a:prstGeom>
          <a:ln w="60325" cmpd="sng">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p:cNvCxnSpPr/>
          <p:nvPr userDrawn="1"/>
        </p:nvCxnSpPr>
        <p:spPr>
          <a:xfrm>
            <a:off x="458218" y="345723"/>
            <a:ext cx="8227564" cy="0"/>
          </a:xfrm>
          <a:prstGeom prst="line">
            <a:avLst/>
          </a:prstGeom>
          <a:ln w="60325" cmpd="sng">
            <a:solidFill>
              <a:schemeClr val="tx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5832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Agenda White Plum">
    <p:spTree>
      <p:nvGrpSpPr>
        <p:cNvPr id="1" name=""/>
        <p:cNvGrpSpPr/>
        <p:nvPr/>
      </p:nvGrpSpPr>
      <p:grpSpPr>
        <a:xfrm>
          <a:off x="0" y="0"/>
          <a:ext cx="0" cy="0"/>
          <a:chOff x="0" y="0"/>
          <a:chExt cx="0" cy="0"/>
        </a:xfrm>
      </p:grpSpPr>
      <p:sp>
        <p:nvSpPr>
          <p:cNvPr id="2" name="Title 1"/>
          <p:cNvSpPr>
            <a:spLocks noGrp="1"/>
          </p:cNvSpPr>
          <p:nvPr>
            <p:ph type="title"/>
          </p:nvPr>
        </p:nvSpPr>
        <p:spPr>
          <a:xfrm>
            <a:off x="458218" y="484632"/>
            <a:ext cx="8229600" cy="1043693"/>
          </a:xfrm>
        </p:spPr>
        <p:txBody>
          <a:bodyPr/>
          <a:lstStyle>
            <a:lvl1pPr>
              <a:defRPr sz="480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58218" y="1540765"/>
            <a:ext cx="8229600" cy="45259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p:nvPr/>
        </p:nvCxnSpPr>
        <p:spPr>
          <a:xfrm>
            <a:off x="458218" y="345723"/>
            <a:ext cx="8227564" cy="0"/>
          </a:xfrm>
          <a:prstGeom prst="line">
            <a:avLst/>
          </a:prstGeom>
          <a:ln w="60325" cmpd="sng">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p:cNvCxnSpPr/>
          <p:nvPr userDrawn="1"/>
        </p:nvCxnSpPr>
        <p:spPr>
          <a:xfrm>
            <a:off x="458218" y="345723"/>
            <a:ext cx="8227564" cy="0"/>
          </a:xfrm>
          <a:prstGeom prst="line">
            <a:avLst/>
          </a:prstGeom>
          <a:ln w="603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14641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White Teal">
    <p:spTree>
      <p:nvGrpSpPr>
        <p:cNvPr id="1" name=""/>
        <p:cNvGrpSpPr/>
        <p:nvPr/>
      </p:nvGrpSpPr>
      <p:grpSpPr>
        <a:xfrm>
          <a:off x="0" y="0"/>
          <a:ext cx="0" cy="0"/>
          <a:chOff x="0" y="0"/>
          <a:chExt cx="0" cy="0"/>
        </a:xfrm>
      </p:grpSpPr>
      <p:sp>
        <p:nvSpPr>
          <p:cNvPr id="2" name="Title 1"/>
          <p:cNvSpPr>
            <a:spLocks noGrp="1"/>
          </p:cNvSpPr>
          <p:nvPr>
            <p:ph type="title"/>
          </p:nvPr>
        </p:nvSpPr>
        <p:spPr>
          <a:xfrm>
            <a:off x="458218" y="484632"/>
            <a:ext cx="8229600" cy="1043693"/>
          </a:xfrm>
          <a:ln>
            <a:solidFill>
              <a:schemeClr val="accent1"/>
            </a:solidFill>
          </a:ln>
        </p:spPr>
        <p:txBody>
          <a:bodyPr/>
          <a:lstStyle>
            <a:lvl1pPr>
              <a:defRPr sz="4800">
                <a:solidFill>
                  <a:schemeClr val="accent1"/>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58218" y="1540765"/>
            <a:ext cx="8229600" cy="45259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p:nvPr/>
        </p:nvCxnSpPr>
        <p:spPr>
          <a:xfrm>
            <a:off x="458218" y="345723"/>
            <a:ext cx="8227564" cy="0"/>
          </a:xfrm>
          <a:prstGeom prst="line">
            <a:avLst/>
          </a:prstGeom>
          <a:ln w="60325" cmpd="sng">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p:cNvCxnSpPr/>
          <p:nvPr userDrawn="1"/>
        </p:nvCxnSpPr>
        <p:spPr>
          <a:xfrm>
            <a:off x="458218" y="345723"/>
            <a:ext cx="8227564" cy="0"/>
          </a:xfrm>
          <a:prstGeom prst="line">
            <a:avLst/>
          </a:prstGeom>
          <a:ln w="60325" cmpd="sng">
            <a:solidFill>
              <a:schemeClr val="accent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07588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Agenda White Green">
    <p:spTree>
      <p:nvGrpSpPr>
        <p:cNvPr id="1" name=""/>
        <p:cNvGrpSpPr/>
        <p:nvPr/>
      </p:nvGrpSpPr>
      <p:grpSpPr>
        <a:xfrm>
          <a:off x="0" y="0"/>
          <a:ext cx="0" cy="0"/>
          <a:chOff x="0" y="0"/>
          <a:chExt cx="0" cy="0"/>
        </a:xfrm>
      </p:grpSpPr>
      <p:sp>
        <p:nvSpPr>
          <p:cNvPr id="2" name="Title 1"/>
          <p:cNvSpPr>
            <a:spLocks noGrp="1"/>
          </p:cNvSpPr>
          <p:nvPr>
            <p:ph type="title"/>
          </p:nvPr>
        </p:nvSpPr>
        <p:spPr>
          <a:xfrm>
            <a:off x="458218" y="484632"/>
            <a:ext cx="8229600" cy="1043693"/>
          </a:xfrm>
        </p:spPr>
        <p:txBody>
          <a:bodyPr/>
          <a:lstStyle>
            <a:lvl1pPr>
              <a:defRPr sz="4800">
                <a:solidFill>
                  <a:schemeClr val="accent1"/>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58218" y="1540765"/>
            <a:ext cx="8229600" cy="45259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p:nvPr/>
        </p:nvCxnSpPr>
        <p:spPr>
          <a:xfrm>
            <a:off x="458218" y="345723"/>
            <a:ext cx="8227564" cy="0"/>
          </a:xfrm>
          <a:prstGeom prst="line">
            <a:avLst/>
          </a:prstGeom>
          <a:ln w="60325" cmpd="sng">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p:cNvCxnSpPr/>
          <p:nvPr userDrawn="1"/>
        </p:nvCxnSpPr>
        <p:spPr>
          <a:xfrm>
            <a:off x="458218" y="345723"/>
            <a:ext cx="8227564" cy="0"/>
          </a:xfrm>
          <a:prstGeom prst="line">
            <a:avLst/>
          </a:prstGeom>
          <a:ln w="60325" cmpd="sng">
            <a:solidFill>
              <a:schemeClr val="accent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7397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Agenda White Blue">
    <p:spTree>
      <p:nvGrpSpPr>
        <p:cNvPr id="1" name=""/>
        <p:cNvGrpSpPr/>
        <p:nvPr/>
      </p:nvGrpSpPr>
      <p:grpSpPr>
        <a:xfrm>
          <a:off x="0" y="0"/>
          <a:ext cx="0" cy="0"/>
          <a:chOff x="0" y="0"/>
          <a:chExt cx="0" cy="0"/>
        </a:xfrm>
      </p:grpSpPr>
      <p:sp>
        <p:nvSpPr>
          <p:cNvPr id="2" name="Title 1"/>
          <p:cNvSpPr>
            <a:spLocks noGrp="1"/>
          </p:cNvSpPr>
          <p:nvPr>
            <p:ph type="title"/>
          </p:nvPr>
        </p:nvSpPr>
        <p:spPr>
          <a:xfrm>
            <a:off x="458218" y="484632"/>
            <a:ext cx="8229600" cy="1043693"/>
          </a:xfrm>
        </p:spPr>
        <p:txBody>
          <a:bodyPr/>
          <a:lstStyle>
            <a:lvl1pPr>
              <a:defRPr sz="4800">
                <a:solidFill>
                  <a:schemeClr val="accent5"/>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58218" y="1540765"/>
            <a:ext cx="8229600" cy="45259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p:nvPr/>
        </p:nvCxnSpPr>
        <p:spPr>
          <a:xfrm>
            <a:off x="458218" y="345723"/>
            <a:ext cx="8227564" cy="0"/>
          </a:xfrm>
          <a:prstGeom prst="line">
            <a:avLst/>
          </a:prstGeom>
          <a:ln w="60325" cmpd="sng">
            <a:solidFill>
              <a:schemeClr val="accent5"/>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p:cNvCxnSpPr/>
          <p:nvPr userDrawn="1"/>
        </p:nvCxnSpPr>
        <p:spPr>
          <a:xfrm>
            <a:off x="458218" y="345723"/>
            <a:ext cx="8227564" cy="0"/>
          </a:xfrm>
          <a:prstGeom prst="line">
            <a:avLst/>
          </a:prstGeom>
          <a:ln w="60325" cmpd="sng">
            <a:solidFill>
              <a:schemeClr val="accent4"/>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6093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Agenda White Cyan">
    <p:spTree>
      <p:nvGrpSpPr>
        <p:cNvPr id="1" name=""/>
        <p:cNvGrpSpPr/>
        <p:nvPr/>
      </p:nvGrpSpPr>
      <p:grpSpPr>
        <a:xfrm>
          <a:off x="0" y="0"/>
          <a:ext cx="0" cy="0"/>
          <a:chOff x="0" y="0"/>
          <a:chExt cx="0" cy="0"/>
        </a:xfrm>
      </p:grpSpPr>
      <p:sp>
        <p:nvSpPr>
          <p:cNvPr id="2" name="Title 1"/>
          <p:cNvSpPr>
            <a:spLocks noGrp="1"/>
          </p:cNvSpPr>
          <p:nvPr>
            <p:ph type="title"/>
          </p:nvPr>
        </p:nvSpPr>
        <p:spPr>
          <a:xfrm>
            <a:off x="458218" y="484632"/>
            <a:ext cx="8229600" cy="1043693"/>
          </a:xfrm>
        </p:spPr>
        <p:txBody>
          <a:bodyPr/>
          <a:lstStyle>
            <a:lvl1pPr>
              <a:defRPr sz="4800">
                <a:solidFill>
                  <a:schemeClr val="accent5"/>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58218" y="1540765"/>
            <a:ext cx="8229600" cy="45259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p:nvPr/>
        </p:nvCxnSpPr>
        <p:spPr>
          <a:xfrm>
            <a:off x="458218" y="345723"/>
            <a:ext cx="8227564" cy="0"/>
          </a:xfrm>
          <a:prstGeom prst="line">
            <a:avLst/>
          </a:prstGeom>
          <a:ln w="60325" cmpd="sng">
            <a:solidFill>
              <a:schemeClr val="accent5"/>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p:cNvCxnSpPr/>
          <p:nvPr userDrawn="1"/>
        </p:nvCxnSpPr>
        <p:spPr>
          <a:xfrm>
            <a:off x="458218" y="345723"/>
            <a:ext cx="8227564" cy="0"/>
          </a:xfrm>
          <a:prstGeom prst="line">
            <a:avLst/>
          </a:prstGeom>
          <a:ln w="603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1271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Agenda Cyan">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8218" y="484632"/>
            <a:ext cx="8229600" cy="1043693"/>
          </a:xfrm>
        </p:spPr>
        <p:txBody>
          <a:bodyPr/>
          <a:lstStyle>
            <a:lvl1pPr>
              <a:defRPr sz="480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58218" y="1540765"/>
            <a:ext cx="8229600" cy="4525963"/>
          </a:xfr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p:nvPr/>
        </p:nvCxnSpPr>
        <p:spPr>
          <a:xfrm>
            <a:off x="458218" y="345723"/>
            <a:ext cx="8227564" cy="0"/>
          </a:xfrm>
          <a:prstGeom prst="line">
            <a:avLst/>
          </a:prstGeom>
          <a:ln w="603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164336" y="6456033"/>
            <a:ext cx="522464" cy="246221"/>
          </a:xfrm>
          <a:prstGeom prst="rect">
            <a:avLst/>
          </a:prstGeom>
          <a:noFill/>
        </p:spPr>
        <p:txBody>
          <a:bodyPr wrap="square" lIns="0" rIns="0" rtlCol="0">
            <a:noAutofit/>
          </a:bodyPr>
          <a:lstStyle/>
          <a:p>
            <a:pPr algn="r"/>
            <a:fld id="{8EF3A903-7F25-E440-BA55-7115C69D9986}" type="slidenum">
              <a:rPr lang="en-US" sz="1000" smtClean="0">
                <a:solidFill>
                  <a:schemeClr val="bg1"/>
                </a:solidFill>
              </a:rPr>
              <a:t>‹#›</a:t>
            </a:fld>
            <a:endParaRPr lang="en-US" sz="1000" dirty="0" smtClean="0">
              <a:solidFill>
                <a:schemeClr val="bg1"/>
              </a:solidFill>
            </a:endParaRPr>
          </a:p>
        </p:txBody>
      </p:sp>
      <p:pic>
        <p:nvPicPr>
          <p:cNvPr id="11" name="Picture 10" descr="APGGR_CSP2558_GRCLogo_Update_white.png"/>
          <p:cNvPicPr>
            <a:picLocks noChangeAspect="1"/>
          </p:cNvPicPr>
          <p:nvPr/>
        </p:nvPicPr>
        <p:blipFill rotWithShape="1">
          <a:blip r:embed="rId2">
            <a:extLst>
              <a:ext uri="{28A0092B-C50C-407E-A947-70E740481C1C}">
                <a14:useLocalDpi xmlns:a14="http://schemas.microsoft.com/office/drawing/2010/main" val="0"/>
              </a:ext>
            </a:extLst>
          </a:blip>
          <a:srcRect r="67873"/>
          <a:stretch/>
        </p:blipFill>
        <p:spPr>
          <a:xfrm>
            <a:off x="4301290" y="6183785"/>
            <a:ext cx="545878" cy="568760"/>
          </a:xfrm>
          <a:prstGeom prst="rect">
            <a:avLst/>
          </a:prstGeom>
        </p:spPr>
      </p:pic>
      <p:sp>
        <p:nvSpPr>
          <p:cNvPr id="14" name="TextBox 13"/>
          <p:cNvSpPr txBox="1"/>
          <p:nvPr/>
        </p:nvSpPr>
        <p:spPr>
          <a:xfrm>
            <a:off x="4889500" y="6497025"/>
            <a:ext cx="3591562" cy="184666"/>
          </a:xfrm>
          <a:prstGeom prst="rect">
            <a:avLst/>
          </a:prstGeom>
          <a:noFill/>
        </p:spPr>
        <p:txBody>
          <a:bodyPr wrap="square" rtlCol="0">
            <a:spAutoFit/>
          </a:bodyPr>
          <a:lstStyle/>
          <a:p>
            <a:pPr algn="r"/>
            <a:r>
              <a:rPr lang="en-US" sz="600" dirty="0" smtClean="0">
                <a:solidFill>
                  <a:schemeClr val="bg1"/>
                </a:solidFill>
              </a:rPr>
              <a:t>Confidential and proprietary information © 2014 General Revenue Corporation. All rights reserved.</a:t>
            </a:r>
          </a:p>
        </p:txBody>
      </p:sp>
      <p:cxnSp>
        <p:nvCxnSpPr>
          <p:cNvPr id="9" name="Straight Connector 8"/>
          <p:cNvCxnSpPr/>
          <p:nvPr userDrawn="1"/>
        </p:nvCxnSpPr>
        <p:spPr>
          <a:xfrm>
            <a:off x="458218" y="345723"/>
            <a:ext cx="8227564" cy="0"/>
          </a:xfrm>
          <a:prstGeom prst="line">
            <a:avLst/>
          </a:prstGeom>
          <a:ln w="6032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8056" y="6448999"/>
            <a:ext cx="1048225" cy="192023"/>
          </a:xfrm>
          <a:prstGeom prst="rect">
            <a:avLst/>
          </a:prstGeom>
        </p:spPr>
      </p:pic>
      <p:sp>
        <p:nvSpPr>
          <p:cNvPr id="12" name="TextBox 11"/>
          <p:cNvSpPr txBox="1"/>
          <p:nvPr userDrawn="1"/>
        </p:nvSpPr>
        <p:spPr>
          <a:xfrm>
            <a:off x="5029733" y="6497025"/>
            <a:ext cx="3260829" cy="184666"/>
          </a:xfrm>
          <a:prstGeom prst="rect">
            <a:avLst/>
          </a:prstGeom>
          <a:noFill/>
        </p:spPr>
        <p:txBody>
          <a:bodyPr wrap="none" rtlCol="0">
            <a:spAutoFit/>
          </a:bodyPr>
          <a:lstStyle/>
          <a:p>
            <a:pPr algn="r"/>
            <a:r>
              <a:rPr lang="en-US" sz="600" dirty="0" smtClean="0">
                <a:solidFill>
                  <a:schemeClr val="bg1"/>
                </a:solidFill>
              </a:rPr>
              <a:t>Confidential and proprietary information  © 2014 Navient Solutions, Inc. All rights reserved.</a:t>
            </a:r>
          </a:p>
        </p:txBody>
      </p:sp>
      <p:sp>
        <p:nvSpPr>
          <p:cNvPr id="15" name="TextBox 14"/>
          <p:cNvSpPr txBox="1"/>
          <p:nvPr userDrawn="1"/>
        </p:nvSpPr>
        <p:spPr>
          <a:xfrm>
            <a:off x="8164336" y="6456033"/>
            <a:ext cx="522464" cy="246221"/>
          </a:xfrm>
          <a:prstGeom prst="rect">
            <a:avLst/>
          </a:prstGeom>
          <a:noFill/>
        </p:spPr>
        <p:txBody>
          <a:bodyPr wrap="square" lIns="0" rIns="0" rtlCol="0">
            <a:noAutofit/>
          </a:bodyPr>
          <a:lstStyle/>
          <a:p>
            <a:pPr algn="r"/>
            <a:fld id="{8EF3A903-7F25-E440-BA55-7115C69D9986}" type="slidenum">
              <a:rPr lang="en-US" sz="1000" smtClean="0">
                <a:solidFill>
                  <a:schemeClr val="bg1"/>
                </a:solidFill>
              </a:rPr>
              <a:t>‹#›</a:t>
            </a:fld>
            <a:endParaRPr lang="en-US" sz="1000" dirty="0" smtClean="0">
              <a:solidFill>
                <a:schemeClr val="bg1"/>
              </a:solidFill>
            </a:endParaRPr>
          </a:p>
        </p:txBody>
      </p:sp>
    </p:spTree>
    <p:extLst>
      <p:ext uri="{BB962C8B-B14F-4D97-AF65-F5344CB8AC3E}">
        <p14:creationId xmlns:p14="http://schemas.microsoft.com/office/powerpoint/2010/main" val="3769517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Agenda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8218" y="481988"/>
            <a:ext cx="8229600" cy="1043693"/>
          </a:xfrm>
        </p:spPr>
        <p:txBody>
          <a:bodyPr/>
          <a:lstStyle>
            <a:lvl1pPr>
              <a:defRPr sz="480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58218" y="1540765"/>
            <a:ext cx="8229600" cy="4525963"/>
          </a:xfr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8" name="Straight Connector 7"/>
          <p:cNvCxnSpPr/>
          <p:nvPr/>
        </p:nvCxnSpPr>
        <p:spPr>
          <a:xfrm>
            <a:off x="458218" y="345723"/>
            <a:ext cx="8227564" cy="0"/>
          </a:xfrm>
          <a:prstGeom prst="line">
            <a:avLst/>
          </a:prstGeom>
          <a:ln w="603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64336" y="6456033"/>
            <a:ext cx="522464" cy="246221"/>
          </a:xfrm>
          <a:prstGeom prst="rect">
            <a:avLst/>
          </a:prstGeom>
          <a:noFill/>
        </p:spPr>
        <p:txBody>
          <a:bodyPr wrap="square" lIns="0" rIns="0" rtlCol="0">
            <a:noAutofit/>
          </a:bodyPr>
          <a:lstStyle/>
          <a:p>
            <a:pPr algn="r"/>
            <a:fld id="{8EF3A903-7F25-E440-BA55-7115C69D9986}" type="slidenum">
              <a:rPr lang="en-US" sz="1000" smtClean="0">
                <a:solidFill>
                  <a:schemeClr val="bg1"/>
                </a:solidFill>
              </a:rPr>
              <a:t>‹#›</a:t>
            </a:fld>
            <a:endParaRPr lang="en-US" sz="1000" dirty="0" smtClean="0">
              <a:solidFill>
                <a:schemeClr val="bg1"/>
              </a:solidFill>
            </a:endParaRPr>
          </a:p>
        </p:txBody>
      </p:sp>
      <p:pic>
        <p:nvPicPr>
          <p:cNvPr id="11" name="Picture 10" descr="APGGR_CSP2558_GRCLogo_Update_white.png"/>
          <p:cNvPicPr>
            <a:picLocks noChangeAspect="1"/>
          </p:cNvPicPr>
          <p:nvPr/>
        </p:nvPicPr>
        <p:blipFill rotWithShape="1">
          <a:blip r:embed="rId2">
            <a:extLst>
              <a:ext uri="{28A0092B-C50C-407E-A947-70E740481C1C}">
                <a14:useLocalDpi xmlns:a14="http://schemas.microsoft.com/office/drawing/2010/main" val="0"/>
              </a:ext>
            </a:extLst>
          </a:blip>
          <a:srcRect r="67873"/>
          <a:stretch/>
        </p:blipFill>
        <p:spPr>
          <a:xfrm>
            <a:off x="4301290" y="6183785"/>
            <a:ext cx="545878" cy="568760"/>
          </a:xfrm>
          <a:prstGeom prst="rect">
            <a:avLst/>
          </a:prstGeom>
        </p:spPr>
      </p:pic>
      <p:sp>
        <p:nvSpPr>
          <p:cNvPr id="13" name="TextBox 12"/>
          <p:cNvSpPr txBox="1"/>
          <p:nvPr/>
        </p:nvSpPr>
        <p:spPr>
          <a:xfrm>
            <a:off x="4889500" y="6497025"/>
            <a:ext cx="3591562" cy="184666"/>
          </a:xfrm>
          <a:prstGeom prst="rect">
            <a:avLst/>
          </a:prstGeom>
          <a:noFill/>
        </p:spPr>
        <p:txBody>
          <a:bodyPr wrap="square" rtlCol="0">
            <a:spAutoFit/>
          </a:bodyPr>
          <a:lstStyle/>
          <a:p>
            <a:pPr algn="r"/>
            <a:r>
              <a:rPr lang="en-US" sz="600" dirty="0" smtClean="0">
                <a:solidFill>
                  <a:schemeClr val="bg1"/>
                </a:solidFill>
              </a:rPr>
              <a:t>Confidential and proprietary information © 2014 General Revenue Corporation. All rights reserved.</a:t>
            </a: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8056" y="6448999"/>
            <a:ext cx="1048225" cy="192023"/>
          </a:xfrm>
          <a:prstGeom prst="rect">
            <a:avLst/>
          </a:prstGeom>
        </p:spPr>
      </p:pic>
      <p:cxnSp>
        <p:nvCxnSpPr>
          <p:cNvPr id="10" name="Straight Connector 9"/>
          <p:cNvCxnSpPr/>
          <p:nvPr userDrawn="1"/>
        </p:nvCxnSpPr>
        <p:spPr>
          <a:xfrm>
            <a:off x="458218" y="345723"/>
            <a:ext cx="8227564" cy="0"/>
          </a:xfrm>
          <a:prstGeom prst="line">
            <a:avLst/>
          </a:prstGeom>
          <a:ln w="603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userDrawn="1"/>
        </p:nvSpPr>
        <p:spPr>
          <a:xfrm>
            <a:off x="5029733" y="6497025"/>
            <a:ext cx="3260829" cy="184666"/>
          </a:xfrm>
          <a:prstGeom prst="rect">
            <a:avLst/>
          </a:prstGeom>
          <a:noFill/>
        </p:spPr>
        <p:txBody>
          <a:bodyPr wrap="none" rtlCol="0">
            <a:spAutoFit/>
          </a:bodyPr>
          <a:lstStyle/>
          <a:p>
            <a:pPr algn="r"/>
            <a:r>
              <a:rPr lang="en-US" sz="600" dirty="0" smtClean="0">
                <a:solidFill>
                  <a:schemeClr val="bg1"/>
                </a:solidFill>
              </a:rPr>
              <a:t>Confidential and proprietary information  © 2014 Navient Solutions, Inc. All rights reserved.</a:t>
            </a:r>
          </a:p>
        </p:txBody>
      </p:sp>
      <p:sp>
        <p:nvSpPr>
          <p:cNvPr id="15" name="TextBox 14"/>
          <p:cNvSpPr txBox="1"/>
          <p:nvPr userDrawn="1"/>
        </p:nvSpPr>
        <p:spPr>
          <a:xfrm>
            <a:off x="8164336" y="6456033"/>
            <a:ext cx="522464" cy="246221"/>
          </a:xfrm>
          <a:prstGeom prst="rect">
            <a:avLst/>
          </a:prstGeom>
          <a:noFill/>
        </p:spPr>
        <p:txBody>
          <a:bodyPr wrap="square" lIns="0" rIns="0" rtlCol="0">
            <a:noAutofit/>
          </a:bodyPr>
          <a:lstStyle/>
          <a:p>
            <a:pPr algn="r"/>
            <a:fld id="{8EF3A903-7F25-E440-BA55-7115C69D9986}" type="slidenum">
              <a:rPr lang="en-US" sz="1000" smtClean="0">
                <a:solidFill>
                  <a:schemeClr val="bg1"/>
                </a:solidFill>
              </a:rPr>
              <a:t>‹#›</a:t>
            </a:fld>
            <a:endParaRPr lang="en-US" sz="1000" dirty="0" smtClean="0">
              <a:solidFill>
                <a:schemeClr val="bg1"/>
              </a:solidFill>
            </a:endParaRPr>
          </a:p>
        </p:txBody>
      </p:sp>
    </p:spTree>
    <p:extLst>
      <p:ext uri="{BB962C8B-B14F-4D97-AF65-F5344CB8AC3E}">
        <p14:creationId xmlns:p14="http://schemas.microsoft.com/office/powerpoint/2010/main" val="2219836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Agenda Purpl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8218" y="481988"/>
            <a:ext cx="8229600" cy="1043693"/>
          </a:xfrm>
        </p:spPr>
        <p:txBody>
          <a:bodyPr/>
          <a:lstStyle>
            <a:lvl1pPr>
              <a:defRPr sz="480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58218" y="1540765"/>
            <a:ext cx="8229600" cy="4525963"/>
          </a:xfrm>
        </p:spPr>
        <p:txBody>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8" name="Straight Connector 7"/>
          <p:cNvCxnSpPr/>
          <p:nvPr/>
        </p:nvCxnSpPr>
        <p:spPr>
          <a:xfrm>
            <a:off x="458218" y="345723"/>
            <a:ext cx="8227564" cy="0"/>
          </a:xfrm>
          <a:prstGeom prst="line">
            <a:avLst/>
          </a:prstGeom>
          <a:ln w="603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164336" y="6456033"/>
            <a:ext cx="522464" cy="246221"/>
          </a:xfrm>
          <a:prstGeom prst="rect">
            <a:avLst/>
          </a:prstGeom>
          <a:noFill/>
        </p:spPr>
        <p:txBody>
          <a:bodyPr wrap="square" lIns="0" rIns="0" rtlCol="0">
            <a:noAutofit/>
          </a:bodyPr>
          <a:lstStyle/>
          <a:p>
            <a:pPr algn="r"/>
            <a:fld id="{8EF3A903-7F25-E440-BA55-7115C69D9986}" type="slidenum">
              <a:rPr lang="en-US" sz="1000" smtClean="0">
                <a:solidFill>
                  <a:schemeClr val="bg1"/>
                </a:solidFill>
              </a:rPr>
              <a:t>‹#›</a:t>
            </a:fld>
            <a:endParaRPr lang="en-US" sz="1000" dirty="0" smtClean="0">
              <a:solidFill>
                <a:schemeClr val="bg1"/>
              </a:solidFill>
            </a:endParaRPr>
          </a:p>
        </p:txBody>
      </p:sp>
      <p:pic>
        <p:nvPicPr>
          <p:cNvPr id="11" name="Picture 10" descr="APGGR_CSP2558_GRCLogo_Update_white.png"/>
          <p:cNvPicPr>
            <a:picLocks noChangeAspect="1"/>
          </p:cNvPicPr>
          <p:nvPr/>
        </p:nvPicPr>
        <p:blipFill rotWithShape="1">
          <a:blip r:embed="rId2">
            <a:extLst>
              <a:ext uri="{28A0092B-C50C-407E-A947-70E740481C1C}">
                <a14:useLocalDpi xmlns:a14="http://schemas.microsoft.com/office/drawing/2010/main" val="0"/>
              </a:ext>
            </a:extLst>
          </a:blip>
          <a:srcRect r="67873"/>
          <a:stretch/>
        </p:blipFill>
        <p:spPr>
          <a:xfrm>
            <a:off x="4301290" y="6183785"/>
            <a:ext cx="545878" cy="568760"/>
          </a:xfrm>
          <a:prstGeom prst="rect">
            <a:avLst/>
          </a:prstGeom>
        </p:spPr>
      </p:pic>
      <p:sp>
        <p:nvSpPr>
          <p:cNvPr id="13" name="TextBox 12"/>
          <p:cNvSpPr txBox="1"/>
          <p:nvPr/>
        </p:nvSpPr>
        <p:spPr>
          <a:xfrm>
            <a:off x="4889500" y="6497025"/>
            <a:ext cx="3591562" cy="184666"/>
          </a:xfrm>
          <a:prstGeom prst="rect">
            <a:avLst/>
          </a:prstGeom>
          <a:noFill/>
        </p:spPr>
        <p:txBody>
          <a:bodyPr wrap="square" rtlCol="0">
            <a:spAutoFit/>
          </a:bodyPr>
          <a:lstStyle/>
          <a:p>
            <a:pPr algn="r"/>
            <a:r>
              <a:rPr lang="en-US" sz="600" dirty="0" smtClean="0">
                <a:solidFill>
                  <a:schemeClr val="bg1"/>
                </a:solidFill>
              </a:rPr>
              <a:t>Confidential and proprietary information © 2014 General Revenue Corporation. All rights reserved.</a:t>
            </a: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8056" y="6448999"/>
            <a:ext cx="1048225" cy="192023"/>
          </a:xfrm>
          <a:prstGeom prst="rect">
            <a:avLst/>
          </a:prstGeom>
        </p:spPr>
      </p:pic>
      <p:cxnSp>
        <p:nvCxnSpPr>
          <p:cNvPr id="10" name="Straight Connector 9"/>
          <p:cNvCxnSpPr/>
          <p:nvPr userDrawn="1"/>
        </p:nvCxnSpPr>
        <p:spPr>
          <a:xfrm>
            <a:off x="458218" y="345723"/>
            <a:ext cx="8227564" cy="0"/>
          </a:xfrm>
          <a:prstGeom prst="line">
            <a:avLst/>
          </a:prstGeom>
          <a:ln w="603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userDrawn="1"/>
        </p:nvSpPr>
        <p:spPr>
          <a:xfrm>
            <a:off x="5029733" y="6497025"/>
            <a:ext cx="3260829" cy="184666"/>
          </a:xfrm>
          <a:prstGeom prst="rect">
            <a:avLst/>
          </a:prstGeom>
          <a:noFill/>
        </p:spPr>
        <p:txBody>
          <a:bodyPr wrap="none" rtlCol="0">
            <a:spAutoFit/>
          </a:bodyPr>
          <a:lstStyle/>
          <a:p>
            <a:pPr algn="r"/>
            <a:r>
              <a:rPr lang="en-US" sz="600" dirty="0" smtClean="0">
                <a:solidFill>
                  <a:schemeClr val="bg1"/>
                </a:solidFill>
              </a:rPr>
              <a:t>Confidential and proprietary information  © 2014 Navient Solutions, Inc. All rights reserved.</a:t>
            </a:r>
          </a:p>
        </p:txBody>
      </p:sp>
      <p:sp>
        <p:nvSpPr>
          <p:cNvPr id="15" name="TextBox 14"/>
          <p:cNvSpPr txBox="1"/>
          <p:nvPr userDrawn="1"/>
        </p:nvSpPr>
        <p:spPr>
          <a:xfrm>
            <a:off x="8164336" y="6456033"/>
            <a:ext cx="522464" cy="246221"/>
          </a:xfrm>
          <a:prstGeom prst="rect">
            <a:avLst/>
          </a:prstGeom>
          <a:noFill/>
        </p:spPr>
        <p:txBody>
          <a:bodyPr wrap="square" lIns="0" rIns="0" rtlCol="0">
            <a:noAutofit/>
          </a:bodyPr>
          <a:lstStyle/>
          <a:p>
            <a:pPr algn="r"/>
            <a:fld id="{8EF3A903-7F25-E440-BA55-7115C69D9986}" type="slidenum">
              <a:rPr lang="en-US" sz="1000" smtClean="0">
                <a:solidFill>
                  <a:schemeClr val="bg1"/>
                </a:solidFill>
              </a:rPr>
              <a:t>‹#›</a:t>
            </a:fld>
            <a:endParaRPr lang="en-US" sz="1000" dirty="0" smtClean="0">
              <a:solidFill>
                <a:schemeClr val="bg1"/>
              </a:solidFill>
            </a:endParaRPr>
          </a:p>
        </p:txBody>
      </p:sp>
    </p:spTree>
    <p:extLst>
      <p:ext uri="{BB962C8B-B14F-4D97-AF65-F5344CB8AC3E}">
        <p14:creationId xmlns:p14="http://schemas.microsoft.com/office/powerpoint/2010/main" val="1235481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urple">
    <p:spTree>
      <p:nvGrpSpPr>
        <p:cNvPr id="1" name=""/>
        <p:cNvGrpSpPr/>
        <p:nvPr/>
      </p:nvGrpSpPr>
      <p:grpSpPr>
        <a:xfrm>
          <a:off x="0" y="0"/>
          <a:ext cx="0" cy="0"/>
          <a:chOff x="0" y="0"/>
          <a:chExt cx="0" cy="0"/>
        </a:xfrm>
      </p:grpSpPr>
      <p:sp>
        <p:nvSpPr>
          <p:cNvPr id="2" name="Title 1"/>
          <p:cNvSpPr>
            <a:spLocks noGrp="1"/>
          </p:cNvSpPr>
          <p:nvPr>
            <p:ph type="title"/>
          </p:nvPr>
        </p:nvSpPr>
        <p:spPr>
          <a:xfrm>
            <a:off x="458218" y="402168"/>
            <a:ext cx="8229600" cy="9144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458218" y="1371599"/>
            <a:ext cx="8229600" cy="48006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8" name="Straight Connector 7"/>
          <p:cNvCxnSpPr/>
          <p:nvPr/>
        </p:nvCxnSpPr>
        <p:spPr>
          <a:xfrm>
            <a:off x="458218" y="345723"/>
            <a:ext cx="8227564" cy="0"/>
          </a:xfrm>
          <a:prstGeom prst="line">
            <a:avLst/>
          </a:prstGeom>
          <a:ln w="60325" cmpd="sng">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p:cNvCxnSpPr/>
          <p:nvPr userDrawn="1"/>
        </p:nvCxnSpPr>
        <p:spPr>
          <a:xfrm>
            <a:off x="458218" y="345723"/>
            <a:ext cx="8227564" cy="0"/>
          </a:xfrm>
          <a:prstGeom prst="line">
            <a:avLst/>
          </a:prstGeom>
          <a:ln w="60325" cmpd="sng">
            <a:solidFill>
              <a:schemeClr val="tx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887534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urple">
    <p:spTree>
      <p:nvGrpSpPr>
        <p:cNvPr id="1" name=""/>
        <p:cNvGrpSpPr/>
        <p:nvPr/>
      </p:nvGrpSpPr>
      <p:grpSpPr>
        <a:xfrm>
          <a:off x="0" y="0"/>
          <a:ext cx="0" cy="0"/>
          <a:chOff x="0" y="0"/>
          <a:chExt cx="0" cy="0"/>
        </a:xfrm>
      </p:grpSpPr>
      <p:sp>
        <p:nvSpPr>
          <p:cNvPr id="2" name="Title 1"/>
          <p:cNvSpPr>
            <a:spLocks noGrp="1"/>
          </p:cNvSpPr>
          <p:nvPr>
            <p:ph type="title"/>
          </p:nvPr>
        </p:nvSpPr>
        <p:spPr>
          <a:xfrm>
            <a:off x="457200" y="402168"/>
            <a:ext cx="8229600" cy="9144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60997"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800600"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9" name="Straight Connector 8"/>
          <p:cNvCxnSpPr/>
          <p:nvPr/>
        </p:nvCxnSpPr>
        <p:spPr>
          <a:xfrm>
            <a:off x="458218" y="345723"/>
            <a:ext cx="8227564" cy="0"/>
          </a:xfrm>
          <a:prstGeom prst="line">
            <a:avLst/>
          </a:prstGeom>
          <a:ln w="60325" cmpd="sng">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userDrawn="1"/>
        </p:nvCxnSpPr>
        <p:spPr>
          <a:xfrm>
            <a:off x="458218" y="345723"/>
            <a:ext cx="8227564" cy="0"/>
          </a:xfrm>
          <a:prstGeom prst="line">
            <a:avLst/>
          </a:prstGeom>
          <a:ln w="60325" cmpd="sng">
            <a:solidFill>
              <a:schemeClr val="tx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31463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lum">
    <p:spTree>
      <p:nvGrpSpPr>
        <p:cNvPr id="1" name=""/>
        <p:cNvGrpSpPr/>
        <p:nvPr/>
      </p:nvGrpSpPr>
      <p:grpSpPr>
        <a:xfrm>
          <a:off x="0" y="0"/>
          <a:ext cx="0" cy="0"/>
          <a:chOff x="0" y="0"/>
          <a:chExt cx="0" cy="0"/>
        </a:xfrm>
      </p:grpSpPr>
      <p:sp>
        <p:nvSpPr>
          <p:cNvPr id="2" name="Title 1"/>
          <p:cNvSpPr>
            <a:spLocks noGrp="1"/>
          </p:cNvSpPr>
          <p:nvPr>
            <p:ph type="title"/>
          </p:nvPr>
        </p:nvSpPr>
        <p:spPr>
          <a:xfrm>
            <a:off x="458218" y="402168"/>
            <a:ext cx="8229600" cy="914400"/>
          </a:xfrm>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58218" y="1371599"/>
            <a:ext cx="8229600" cy="48006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8" name="Straight Connector 7"/>
          <p:cNvCxnSpPr/>
          <p:nvPr/>
        </p:nvCxnSpPr>
        <p:spPr>
          <a:xfrm>
            <a:off x="458218" y="345723"/>
            <a:ext cx="8227564" cy="0"/>
          </a:xfrm>
          <a:prstGeom prst="line">
            <a:avLst/>
          </a:prstGeom>
          <a:ln w="60325" cmpd="sng">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p:cNvCxnSpPr/>
          <p:nvPr userDrawn="1"/>
        </p:nvCxnSpPr>
        <p:spPr>
          <a:xfrm>
            <a:off x="458218" y="345723"/>
            <a:ext cx="8227564" cy="0"/>
          </a:xfrm>
          <a:prstGeom prst="line">
            <a:avLst/>
          </a:prstGeom>
          <a:ln w="603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105294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lum">
    <p:spTree>
      <p:nvGrpSpPr>
        <p:cNvPr id="1" name=""/>
        <p:cNvGrpSpPr/>
        <p:nvPr/>
      </p:nvGrpSpPr>
      <p:grpSpPr>
        <a:xfrm>
          <a:off x="0" y="0"/>
          <a:ext cx="0" cy="0"/>
          <a:chOff x="0" y="0"/>
          <a:chExt cx="0" cy="0"/>
        </a:xfrm>
      </p:grpSpPr>
      <p:sp>
        <p:nvSpPr>
          <p:cNvPr id="2" name="Title 1"/>
          <p:cNvSpPr>
            <a:spLocks noGrp="1"/>
          </p:cNvSpPr>
          <p:nvPr>
            <p:ph type="title"/>
          </p:nvPr>
        </p:nvSpPr>
        <p:spPr>
          <a:xfrm>
            <a:off x="457200" y="402168"/>
            <a:ext cx="8229600" cy="914400"/>
          </a:xfrm>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460997"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800600"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9" name="Straight Connector 8"/>
          <p:cNvCxnSpPr/>
          <p:nvPr/>
        </p:nvCxnSpPr>
        <p:spPr>
          <a:xfrm>
            <a:off x="458218" y="345723"/>
            <a:ext cx="8227564" cy="0"/>
          </a:xfrm>
          <a:prstGeom prst="line">
            <a:avLst/>
          </a:prstGeom>
          <a:ln w="60325" cmpd="sng">
            <a:solidFill>
              <a:srgbClr val="A27518"/>
            </a:solidFill>
          </a:ln>
          <a:effectLst/>
        </p:spPr>
        <p:style>
          <a:lnRef idx="2">
            <a:schemeClr val="accent1"/>
          </a:lnRef>
          <a:fillRef idx="0">
            <a:schemeClr val="accent1"/>
          </a:fillRef>
          <a:effectRef idx="1">
            <a:schemeClr val="accent1"/>
          </a:effectRef>
          <a:fontRef idx="minor">
            <a:schemeClr val="tx1"/>
          </a:fontRef>
        </p:style>
      </p:cxnSp>
      <p:cxnSp>
        <p:nvCxnSpPr>
          <p:cNvPr id="6" name="Straight Connector 5"/>
          <p:cNvCxnSpPr/>
          <p:nvPr userDrawn="1"/>
        </p:nvCxnSpPr>
        <p:spPr>
          <a:xfrm>
            <a:off x="458218" y="345723"/>
            <a:ext cx="8227564" cy="0"/>
          </a:xfrm>
          <a:prstGeom prst="line">
            <a:avLst/>
          </a:prstGeom>
          <a:ln w="603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3619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Te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8" name="Straight Connector 7"/>
          <p:cNvCxnSpPr/>
          <p:nvPr/>
        </p:nvCxnSpPr>
        <p:spPr>
          <a:xfrm>
            <a:off x="458218" y="345723"/>
            <a:ext cx="8227564" cy="0"/>
          </a:xfrm>
          <a:prstGeom prst="line">
            <a:avLst/>
          </a:prstGeom>
          <a:ln w="60325" cmpd="sng">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p:cNvCxnSpPr/>
          <p:nvPr userDrawn="1"/>
        </p:nvCxnSpPr>
        <p:spPr>
          <a:xfrm>
            <a:off x="458218" y="345723"/>
            <a:ext cx="8227564" cy="0"/>
          </a:xfrm>
          <a:prstGeom prst="line">
            <a:avLst/>
          </a:prstGeom>
          <a:ln w="60325" cmpd="sng">
            <a:solidFill>
              <a:schemeClr val="accent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90753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ntent Teal">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60997"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800600"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9" name="Straight Connector 8"/>
          <p:cNvCxnSpPr/>
          <p:nvPr/>
        </p:nvCxnSpPr>
        <p:spPr>
          <a:xfrm>
            <a:off x="458218" y="345723"/>
            <a:ext cx="8227564" cy="0"/>
          </a:xfrm>
          <a:prstGeom prst="line">
            <a:avLst/>
          </a:prstGeom>
          <a:ln w="60325" cmpd="sng">
            <a:solidFill>
              <a:srgbClr val="1F684E"/>
            </a:solidFill>
          </a:ln>
          <a:effectLst/>
        </p:spPr>
        <p:style>
          <a:lnRef idx="2">
            <a:schemeClr val="accent1"/>
          </a:lnRef>
          <a:fillRef idx="0">
            <a:schemeClr val="accent1"/>
          </a:fillRef>
          <a:effectRef idx="1">
            <a:schemeClr val="accent1"/>
          </a:effectRef>
          <a:fontRef idx="minor">
            <a:schemeClr val="tx1"/>
          </a:fontRef>
        </p:style>
      </p:cxnSp>
      <p:sp>
        <p:nvSpPr>
          <p:cNvPr id="5" name="Title 4"/>
          <p:cNvSpPr>
            <a:spLocks noGrp="1"/>
          </p:cNvSpPr>
          <p:nvPr>
            <p:ph type="title"/>
          </p:nvPr>
        </p:nvSpPr>
        <p:spPr/>
        <p:txBody>
          <a:bodyPr/>
          <a:lstStyle>
            <a:lvl1pPr>
              <a:defRPr>
                <a:solidFill>
                  <a:schemeClr val="accent1"/>
                </a:solidFill>
              </a:defRPr>
            </a:lvl1pPr>
          </a:lstStyle>
          <a:p>
            <a:r>
              <a:rPr lang="en-US" smtClean="0"/>
              <a:t>Click to edit Master title style</a:t>
            </a:r>
            <a:endParaRPr lang="en-US" dirty="0"/>
          </a:p>
        </p:txBody>
      </p:sp>
      <p:cxnSp>
        <p:nvCxnSpPr>
          <p:cNvPr id="6" name="Straight Connector 5"/>
          <p:cNvCxnSpPr/>
          <p:nvPr userDrawn="1"/>
        </p:nvCxnSpPr>
        <p:spPr>
          <a:xfrm>
            <a:off x="458218" y="345723"/>
            <a:ext cx="8227564" cy="0"/>
          </a:xfrm>
          <a:prstGeom prst="line">
            <a:avLst/>
          </a:prstGeom>
          <a:ln w="60325" cmpd="sng">
            <a:solidFill>
              <a:schemeClr val="accent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06608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Gree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1F684E"/>
                </a:solidFill>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8" name="Straight Connector 7"/>
          <p:cNvCxnSpPr/>
          <p:nvPr/>
        </p:nvCxnSpPr>
        <p:spPr>
          <a:xfrm>
            <a:off x="458218" y="345723"/>
            <a:ext cx="8227564" cy="0"/>
          </a:xfrm>
          <a:prstGeom prst="line">
            <a:avLst/>
          </a:prstGeom>
          <a:ln w="60325" cmpd="sng">
            <a:solidFill>
              <a:srgbClr val="1F684E"/>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p:cNvCxnSpPr/>
          <p:nvPr userDrawn="1"/>
        </p:nvCxnSpPr>
        <p:spPr>
          <a:xfrm>
            <a:off x="458218" y="345723"/>
            <a:ext cx="8227564" cy="0"/>
          </a:xfrm>
          <a:prstGeom prst="line">
            <a:avLst/>
          </a:prstGeom>
          <a:ln w="60325" cmpd="sng">
            <a:solidFill>
              <a:schemeClr val="accent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829833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 Content Green">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60997"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800600"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9" name="Straight Connector 8"/>
          <p:cNvCxnSpPr/>
          <p:nvPr/>
        </p:nvCxnSpPr>
        <p:spPr>
          <a:xfrm>
            <a:off x="458218" y="345723"/>
            <a:ext cx="8227564" cy="0"/>
          </a:xfrm>
          <a:prstGeom prst="line">
            <a:avLst/>
          </a:prstGeom>
          <a:ln w="60325" cmpd="sng">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5" name="Title 4"/>
          <p:cNvSpPr>
            <a:spLocks noGrp="1"/>
          </p:cNvSpPr>
          <p:nvPr>
            <p:ph type="title"/>
          </p:nvPr>
        </p:nvSpPr>
        <p:spPr/>
        <p:txBody>
          <a:bodyPr/>
          <a:lstStyle>
            <a:lvl1pPr>
              <a:defRPr>
                <a:solidFill>
                  <a:srgbClr val="1F684E"/>
                </a:solidFill>
              </a:defRPr>
            </a:lvl1pPr>
          </a:lstStyle>
          <a:p>
            <a:r>
              <a:rPr lang="en-US" smtClean="0"/>
              <a:t>Click to edit Master title style</a:t>
            </a:r>
            <a:endParaRPr lang="en-US" dirty="0"/>
          </a:p>
        </p:txBody>
      </p:sp>
      <p:cxnSp>
        <p:nvCxnSpPr>
          <p:cNvPr id="6" name="Straight Connector 5"/>
          <p:cNvCxnSpPr/>
          <p:nvPr userDrawn="1"/>
        </p:nvCxnSpPr>
        <p:spPr>
          <a:xfrm>
            <a:off x="458218" y="345723"/>
            <a:ext cx="8227564" cy="0"/>
          </a:xfrm>
          <a:prstGeom prst="line">
            <a:avLst/>
          </a:prstGeom>
          <a:ln w="60325" cmpd="sng">
            <a:solidFill>
              <a:schemeClr val="accent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25448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Content Blue">
    <p:spTree>
      <p:nvGrpSpPr>
        <p:cNvPr id="1" name=""/>
        <p:cNvGrpSpPr/>
        <p:nvPr/>
      </p:nvGrpSpPr>
      <p:grpSpPr>
        <a:xfrm>
          <a:off x="0" y="0"/>
          <a:ext cx="0" cy="0"/>
          <a:chOff x="0" y="0"/>
          <a:chExt cx="0" cy="0"/>
        </a:xfrm>
      </p:grpSpPr>
      <p:sp>
        <p:nvSpPr>
          <p:cNvPr id="3" name="Content Placeholder 2"/>
          <p:cNvSpPr>
            <a:spLocks noGrp="1"/>
          </p:cNvSpPr>
          <p:nvPr>
            <p:ph idx="1"/>
          </p:nvPr>
        </p:nvSpPr>
        <p:spPr>
          <a:xfrm>
            <a:off x="458218" y="1371599"/>
            <a:ext cx="8229600" cy="48006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8" name="Straight Connector 7"/>
          <p:cNvCxnSpPr/>
          <p:nvPr/>
        </p:nvCxnSpPr>
        <p:spPr>
          <a:xfrm>
            <a:off x="458218" y="345723"/>
            <a:ext cx="8227564" cy="0"/>
          </a:xfrm>
          <a:prstGeom prst="line">
            <a:avLst/>
          </a:prstGeom>
          <a:ln w="60325" cmpd="sng">
            <a:solidFill>
              <a:srgbClr val="1F684E"/>
            </a:solidFill>
          </a:ln>
          <a:effectLst/>
        </p:spPr>
        <p:style>
          <a:lnRef idx="2">
            <a:schemeClr val="accent1"/>
          </a:lnRef>
          <a:fillRef idx="0">
            <a:schemeClr val="accent1"/>
          </a:fillRef>
          <a:effectRef idx="1">
            <a:schemeClr val="accent1"/>
          </a:effectRef>
          <a:fontRef idx="minor">
            <a:schemeClr val="tx1"/>
          </a:fontRef>
        </p:style>
      </p:cxnSp>
      <p:sp>
        <p:nvSpPr>
          <p:cNvPr id="4" name="Title 3"/>
          <p:cNvSpPr>
            <a:spLocks noGrp="1"/>
          </p:cNvSpPr>
          <p:nvPr>
            <p:ph type="title"/>
          </p:nvPr>
        </p:nvSpPr>
        <p:spPr/>
        <p:txBody>
          <a:bodyPr/>
          <a:lstStyle>
            <a:lvl1pPr>
              <a:defRPr>
                <a:solidFill>
                  <a:srgbClr val="1F684E"/>
                </a:solidFill>
              </a:defRPr>
            </a:lvl1pPr>
          </a:lstStyle>
          <a:p>
            <a:r>
              <a:rPr lang="en-US" smtClean="0"/>
              <a:t>Click to edit Master title style</a:t>
            </a:r>
            <a:endParaRPr lang="en-US" dirty="0"/>
          </a:p>
        </p:txBody>
      </p:sp>
      <p:cxnSp>
        <p:nvCxnSpPr>
          <p:cNvPr id="5" name="Straight Connector 4"/>
          <p:cNvCxnSpPr/>
          <p:nvPr userDrawn="1"/>
        </p:nvCxnSpPr>
        <p:spPr>
          <a:xfrm>
            <a:off x="458218" y="345723"/>
            <a:ext cx="8227564" cy="0"/>
          </a:xfrm>
          <a:prstGeom prst="line">
            <a:avLst/>
          </a:prstGeom>
          <a:ln w="60325" cmpd="sng">
            <a:solidFill>
              <a:schemeClr val="accent4"/>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74341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Content Blu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60997"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800600"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9" name="Straight Connector 8"/>
          <p:cNvCxnSpPr/>
          <p:nvPr/>
        </p:nvCxnSpPr>
        <p:spPr>
          <a:xfrm>
            <a:off x="458218" y="345723"/>
            <a:ext cx="8227564" cy="0"/>
          </a:xfrm>
          <a:prstGeom prst="line">
            <a:avLst/>
          </a:prstGeom>
          <a:ln w="60325" cmpd="sng">
            <a:solidFill>
              <a:srgbClr val="1F684E"/>
            </a:solidFill>
          </a:ln>
          <a:effectLst/>
        </p:spPr>
        <p:style>
          <a:lnRef idx="2">
            <a:schemeClr val="accent1"/>
          </a:lnRef>
          <a:fillRef idx="0">
            <a:schemeClr val="accent1"/>
          </a:fillRef>
          <a:effectRef idx="1">
            <a:schemeClr val="accent1"/>
          </a:effectRef>
          <a:fontRef idx="minor">
            <a:schemeClr val="tx1"/>
          </a:fontRef>
        </p:style>
      </p:cxnSp>
      <p:sp>
        <p:nvSpPr>
          <p:cNvPr id="5" name="Title 4"/>
          <p:cNvSpPr>
            <a:spLocks noGrp="1"/>
          </p:cNvSpPr>
          <p:nvPr>
            <p:ph type="title"/>
          </p:nvPr>
        </p:nvSpPr>
        <p:spPr/>
        <p:txBody>
          <a:bodyPr/>
          <a:lstStyle>
            <a:lvl1pPr>
              <a:defRPr>
                <a:solidFill>
                  <a:srgbClr val="1F684E"/>
                </a:solidFill>
              </a:defRPr>
            </a:lvl1pPr>
          </a:lstStyle>
          <a:p>
            <a:r>
              <a:rPr lang="en-US" smtClean="0"/>
              <a:t>Click to edit Master title style</a:t>
            </a:r>
            <a:endParaRPr lang="en-US" dirty="0"/>
          </a:p>
        </p:txBody>
      </p:sp>
      <p:cxnSp>
        <p:nvCxnSpPr>
          <p:cNvPr id="6" name="Straight Connector 5"/>
          <p:cNvCxnSpPr/>
          <p:nvPr userDrawn="1"/>
        </p:nvCxnSpPr>
        <p:spPr>
          <a:xfrm>
            <a:off x="458218" y="345723"/>
            <a:ext cx="8227564" cy="0"/>
          </a:xfrm>
          <a:prstGeom prst="line">
            <a:avLst/>
          </a:prstGeom>
          <a:ln w="60325" cmpd="sng">
            <a:solidFill>
              <a:schemeClr val="accent4"/>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145965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ontent Cyan">
    <p:spTree>
      <p:nvGrpSpPr>
        <p:cNvPr id="1" name=""/>
        <p:cNvGrpSpPr/>
        <p:nvPr/>
      </p:nvGrpSpPr>
      <p:grpSpPr>
        <a:xfrm>
          <a:off x="0" y="0"/>
          <a:ext cx="0" cy="0"/>
          <a:chOff x="0" y="0"/>
          <a:chExt cx="0" cy="0"/>
        </a:xfrm>
      </p:grpSpPr>
      <p:sp>
        <p:nvSpPr>
          <p:cNvPr id="3" name="Content Placeholder 2"/>
          <p:cNvSpPr>
            <a:spLocks noGrp="1"/>
          </p:cNvSpPr>
          <p:nvPr>
            <p:ph idx="1"/>
          </p:nvPr>
        </p:nvSpPr>
        <p:spPr>
          <a:xfrm>
            <a:off x="458218" y="1371599"/>
            <a:ext cx="8229600" cy="48006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8" name="Straight Connector 7"/>
          <p:cNvCxnSpPr/>
          <p:nvPr/>
        </p:nvCxnSpPr>
        <p:spPr>
          <a:xfrm>
            <a:off x="458218" y="345723"/>
            <a:ext cx="8227564" cy="0"/>
          </a:xfrm>
          <a:prstGeom prst="line">
            <a:avLst/>
          </a:prstGeom>
          <a:ln w="603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4" name="Title 3"/>
          <p:cNvSpPr>
            <a:spLocks noGrp="1"/>
          </p:cNvSpPr>
          <p:nvPr>
            <p:ph type="title"/>
          </p:nvPr>
        </p:nvSpPr>
        <p:spPr/>
        <p:txBody>
          <a:bodyPr/>
          <a:lstStyle>
            <a:lvl1pPr>
              <a:defRPr>
                <a:solidFill>
                  <a:schemeClr val="accent5"/>
                </a:solidFill>
              </a:defRPr>
            </a:lvl1pPr>
          </a:lstStyle>
          <a:p>
            <a:r>
              <a:rPr lang="en-US" smtClean="0"/>
              <a:t>Click to edit Master title style</a:t>
            </a:r>
            <a:endParaRPr lang="en-US" dirty="0"/>
          </a:p>
        </p:txBody>
      </p:sp>
      <p:cxnSp>
        <p:nvCxnSpPr>
          <p:cNvPr id="5" name="Straight Connector 4"/>
          <p:cNvCxnSpPr/>
          <p:nvPr userDrawn="1"/>
        </p:nvCxnSpPr>
        <p:spPr>
          <a:xfrm>
            <a:off x="458218" y="345723"/>
            <a:ext cx="8227564" cy="0"/>
          </a:xfrm>
          <a:prstGeom prst="line">
            <a:avLst/>
          </a:prstGeom>
          <a:ln w="603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70217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Cyan">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60997"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800600"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9" name="Straight Connector 8"/>
          <p:cNvCxnSpPr/>
          <p:nvPr/>
        </p:nvCxnSpPr>
        <p:spPr>
          <a:xfrm>
            <a:off x="458218" y="345723"/>
            <a:ext cx="8227564" cy="0"/>
          </a:xfrm>
          <a:prstGeom prst="line">
            <a:avLst/>
          </a:prstGeom>
          <a:ln w="603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5" name="Title 4"/>
          <p:cNvSpPr>
            <a:spLocks noGrp="1"/>
          </p:cNvSpPr>
          <p:nvPr>
            <p:ph type="title"/>
          </p:nvPr>
        </p:nvSpPr>
        <p:spPr/>
        <p:txBody>
          <a:bodyPr/>
          <a:lstStyle>
            <a:lvl1pPr>
              <a:defRPr>
                <a:solidFill>
                  <a:srgbClr val="1F68B2"/>
                </a:solidFill>
              </a:defRPr>
            </a:lvl1pPr>
          </a:lstStyle>
          <a:p>
            <a:r>
              <a:rPr lang="en-US" smtClean="0"/>
              <a:t>Click to edit Master title style</a:t>
            </a:r>
            <a:endParaRPr lang="en-US" dirty="0"/>
          </a:p>
        </p:txBody>
      </p:sp>
      <p:cxnSp>
        <p:nvCxnSpPr>
          <p:cNvPr id="6" name="Straight Connector 5"/>
          <p:cNvCxnSpPr/>
          <p:nvPr userDrawn="1"/>
        </p:nvCxnSpPr>
        <p:spPr>
          <a:xfrm>
            <a:off x="458218" y="345723"/>
            <a:ext cx="8227564" cy="0"/>
          </a:xfrm>
          <a:prstGeom prst="line">
            <a:avLst/>
          </a:prstGeom>
          <a:ln w="603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150568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80846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ivider White Purp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410177"/>
            <a:ext cx="5056191" cy="1674990"/>
          </a:xfrm>
        </p:spPr>
        <p:txBody>
          <a:bodyPr anchor="t"/>
          <a:lstStyle>
            <a:lvl1pPr algn="l">
              <a:defRPr sz="4800" b="0" cap="none">
                <a:solidFill>
                  <a:schemeClr val="tx2"/>
                </a:solidFill>
              </a:defRPr>
            </a:lvl1pPr>
          </a:lstStyle>
          <a:p>
            <a:r>
              <a:rPr lang="en-US" dirty="0" smtClean="0"/>
              <a:t>Click to edit master title style</a:t>
            </a:r>
            <a:endParaRPr lang="en-US" dirty="0"/>
          </a:p>
        </p:txBody>
      </p:sp>
      <p:cxnSp>
        <p:nvCxnSpPr>
          <p:cNvPr id="7" name="Straight Connector 6"/>
          <p:cNvCxnSpPr/>
          <p:nvPr/>
        </p:nvCxnSpPr>
        <p:spPr>
          <a:xfrm>
            <a:off x="458218" y="345723"/>
            <a:ext cx="8227564" cy="0"/>
          </a:xfrm>
          <a:prstGeom prst="line">
            <a:avLst/>
          </a:prstGeom>
          <a:ln w="60325" cmpd="sng">
            <a:solidFill>
              <a:schemeClr val="tx2"/>
            </a:solidFill>
          </a:ln>
          <a:effectLst/>
        </p:spPr>
        <p:style>
          <a:lnRef idx="2">
            <a:schemeClr val="accent1"/>
          </a:lnRef>
          <a:fillRef idx="0">
            <a:schemeClr val="accent1"/>
          </a:fillRef>
          <a:effectRef idx="1">
            <a:schemeClr val="accent1"/>
          </a:effectRef>
          <a:fontRef idx="minor">
            <a:schemeClr val="tx1"/>
          </a:fontRef>
        </p:style>
      </p:cxnSp>
      <p:cxnSp>
        <p:nvCxnSpPr>
          <p:cNvPr id="4" name="Straight Connector 3"/>
          <p:cNvCxnSpPr/>
          <p:nvPr userDrawn="1"/>
        </p:nvCxnSpPr>
        <p:spPr>
          <a:xfrm>
            <a:off x="458218" y="345723"/>
            <a:ext cx="8227564" cy="0"/>
          </a:xfrm>
          <a:prstGeom prst="line">
            <a:avLst/>
          </a:prstGeom>
          <a:ln w="60325" cmpd="sng">
            <a:solidFill>
              <a:schemeClr val="tx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229090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ivider White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410177"/>
            <a:ext cx="5056191" cy="1674990"/>
          </a:xfrm>
        </p:spPr>
        <p:txBody>
          <a:bodyPr anchor="t"/>
          <a:lstStyle>
            <a:lvl1pPr algn="l">
              <a:defRPr sz="4800" b="0" cap="none">
                <a:solidFill>
                  <a:schemeClr val="accent1"/>
                </a:solidFill>
              </a:defRPr>
            </a:lvl1pPr>
          </a:lstStyle>
          <a:p>
            <a:r>
              <a:rPr lang="en-US" dirty="0" smtClean="0"/>
              <a:t>Click to edit master title style</a:t>
            </a:r>
            <a:endParaRPr lang="en-US" dirty="0"/>
          </a:p>
        </p:txBody>
      </p:sp>
      <p:cxnSp>
        <p:nvCxnSpPr>
          <p:cNvPr id="7" name="Straight Connector 6"/>
          <p:cNvCxnSpPr/>
          <p:nvPr/>
        </p:nvCxnSpPr>
        <p:spPr>
          <a:xfrm>
            <a:off x="458218" y="345723"/>
            <a:ext cx="8227564" cy="0"/>
          </a:xfrm>
          <a:prstGeom prst="line">
            <a:avLst/>
          </a:prstGeom>
          <a:ln w="60325" cmpd="sng">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4" name="Straight Connector 3"/>
          <p:cNvCxnSpPr/>
          <p:nvPr userDrawn="1"/>
        </p:nvCxnSpPr>
        <p:spPr>
          <a:xfrm>
            <a:off x="458218" y="345723"/>
            <a:ext cx="8227564" cy="0"/>
          </a:xfrm>
          <a:prstGeom prst="line">
            <a:avLst/>
          </a:prstGeom>
          <a:ln w="603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38518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vider White Tea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410177"/>
            <a:ext cx="5056191" cy="1674990"/>
          </a:xfrm>
        </p:spPr>
        <p:txBody>
          <a:bodyPr anchor="t"/>
          <a:lstStyle>
            <a:lvl1pPr algn="l">
              <a:defRPr sz="4800" b="0" cap="none">
                <a:solidFill>
                  <a:schemeClr val="accent6"/>
                </a:solidFill>
              </a:defRPr>
            </a:lvl1pPr>
          </a:lstStyle>
          <a:p>
            <a:r>
              <a:rPr lang="en-US" dirty="0" smtClean="0"/>
              <a:t>Click to edit master title style</a:t>
            </a:r>
            <a:endParaRPr lang="en-US" dirty="0"/>
          </a:p>
        </p:txBody>
      </p:sp>
      <p:cxnSp>
        <p:nvCxnSpPr>
          <p:cNvPr id="7" name="Straight Connector 6"/>
          <p:cNvCxnSpPr/>
          <p:nvPr/>
        </p:nvCxnSpPr>
        <p:spPr>
          <a:xfrm>
            <a:off x="458218" y="345723"/>
            <a:ext cx="8227564" cy="0"/>
          </a:xfrm>
          <a:prstGeom prst="line">
            <a:avLst/>
          </a:prstGeom>
          <a:ln w="60325" cmpd="sng">
            <a:solidFill>
              <a:schemeClr val="accent6"/>
            </a:solidFill>
          </a:ln>
          <a:effectLst/>
        </p:spPr>
        <p:style>
          <a:lnRef idx="2">
            <a:schemeClr val="accent1"/>
          </a:lnRef>
          <a:fillRef idx="0">
            <a:schemeClr val="accent1"/>
          </a:fillRef>
          <a:effectRef idx="1">
            <a:schemeClr val="accent1"/>
          </a:effectRef>
          <a:fontRef idx="minor">
            <a:schemeClr val="tx1"/>
          </a:fontRef>
        </p:style>
      </p:cxnSp>
      <p:cxnSp>
        <p:nvCxnSpPr>
          <p:cNvPr id="4" name="Straight Connector 3"/>
          <p:cNvCxnSpPr/>
          <p:nvPr userDrawn="1"/>
        </p:nvCxnSpPr>
        <p:spPr>
          <a:xfrm>
            <a:off x="458218" y="345723"/>
            <a:ext cx="8227564" cy="0"/>
          </a:xfrm>
          <a:prstGeom prst="line">
            <a:avLst/>
          </a:prstGeom>
          <a:ln w="60325" cmpd="sng">
            <a:solidFill>
              <a:schemeClr val="accent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89610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ivider White Gree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410177"/>
            <a:ext cx="5056191" cy="1674990"/>
          </a:xfrm>
        </p:spPr>
        <p:txBody>
          <a:bodyPr anchor="t"/>
          <a:lstStyle>
            <a:lvl1pPr algn="l">
              <a:defRPr sz="4800" b="0" cap="none">
                <a:solidFill>
                  <a:srgbClr val="1F684E"/>
                </a:solidFill>
              </a:defRPr>
            </a:lvl1pPr>
          </a:lstStyle>
          <a:p>
            <a:r>
              <a:rPr lang="en-US" dirty="0" smtClean="0"/>
              <a:t>Click to edit master title style</a:t>
            </a:r>
            <a:endParaRPr lang="en-US" dirty="0"/>
          </a:p>
        </p:txBody>
      </p:sp>
      <p:cxnSp>
        <p:nvCxnSpPr>
          <p:cNvPr id="7" name="Straight Connector 6"/>
          <p:cNvCxnSpPr/>
          <p:nvPr/>
        </p:nvCxnSpPr>
        <p:spPr>
          <a:xfrm>
            <a:off x="458218" y="345723"/>
            <a:ext cx="8227564" cy="0"/>
          </a:xfrm>
          <a:prstGeom prst="line">
            <a:avLst/>
          </a:prstGeom>
          <a:ln w="60325" cmpd="sng">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4" name="Straight Connector 3"/>
          <p:cNvCxnSpPr/>
          <p:nvPr userDrawn="1"/>
        </p:nvCxnSpPr>
        <p:spPr>
          <a:xfrm>
            <a:off x="458218" y="345723"/>
            <a:ext cx="8227564" cy="0"/>
          </a:xfrm>
          <a:prstGeom prst="line">
            <a:avLst/>
          </a:prstGeom>
          <a:ln w="60325" cmpd="sng">
            <a:solidFill>
              <a:schemeClr val="accent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499070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Divider White Blu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410177"/>
            <a:ext cx="5056191" cy="1674990"/>
          </a:xfrm>
        </p:spPr>
        <p:txBody>
          <a:bodyPr anchor="t"/>
          <a:lstStyle>
            <a:lvl1pPr algn="l">
              <a:defRPr sz="4800" b="0" cap="none">
                <a:solidFill>
                  <a:schemeClr val="accent5"/>
                </a:solidFill>
              </a:defRPr>
            </a:lvl1pPr>
          </a:lstStyle>
          <a:p>
            <a:r>
              <a:rPr lang="en-US" dirty="0" smtClean="0"/>
              <a:t>Click to edit master title style</a:t>
            </a:r>
            <a:endParaRPr lang="en-US" dirty="0"/>
          </a:p>
        </p:txBody>
      </p:sp>
      <p:cxnSp>
        <p:nvCxnSpPr>
          <p:cNvPr id="7" name="Straight Connector 6"/>
          <p:cNvCxnSpPr/>
          <p:nvPr/>
        </p:nvCxnSpPr>
        <p:spPr>
          <a:xfrm>
            <a:off x="458218" y="345723"/>
            <a:ext cx="8227564" cy="0"/>
          </a:xfrm>
          <a:prstGeom prst="line">
            <a:avLst/>
          </a:prstGeom>
          <a:ln w="60325" cmpd="sng">
            <a:solidFill>
              <a:schemeClr val="accent5"/>
            </a:solidFill>
          </a:ln>
          <a:effectLst/>
        </p:spPr>
        <p:style>
          <a:lnRef idx="2">
            <a:schemeClr val="accent1"/>
          </a:lnRef>
          <a:fillRef idx="0">
            <a:schemeClr val="accent1"/>
          </a:fillRef>
          <a:effectRef idx="1">
            <a:schemeClr val="accent1"/>
          </a:effectRef>
          <a:fontRef idx="minor">
            <a:schemeClr val="tx1"/>
          </a:fontRef>
        </p:style>
      </p:cxnSp>
      <p:cxnSp>
        <p:nvCxnSpPr>
          <p:cNvPr id="4" name="Straight Connector 3"/>
          <p:cNvCxnSpPr/>
          <p:nvPr userDrawn="1"/>
        </p:nvCxnSpPr>
        <p:spPr>
          <a:xfrm>
            <a:off x="458218" y="345723"/>
            <a:ext cx="8227564" cy="0"/>
          </a:xfrm>
          <a:prstGeom prst="line">
            <a:avLst/>
          </a:prstGeom>
          <a:ln w="60325" cmpd="sng">
            <a:solidFill>
              <a:schemeClr val="accent4"/>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00100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Divider White Cya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410177"/>
            <a:ext cx="5056191" cy="1674990"/>
          </a:xfrm>
        </p:spPr>
        <p:txBody>
          <a:bodyPr anchor="t"/>
          <a:lstStyle>
            <a:lvl1pPr algn="l">
              <a:defRPr sz="4800" b="0" cap="none">
                <a:solidFill>
                  <a:srgbClr val="1F68B2"/>
                </a:solidFill>
              </a:defRPr>
            </a:lvl1pPr>
          </a:lstStyle>
          <a:p>
            <a:r>
              <a:rPr lang="en-US" dirty="0" smtClean="0"/>
              <a:t>Click to edit master title style</a:t>
            </a:r>
            <a:endParaRPr lang="en-US" dirty="0"/>
          </a:p>
        </p:txBody>
      </p:sp>
      <p:cxnSp>
        <p:nvCxnSpPr>
          <p:cNvPr id="7" name="Straight Connector 6"/>
          <p:cNvCxnSpPr/>
          <p:nvPr/>
        </p:nvCxnSpPr>
        <p:spPr>
          <a:xfrm>
            <a:off x="458218" y="345723"/>
            <a:ext cx="8227564" cy="0"/>
          </a:xfrm>
          <a:prstGeom prst="line">
            <a:avLst/>
          </a:prstGeom>
          <a:ln w="60325" cmpd="sng">
            <a:solidFill>
              <a:srgbClr val="1F68B2"/>
            </a:solidFill>
          </a:ln>
          <a:effectLst/>
        </p:spPr>
        <p:style>
          <a:lnRef idx="2">
            <a:schemeClr val="accent1"/>
          </a:lnRef>
          <a:fillRef idx="0">
            <a:schemeClr val="accent1"/>
          </a:fillRef>
          <a:effectRef idx="1">
            <a:schemeClr val="accent1"/>
          </a:effectRef>
          <a:fontRef idx="minor">
            <a:schemeClr val="tx1"/>
          </a:fontRef>
        </p:style>
      </p:cxnSp>
      <p:cxnSp>
        <p:nvCxnSpPr>
          <p:cNvPr id="4" name="Straight Connector 3"/>
          <p:cNvCxnSpPr/>
          <p:nvPr userDrawn="1"/>
        </p:nvCxnSpPr>
        <p:spPr>
          <a:xfrm>
            <a:off x="458218" y="345723"/>
            <a:ext cx="8227564" cy="0"/>
          </a:xfrm>
          <a:prstGeom prst="line">
            <a:avLst/>
          </a:prstGeom>
          <a:ln w="603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232853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Divider Cyan">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410177"/>
            <a:ext cx="5056191" cy="1674990"/>
          </a:xfrm>
        </p:spPr>
        <p:txBody>
          <a:bodyPr anchor="t"/>
          <a:lstStyle>
            <a:lvl1pPr algn="l">
              <a:defRPr sz="4800" b="0" cap="none">
                <a:solidFill>
                  <a:schemeClr val="bg1"/>
                </a:solidFill>
              </a:defRPr>
            </a:lvl1pPr>
          </a:lstStyle>
          <a:p>
            <a:r>
              <a:rPr lang="en-US" dirty="0" smtClean="0"/>
              <a:t>Click to edit master title style</a:t>
            </a:r>
            <a:endParaRPr lang="en-US" dirty="0"/>
          </a:p>
        </p:txBody>
      </p:sp>
      <p:cxnSp>
        <p:nvCxnSpPr>
          <p:cNvPr id="7" name="Straight Connector 6"/>
          <p:cNvCxnSpPr/>
          <p:nvPr/>
        </p:nvCxnSpPr>
        <p:spPr>
          <a:xfrm>
            <a:off x="458218" y="345723"/>
            <a:ext cx="8227564" cy="0"/>
          </a:xfrm>
          <a:prstGeom prst="line">
            <a:avLst/>
          </a:prstGeom>
          <a:ln w="603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164336" y="6456033"/>
            <a:ext cx="522464" cy="246221"/>
          </a:xfrm>
          <a:prstGeom prst="rect">
            <a:avLst/>
          </a:prstGeom>
          <a:noFill/>
        </p:spPr>
        <p:txBody>
          <a:bodyPr wrap="square" lIns="0" rIns="0" rtlCol="0">
            <a:noAutofit/>
          </a:bodyPr>
          <a:lstStyle/>
          <a:p>
            <a:pPr algn="r"/>
            <a:fld id="{8EF3A903-7F25-E440-BA55-7115C69D9986}" type="slidenum">
              <a:rPr lang="en-US" sz="1000" smtClean="0">
                <a:solidFill>
                  <a:schemeClr val="bg1"/>
                </a:solidFill>
              </a:rPr>
              <a:t>‹#›</a:t>
            </a:fld>
            <a:endParaRPr lang="en-US" sz="1000" dirty="0" smtClean="0">
              <a:solidFill>
                <a:schemeClr val="bg1"/>
              </a:solidFill>
            </a:endParaRPr>
          </a:p>
        </p:txBody>
      </p:sp>
      <p:pic>
        <p:nvPicPr>
          <p:cNvPr id="9" name="Picture 8" descr="APGGR_CSP2558_GRCLogo_Update_white.png"/>
          <p:cNvPicPr>
            <a:picLocks noChangeAspect="1"/>
          </p:cNvPicPr>
          <p:nvPr/>
        </p:nvPicPr>
        <p:blipFill rotWithShape="1">
          <a:blip r:embed="rId2">
            <a:extLst>
              <a:ext uri="{28A0092B-C50C-407E-A947-70E740481C1C}">
                <a14:useLocalDpi xmlns:a14="http://schemas.microsoft.com/office/drawing/2010/main" val="0"/>
              </a:ext>
            </a:extLst>
          </a:blip>
          <a:srcRect r="67873"/>
          <a:stretch/>
        </p:blipFill>
        <p:spPr>
          <a:xfrm>
            <a:off x="4301290" y="6183785"/>
            <a:ext cx="545878" cy="568760"/>
          </a:xfrm>
          <a:prstGeom prst="rect">
            <a:avLst/>
          </a:prstGeom>
        </p:spPr>
      </p:pic>
      <p:sp>
        <p:nvSpPr>
          <p:cNvPr id="10" name="TextBox 9"/>
          <p:cNvSpPr txBox="1"/>
          <p:nvPr/>
        </p:nvSpPr>
        <p:spPr>
          <a:xfrm>
            <a:off x="4889500" y="6497025"/>
            <a:ext cx="3591562" cy="184666"/>
          </a:xfrm>
          <a:prstGeom prst="rect">
            <a:avLst/>
          </a:prstGeom>
          <a:noFill/>
        </p:spPr>
        <p:txBody>
          <a:bodyPr wrap="square" rtlCol="0">
            <a:spAutoFit/>
          </a:bodyPr>
          <a:lstStyle/>
          <a:p>
            <a:pPr algn="r"/>
            <a:r>
              <a:rPr lang="en-US" sz="600" dirty="0" smtClean="0">
                <a:solidFill>
                  <a:schemeClr val="bg1"/>
                </a:solidFill>
              </a:rPr>
              <a:t>Confidential and proprietary information © 2014 General Revenue Corporation. All rights reserved.</a:t>
            </a:r>
          </a:p>
        </p:txBody>
      </p:sp>
      <p:cxnSp>
        <p:nvCxnSpPr>
          <p:cNvPr id="11" name="Straight Connector 10"/>
          <p:cNvCxnSpPr/>
          <p:nvPr userDrawn="1"/>
        </p:nvCxnSpPr>
        <p:spPr>
          <a:xfrm>
            <a:off x="458218" y="345723"/>
            <a:ext cx="8227564" cy="0"/>
          </a:xfrm>
          <a:prstGeom prst="line">
            <a:avLst/>
          </a:prstGeom>
          <a:ln w="6032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8056" y="6448999"/>
            <a:ext cx="1048225" cy="192023"/>
          </a:xfrm>
          <a:prstGeom prst="rect">
            <a:avLst/>
          </a:prstGeom>
        </p:spPr>
      </p:pic>
      <p:sp>
        <p:nvSpPr>
          <p:cNvPr id="13" name="TextBox 12"/>
          <p:cNvSpPr txBox="1"/>
          <p:nvPr userDrawn="1"/>
        </p:nvSpPr>
        <p:spPr>
          <a:xfrm>
            <a:off x="5029733" y="6497025"/>
            <a:ext cx="3260829" cy="184666"/>
          </a:xfrm>
          <a:prstGeom prst="rect">
            <a:avLst/>
          </a:prstGeom>
          <a:noFill/>
        </p:spPr>
        <p:txBody>
          <a:bodyPr wrap="none" rtlCol="0">
            <a:spAutoFit/>
          </a:bodyPr>
          <a:lstStyle/>
          <a:p>
            <a:pPr algn="r"/>
            <a:r>
              <a:rPr lang="en-US" sz="600" dirty="0" smtClean="0">
                <a:solidFill>
                  <a:schemeClr val="bg1"/>
                </a:solidFill>
              </a:rPr>
              <a:t>Confidential and proprietary information  © 2014 Navient Solutions,</a:t>
            </a:r>
            <a:r>
              <a:rPr lang="en-US" sz="600" baseline="0" dirty="0" smtClean="0">
                <a:solidFill>
                  <a:schemeClr val="bg1"/>
                </a:solidFill>
              </a:rPr>
              <a:t> Inc</a:t>
            </a:r>
            <a:r>
              <a:rPr lang="en-US" sz="600" dirty="0" smtClean="0">
                <a:solidFill>
                  <a:schemeClr val="bg1"/>
                </a:solidFill>
              </a:rPr>
              <a:t>. All rights reserved.</a:t>
            </a:r>
          </a:p>
        </p:txBody>
      </p:sp>
      <p:sp>
        <p:nvSpPr>
          <p:cNvPr id="14" name="TextBox 13"/>
          <p:cNvSpPr txBox="1"/>
          <p:nvPr userDrawn="1"/>
        </p:nvSpPr>
        <p:spPr>
          <a:xfrm>
            <a:off x="8164336" y="6456033"/>
            <a:ext cx="522464" cy="246221"/>
          </a:xfrm>
          <a:prstGeom prst="rect">
            <a:avLst/>
          </a:prstGeom>
          <a:noFill/>
        </p:spPr>
        <p:txBody>
          <a:bodyPr wrap="square" lIns="0" rIns="0" rtlCol="0">
            <a:noAutofit/>
          </a:bodyPr>
          <a:lstStyle/>
          <a:p>
            <a:pPr algn="r"/>
            <a:fld id="{8EF3A903-7F25-E440-BA55-7115C69D9986}" type="slidenum">
              <a:rPr lang="en-US" sz="1000" smtClean="0">
                <a:solidFill>
                  <a:schemeClr val="bg1"/>
                </a:solidFill>
              </a:rPr>
              <a:t>‹#›</a:t>
            </a:fld>
            <a:endParaRPr lang="en-US" sz="1000" dirty="0" smtClean="0">
              <a:solidFill>
                <a:schemeClr val="bg1"/>
              </a:solidFill>
            </a:endParaRPr>
          </a:p>
        </p:txBody>
      </p:sp>
    </p:spTree>
    <p:extLst>
      <p:ext uri="{BB962C8B-B14F-4D97-AF65-F5344CB8AC3E}">
        <p14:creationId xmlns:p14="http://schemas.microsoft.com/office/powerpoint/2010/main" val="10166938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Divider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410177"/>
            <a:ext cx="5056191" cy="1674990"/>
          </a:xfrm>
        </p:spPr>
        <p:txBody>
          <a:bodyPr anchor="t"/>
          <a:lstStyle>
            <a:lvl1pPr algn="l">
              <a:defRPr sz="4800" b="0" cap="none">
                <a:solidFill>
                  <a:schemeClr val="bg1"/>
                </a:solidFill>
              </a:defRPr>
            </a:lvl1pPr>
          </a:lstStyle>
          <a:p>
            <a:r>
              <a:rPr lang="en-US" dirty="0" smtClean="0"/>
              <a:t>Click to edit master title style</a:t>
            </a:r>
            <a:endParaRPr lang="en-US" dirty="0"/>
          </a:p>
        </p:txBody>
      </p:sp>
      <p:cxnSp>
        <p:nvCxnSpPr>
          <p:cNvPr id="7" name="Straight Connector 6"/>
          <p:cNvCxnSpPr/>
          <p:nvPr/>
        </p:nvCxnSpPr>
        <p:spPr>
          <a:xfrm>
            <a:off x="458218" y="345723"/>
            <a:ext cx="8227564" cy="0"/>
          </a:xfrm>
          <a:prstGeom prst="line">
            <a:avLst/>
          </a:prstGeom>
          <a:ln w="603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164336" y="6456033"/>
            <a:ext cx="522464" cy="246221"/>
          </a:xfrm>
          <a:prstGeom prst="rect">
            <a:avLst/>
          </a:prstGeom>
          <a:noFill/>
        </p:spPr>
        <p:txBody>
          <a:bodyPr wrap="square" lIns="0" rIns="0" rtlCol="0">
            <a:noAutofit/>
          </a:bodyPr>
          <a:lstStyle/>
          <a:p>
            <a:pPr algn="r"/>
            <a:fld id="{8EF3A903-7F25-E440-BA55-7115C69D9986}" type="slidenum">
              <a:rPr lang="en-US" sz="1000" smtClean="0">
                <a:solidFill>
                  <a:schemeClr val="bg1"/>
                </a:solidFill>
              </a:rPr>
              <a:t>‹#›</a:t>
            </a:fld>
            <a:endParaRPr lang="en-US" sz="1000" dirty="0" smtClean="0">
              <a:solidFill>
                <a:schemeClr val="bg1"/>
              </a:solidFill>
            </a:endParaRPr>
          </a:p>
        </p:txBody>
      </p:sp>
      <p:pic>
        <p:nvPicPr>
          <p:cNvPr id="9" name="Picture 8" descr="APGGR_CSP2558_GRCLogo_Update_white.png"/>
          <p:cNvPicPr>
            <a:picLocks noChangeAspect="1"/>
          </p:cNvPicPr>
          <p:nvPr/>
        </p:nvPicPr>
        <p:blipFill rotWithShape="1">
          <a:blip r:embed="rId2">
            <a:extLst>
              <a:ext uri="{28A0092B-C50C-407E-A947-70E740481C1C}">
                <a14:useLocalDpi xmlns:a14="http://schemas.microsoft.com/office/drawing/2010/main" val="0"/>
              </a:ext>
            </a:extLst>
          </a:blip>
          <a:srcRect r="67873"/>
          <a:stretch/>
        </p:blipFill>
        <p:spPr>
          <a:xfrm>
            <a:off x="4301290" y="6183785"/>
            <a:ext cx="545878" cy="568760"/>
          </a:xfrm>
          <a:prstGeom prst="rect">
            <a:avLst/>
          </a:prstGeom>
        </p:spPr>
      </p:pic>
      <p:sp>
        <p:nvSpPr>
          <p:cNvPr id="10" name="TextBox 9"/>
          <p:cNvSpPr txBox="1"/>
          <p:nvPr/>
        </p:nvSpPr>
        <p:spPr>
          <a:xfrm>
            <a:off x="4889500" y="6497025"/>
            <a:ext cx="3591562" cy="184666"/>
          </a:xfrm>
          <a:prstGeom prst="rect">
            <a:avLst/>
          </a:prstGeom>
          <a:noFill/>
        </p:spPr>
        <p:txBody>
          <a:bodyPr wrap="square" rtlCol="0">
            <a:spAutoFit/>
          </a:bodyPr>
          <a:lstStyle/>
          <a:p>
            <a:pPr algn="r"/>
            <a:r>
              <a:rPr lang="en-US" sz="600" dirty="0" smtClean="0">
                <a:solidFill>
                  <a:schemeClr val="bg1"/>
                </a:solidFill>
              </a:rPr>
              <a:t>Confidential and proprietary information © 2014 General Revenue Corporation. All rights reserved.</a:t>
            </a:r>
          </a:p>
        </p:txBody>
      </p:sp>
      <p:cxnSp>
        <p:nvCxnSpPr>
          <p:cNvPr id="11" name="Straight Connector 10"/>
          <p:cNvCxnSpPr/>
          <p:nvPr userDrawn="1"/>
        </p:nvCxnSpPr>
        <p:spPr>
          <a:xfrm>
            <a:off x="458218" y="345723"/>
            <a:ext cx="8227564" cy="0"/>
          </a:xfrm>
          <a:prstGeom prst="line">
            <a:avLst/>
          </a:prstGeom>
          <a:ln w="6032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8056" y="6448999"/>
            <a:ext cx="1048225" cy="192023"/>
          </a:xfrm>
          <a:prstGeom prst="rect">
            <a:avLst/>
          </a:prstGeom>
        </p:spPr>
      </p:pic>
      <p:sp>
        <p:nvSpPr>
          <p:cNvPr id="13" name="TextBox 12"/>
          <p:cNvSpPr txBox="1"/>
          <p:nvPr userDrawn="1"/>
        </p:nvSpPr>
        <p:spPr>
          <a:xfrm>
            <a:off x="5029733" y="6497025"/>
            <a:ext cx="3260829" cy="184666"/>
          </a:xfrm>
          <a:prstGeom prst="rect">
            <a:avLst/>
          </a:prstGeom>
          <a:noFill/>
        </p:spPr>
        <p:txBody>
          <a:bodyPr wrap="none" rtlCol="0">
            <a:spAutoFit/>
          </a:bodyPr>
          <a:lstStyle/>
          <a:p>
            <a:pPr algn="r"/>
            <a:r>
              <a:rPr lang="en-US" sz="600" dirty="0" smtClean="0">
                <a:solidFill>
                  <a:schemeClr val="bg1"/>
                </a:solidFill>
              </a:rPr>
              <a:t>Confidential and proprietary information  © 2014 Navient Solutions, Inc. All rights reserved.</a:t>
            </a:r>
          </a:p>
        </p:txBody>
      </p:sp>
      <p:sp>
        <p:nvSpPr>
          <p:cNvPr id="14" name="TextBox 13"/>
          <p:cNvSpPr txBox="1"/>
          <p:nvPr userDrawn="1"/>
        </p:nvSpPr>
        <p:spPr>
          <a:xfrm>
            <a:off x="8164336" y="6456033"/>
            <a:ext cx="522464" cy="246221"/>
          </a:xfrm>
          <a:prstGeom prst="rect">
            <a:avLst/>
          </a:prstGeom>
          <a:noFill/>
        </p:spPr>
        <p:txBody>
          <a:bodyPr wrap="square" lIns="0" rIns="0" rtlCol="0">
            <a:noAutofit/>
          </a:bodyPr>
          <a:lstStyle/>
          <a:p>
            <a:pPr algn="r"/>
            <a:fld id="{8EF3A903-7F25-E440-BA55-7115C69D9986}" type="slidenum">
              <a:rPr lang="en-US" sz="1000" smtClean="0">
                <a:solidFill>
                  <a:schemeClr val="bg1"/>
                </a:solidFill>
              </a:rPr>
              <a:t>‹#›</a:t>
            </a:fld>
            <a:endParaRPr lang="en-US" sz="1000" dirty="0" smtClean="0">
              <a:solidFill>
                <a:schemeClr val="bg1"/>
              </a:solidFill>
            </a:endParaRPr>
          </a:p>
        </p:txBody>
      </p:sp>
    </p:spTree>
    <p:extLst>
      <p:ext uri="{BB962C8B-B14F-4D97-AF65-F5344CB8AC3E}">
        <p14:creationId xmlns:p14="http://schemas.microsoft.com/office/powerpoint/2010/main" val="16856963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Divider Purpl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8218" y="2410177"/>
            <a:ext cx="5056191" cy="1674990"/>
          </a:xfrm>
        </p:spPr>
        <p:txBody>
          <a:bodyPr anchor="t"/>
          <a:lstStyle>
            <a:lvl1pPr algn="l">
              <a:defRPr sz="4800" b="0" cap="none">
                <a:solidFill>
                  <a:schemeClr val="bg1"/>
                </a:solidFill>
              </a:defRPr>
            </a:lvl1pPr>
          </a:lstStyle>
          <a:p>
            <a:r>
              <a:rPr lang="en-US" dirty="0" smtClean="0"/>
              <a:t>Click to edit master title style</a:t>
            </a:r>
            <a:endParaRPr lang="en-US" dirty="0"/>
          </a:p>
        </p:txBody>
      </p:sp>
      <p:cxnSp>
        <p:nvCxnSpPr>
          <p:cNvPr id="7" name="Straight Connector 6"/>
          <p:cNvCxnSpPr/>
          <p:nvPr/>
        </p:nvCxnSpPr>
        <p:spPr>
          <a:xfrm>
            <a:off x="458218" y="345723"/>
            <a:ext cx="8227564" cy="0"/>
          </a:xfrm>
          <a:prstGeom prst="line">
            <a:avLst/>
          </a:prstGeom>
          <a:ln w="6032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164336" y="6456033"/>
            <a:ext cx="522464" cy="246221"/>
          </a:xfrm>
          <a:prstGeom prst="rect">
            <a:avLst/>
          </a:prstGeom>
          <a:noFill/>
        </p:spPr>
        <p:txBody>
          <a:bodyPr wrap="square" lIns="0" rIns="0" rtlCol="0">
            <a:noAutofit/>
          </a:bodyPr>
          <a:lstStyle/>
          <a:p>
            <a:pPr algn="r"/>
            <a:fld id="{8EF3A903-7F25-E440-BA55-7115C69D9986}" type="slidenum">
              <a:rPr lang="en-US" sz="1000" smtClean="0">
                <a:solidFill>
                  <a:schemeClr val="bg1"/>
                </a:solidFill>
              </a:rPr>
              <a:t>‹#›</a:t>
            </a:fld>
            <a:endParaRPr lang="en-US" sz="1000" dirty="0" smtClean="0">
              <a:solidFill>
                <a:schemeClr val="bg1"/>
              </a:solidFill>
            </a:endParaRPr>
          </a:p>
        </p:txBody>
      </p:sp>
      <p:pic>
        <p:nvPicPr>
          <p:cNvPr id="9" name="Picture 8" descr="APGGR_CSP2558_GRCLogo_Update_white.png"/>
          <p:cNvPicPr>
            <a:picLocks noChangeAspect="1"/>
          </p:cNvPicPr>
          <p:nvPr/>
        </p:nvPicPr>
        <p:blipFill rotWithShape="1">
          <a:blip r:embed="rId2">
            <a:extLst>
              <a:ext uri="{28A0092B-C50C-407E-A947-70E740481C1C}">
                <a14:useLocalDpi xmlns:a14="http://schemas.microsoft.com/office/drawing/2010/main" val="0"/>
              </a:ext>
            </a:extLst>
          </a:blip>
          <a:srcRect r="67873"/>
          <a:stretch/>
        </p:blipFill>
        <p:spPr>
          <a:xfrm>
            <a:off x="4301290" y="6183785"/>
            <a:ext cx="545878" cy="568760"/>
          </a:xfrm>
          <a:prstGeom prst="rect">
            <a:avLst/>
          </a:prstGeom>
        </p:spPr>
      </p:pic>
      <p:sp>
        <p:nvSpPr>
          <p:cNvPr id="10" name="TextBox 9"/>
          <p:cNvSpPr txBox="1"/>
          <p:nvPr/>
        </p:nvSpPr>
        <p:spPr>
          <a:xfrm>
            <a:off x="4889500" y="6497025"/>
            <a:ext cx="3591562" cy="184666"/>
          </a:xfrm>
          <a:prstGeom prst="rect">
            <a:avLst/>
          </a:prstGeom>
          <a:noFill/>
        </p:spPr>
        <p:txBody>
          <a:bodyPr wrap="square" rtlCol="0">
            <a:spAutoFit/>
          </a:bodyPr>
          <a:lstStyle/>
          <a:p>
            <a:pPr algn="r"/>
            <a:r>
              <a:rPr lang="en-US" sz="600" dirty="0" smtClean="0">
                <a:solidFill>
                  <a:schemeClr val="bg1"/>
                </a:solidFill>
              </a:rPr>
              <a:t>Confidential and proprietary information © 2014 General Revenue Corporation. All rights reserved.</a:t>
            </a:r>
          </a:p>
        </p:txBody>
      </p:sp>
      <p:cxnSp>
        <p:nvCxnSpPr>
          <p:cNvPr id="11" name="Straight Connector 10"/>
          <p:cNvCxnSpPr/>
          <p:nvPr userDrawn="1"/>
        </p:nvCxnSpPr>
        <p:spPr>
          <a:xfrm>
            <a:off x="458218" y="345723"/>
            <a:ext cx="8227564" cy="0"/>
          </a:xfrm>
          <a:prstGeom prst="line">
            <a:avLst/>
          </a:prstGeom>
          <a:ln w="6032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8056" y="6448999"/>
            <a:ext cx="1048225" cy="192023"/>
          </a:xfrm>
          <a:prstGeom prst="rect">
            <a:avLst/>
          </a:prstGeom>
        </p:spPr>
      </p:pic>
      <p:sp>
        <p:nvSpPr>
          <p:cNvPr id="13" name="TextBox 12"/>
          <p:cNvSpPr txBox="1"/>
          <p:nvPr userDrawn="1"/>
        </p:nvSpPr>
        <p:spPr>
          <a:xfrm>
            <a:off x="5029733" y="6497025"/>
            <a:ext cx="3260829" cy="184666"/>
          </a:xfrm>
          <a:prstGeom prst="rect">
            <a:avLst/>
          </a:prstGeom>
          <a:noFill/>
        </p:spPr>
        <p:txBody>
          <a:bodyPr wrap="none" rtlCol="0">
            <a:spAutoFit/>
          </a:bodyPr>
          <a:lstStyle/>
          <a:p>
            <a:pPr algn="r"/>
            <a:r>
              <a:rPr lang="en-US" sz="600" dirty="0" smtClean="0">
                <a:solidFill>
                  <a:schemeClr val="bg1"/>
                </a:solidFill>
              </a:rPr>
              <a:t>Confidential and proprietary information  © 2014 Navient Solutions, Inc. All rights reserved.</a:t>
            </a:r>
          </a:p>
        </p:txBody>
      </p:sp>
      <p:sp>
        <p:nvSpPr>
          <p:cNvPr id="14" name="TextBox 13"/>
          <p:cNvSpPr txBox="1"/>
          <p:nvPr userDrawn="1"/>
        </p:nvSpPr>
        <p:spPr>
          <a:xfrm>
            <a:off x="8164336" y="6456033"/>
            <a:ext cx="522464" cy="246221"/>
          </a:xfrm>
          <a:prstGeom prst="rect">
            <a:avLst/>
          </a:prstGeom>
          <a:noFill/>
        </p:spPr>
        <p:txBody>
          <a:bodyPr wrap="square" lIns="0" rIns="0" rtlCol="0">
            <a:noAutofit/>
          </a:bodyPr>
          <a:lstStyle/>
          <a:p>
            <a:pPr algn="r"/>
            <a:fld id="{8EF3A903-7F25-E440-BA55-7115C69D9986}" type="slidenum">
              <a:rPr lang="en-US" sz="1000" smtClean="0">
                <a:solidFill>
                  <a:schemeClr val="bg1"/>
                </a:solidFill>
              </a:rPr>
              <a:t>‹#›</a:t>
            </a:fld>
            <a:endParaRPr lang="en-US" sz="1000" dirty="0" smtClean="0">
              <a:solidFill>
                <a:schemeClr val="bg1"/>
              </a:solidFill>
            </a:endParaRPr>
          </a:p>
        </p:txBody>
      </p:sp>
    </p:spTree>
    <p:extLst>
      <p:ext uri="{BB962C8B-B14F-4D97-AF65-F5344CB8AC3E}">
        <p14:creationId xmlns:p14="http://schemas.microsoft.com/office/powerpoint/2010/main" val="18329132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blank" preserve="1">
  <p:cSld name="Back Page">
    <p:spTree>
      <p:nvGrpSpPr>
        <p:cNvPr id="1" name=""/>
        <p:cNvGrpSpPr/>
        <p:nvPr/>
      </p:nvGrpSpPr>
      <p:grpSpPr>
        <a:xfrm>
          <a:off x="0" y="0"/>
          <a:ext cx="0" cy="0"/>
          <a:chOff x="0" y="0"/>
          <a:chExt cx="0" cy="0"/>
        </a:xfrm>
      </p:grpSpPr>
      <p:pic>
        <p:nvPicPr>
          <p:cNvPr id="5" name="Picture 4" descr="APGGR_CSP2558_GRCLogo_Update_FNL 2.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9400" y="2413000"/>
            <a:ext cx="6032500" cy="2019300"/>
          </a:xfrm>
          <a:prstGeom prst="rect">
            <a:avLst/>
          </a:prstGeom>
        </p:spPr>
      </p:pic>
      <p:sp>
        <p:nvSpPr>
          <p:cNvPr id="6" name="TextBox 5"/>
          <p:cNvSpPr txBox="1"/>
          <p:nvPr userDrawn="1"/>
        </p:nvSpPr>
        <p:spPr>
          <a:xfrm>
            <a:off x="4889500" y="6497025"/>
            <a:ext cx="3591562" cy="184666"/>
          </a:xfrm>
          <a:prstGeom prst="rect">
            <a:avLst/>
          </a:prstGeom>
          <a:noFill/>
        </p:spPr>
        <p:txBody>
          <a:bodyPr wrap="square" rtlCol="0">
            <a:spAutoFit/>
          </a:bodyPr>
          <a:lstStyle/>
          <a:p>
            <a:pPr algn="r"/>
            <a:r>
              <a:rPr lang="en-US" sz="600" dirty="0" smtClean="0"/>
              <a:t>Confidential and proprietary information © 2014 General Revenue Corporation. All rights reserved.</a:t>
            </a:r>
            <a:endParaRPr lang="en-US" sz="600" dirty="0" smtClean="0">
              <a:solidFill>
                <a:srgbClr val="838383"/>
              </a:solidFill>
            </a:endParaRPr>
          </a:p>
        </p:txBody>
      </p:sp>
      <p:sp>
        <p:nvSpPr>
          <p:cNvPr id="7" name="TextBox 6"/>
          <p:cNvSpPr txBox="1"/>
          <p:nvPr userDrawn="1"/>
        </p:nvSpPr>
        <p:spPr>
          <a:xfrm>
            <a:off x="8164336" y="6456033"/>
            <a:ext cx="522464" cy="246221"/>
          </a:xfrm>
          <a:prstGeom prst="rect">
            <a:avLst/>
          </a:prstGeom>
          <a:noFill/>
        </p:spPr>
        <p:txBody>
          <a:bodyPr wrap="square" lIns="0" rIns="0" rtlCol="0">
            <a:noAutofit/>
          </a:bodyPr>
          <a:lstStyle/>
          <a:p>
            <a:pPr algn="r"/>
            <a:fld id="{8EF3A903-7F25-E440-BA55-7115C69D9986}" type="slidenum">
              <a:rPr lang="en-US" sz="1000" smtClean="0">
                <a:solidFill>
                  <a:srgbClr val="838383"/>
                </a:solidFill>
              </a:rPr>
              <a:t>‹#›</a:t>
            </a:fld>
            <a:endParaRPr lang="en-US" sz="1000" dirty="0" smtClean="0">
              <a:solidFill>
                <a:srgbClr val="838383"/>
              </a:solidFill>
            </a:endParaRPr>
          </a:p>
        </p:txBody>
      </p:sp>
      <p:pic>
        <p:nvPicPr>
          <p:cNvPr id="8" name="Picture 7" descr="APGGR_CSP2558_GRCLogo_Update_FNL 2.gif"/>
          <p:cNvPicPr>
            <a:picLocks noChangeAspect="1"/>
          </p:cNvPicPr>
          <p:nvPr userDrawn="1"/>
        </p:nvPicPr>
        <p:blipFill rotWithShape="1">
          <a:blip r:embed="rId2">
            <a:extLst>
              <a:ext uri="{28A0092B-C50C-407E-A947-70E740481C1C}">
                <a14:useLocalDpi xmlns:a14="http://schemas.microsoft.com/office/drawing/2010/main" val="0"/>
              </a:ext>
            </a:extLst>
          </a:blip>
          <a:srcRect r="68120"/>
          <a:stretch/>
        </p:blipFill>
        <p:spPr>
          <a:xfrm>
            <a:off x="4301289" y="6186821"/>
            <a:ext cx="537411" cy="564285"/>
          </a:xfrm>
          <a:prstGeom prst="rect">
            <a:avLst/>
          </a:prstGeom>
        </p:spPr>
      </p:pic>
    </p:spTree>
    <p:extLst>
      <p:ext uri="{BB962C8B-B14F-4D97-AF65-F5344CB8AC3E}">
        <p14:creationId xmlns:p14="http://schemas.microsoft.com/office/powerpoint/2010/main" val="310308033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wo Content Teal">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60997"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800600"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9" name="Straight Connector 8"/>
          <p:cNvCxnSpPr/>
          <p:nvPr userDrawn="1"/>
        </p:nvCxnSpPr>
        <p:spPr>
          <a:xfrm>
            <a:off x="458218" y="345723"/>
            <a:ext cx="8227564" cy="0"/>
          </a:xfrm>
          <a:prstGeom prst="line">
            <a:avLst/>
          </a:prstGeom>
          <a:ln w="60325" cmpd="sng">
            <a:solidFill>
              <a:schemeClr val="accent6"/>
            </a:solidFill>
          </a:ln>
          <a:effectLst/>
        </p:spPr>
        <p:style>
          <a:lnRef idx="2">
            <a:schemeClr val="accent1"/>
          </a:lnRef>
          <a:fillRef idx="0">
            <a:schemeClr val="accent1"/>
          </a:fillRef>
          <a:effectRef idx="1">
            <a:schemeClr val="accent1"/>
          </a:effectRef>
          <a:fontRef idx="minor">
            <a:schemeClr val="tx1"/>
          </a:fontRef>
        </p:style>
      </p:cxnSp>
      <p:sp>
        <p:nvSpPr>
          <p:cNvPr id="5" name="Title 4"/>
          <p:cNvSpPr>
            <a:spLocks noGrp="1"/>
          </p:cNvSpPr>
          <p:nvPr>
            <p:ph type="title"/>
          </p:nvPr>
        </p:nvSpPr>
        <p:spPr/>
        <p:txBody>
          <a:bodyPr/>
          <a:lstStyle>
            <a:lvl1pPr>
              <a:defRPr>
                <a:solidFill>
                  <a:schemeClr val="accent6"/>
                </a:solidFill>
              </a:defRPr>
            </a:lvl1pPr>
          </a:lstStyle>
          <a:p>
            <a:r>
              <a:rPr lang="en-US" smtClean="0"/>
              <a:t>Click to edit Master title style</a:t>
            </a:r>
            <a:endParaRPr lang="en-US"/>
          </a:p>
        </p:txBody>
      </p:sp>
    </p:spTree>
    <p:extLst>
      <p:ext uri="{BB962C8B-B14F-4D97-AF65-F5344CB8AC3E}">
        <p14:creationId xmlns:p14="http://schemas.microsoft.com/office/powerpoint/2010/main" val="6314880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wo Content Green">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60997"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800600"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9" name="Straight Connector 8"/>
          <p:cNvCxnSpPr/>
          <p:nvPr userDrawn="1"/>
        </p:nvCxnSpPr>
        <p:spPr>
          <a:xfrm>
            <a:off x="458218" y="345723"/>
            <a:ext cx="8227564" cy="0"/>
          </a:xfrm>
          <a:prstGeom prst="line">
            <a:avLst/>
          </a:prstGeom>
          <a:ln w="60325" cmpd="sng">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5" name="Title 4"/>
          <p:cNvSpPr>
            <a:spLocks noGrp="1"/>
          </p:cNvSpPr>
          <p:nvPr>
            <p:ph type="title"/>
          </p:nvPr>
        </p:nvSpPr>
        <p:spPr/>
        <p:txBody>
          <a:bodyPr/>
          <a:lstStyle>
            <a:lvl1pPr>
              <a:defRPr>
                <a:solidFill>
                  <a:srgbClr val="319B42"/>
                </a:solidFill>
              </a:defRPr>
            </a:lvl1pPr>
          </a:lstStyle>
          <a:p>
            <a:r>
              <a:rPr lang="en-US" smtClean="0"/>
              <a:t>Click to edit Master title style</a:t>
            </a:r>
            <a:endParaRPr lang="en-US"/>
          </a:p>
        </p:txBody>
      </p:sp>
    </p:spTree>
    <p:extLst>
      <p:ext uri="{BB962C8B-B14F-4D97-AF65-F5344CB8AC3E}">
        <p14:creationId xmlns:p14="http://schemas.microsoft.com/office/powerpoint/2010/main" val="10523409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Title and Content Blue">
    <p:spTree>
      <p:nvGrpSpPr>
        <p:cNvPr id="1" name=""/>
        <p:cNvGrpSpPr/>
        <p:nvPr/>
      </p:nvGrpSpPr>
      <p:grpSpPr>
        <a:xfrm>
          <a:off x="0" y="0"/>
          <a:ext cx="0" cy="0"/>
          <a:chOff x="0" y="0"/>
          <a:chExt cx="0" cy="0"/>
        </a:xfrm>
      </p:grpSpPr>
      <p:sp>
        <p:nvSpPr>
          <p:cNvPr id="3" name="Content Placeholder 2"/>
          <p:cNvSpPr>
            <a:spLocks noGrp="1"/>
          </p:cNvSpPr>
          <p:nvPr>
            <p:ph idx="1"/>
          </p:nvPr>
        </p:nvSpPr>
        <p:spPr>
          <a:xfrm>
            <a:off x="458218" y="1371599"/>
            <a:ext cx="8229600" cy="480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8" name="Straight Connector 7"/>
          <p:cNvCxnSpPr/>
          <p:nvPr userDrawn="1"/>
        </p:nvCxnSpPr>
        <p:spPr>
          <a:xfrm>
            <a:off x="458218" y="345723"/>
            <a:ext cx="8227564" cy="0"/>
          </a:xfrm>
          <a:prstGeom prst="line">
            <a:avLst/>
          </a:prstGeom>
          <a:ln w="60325" cmpd="sng">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4" name="Title 3"/>
          <p:cNvSpPr>
            <a:spLocks noGrp="1"/>
          </p:cNvSpPr>
          <p:nvPr>
            <p:ph type="title"/>
          </p:nvPr>
        </p:nvSpPr>
        <p:spPr/>
        <p:txBody>
          <a:bodyPr/>
          <a:lstStyle>
            <a:lvl1pPr>
              <a:defRPr>
                <a:solidFill>
                  <a:schemeClr val="accent4"/>
                </a:solidFill>
              </a:defRPr>
            </a:lvl1pPr>
          </a:lstStyle>
          <a:p>
            <a:r>
              <a:rPr lang="en-US" smtClean="0"/>
              <a:t>Click to edit Master title style</a:t>
            </a:r>
            <a:endParaRPr lang="en-US"/>
          </a:p>
        </p:txBody>
      </p:sp>
    </p:spTree>
    <p:extLst>
      <p:ext uri="{BB962C8B-B14F-4D97-AF65-F5344CB8AC3E}">
        <p14:creationId xmlns:p14="http://schemas.microsoft.com/office/powerpoint/2010/main" val="9351851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wo Content Blu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60997"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800600"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9" name="Straight Connector 8"/>
          <p:cNvCxnSpPr/>
          <p:nvPr userDrawn="1"/>
        </p:nvCxnSpPr>
        <p:spPr>
          <a:xfrm>
            <a:off x="458218" y="345723"/>
            <a:ext cx="8227564" cy="0"/>
          </a:xfrm>
          <a:prstGeom prst="line">
            <a:avLst/>
          </a:prstGeom>
          <a:ln w="60325" cmpd="sng">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5" name="Title 4"/>
          <p:cNvSpPr>
            <a:spLocks noGrp="1"/>
          </p:cNvSpPr>
          <p:nvPr>
            <p:ph type="title"/>
          </p:nvPr>
        </p:nvSpPr>
        <p:spPr/>
        <p:txBody>
          <a:bodyPr/>
          <a:lstStyle>
            <a:lvl1pPr>
              <a:defRPr>
                <a:solidFill>
                  <a:srgbClr val="0057B8"/>
                </a:solidFill>
              </a:defRPr>
            </a:lvl1pPr>
          </a:lstStyle>
          <a:p>
            <a:r>
              <a:rPr lang="en-US" smtClean="0"/>
              <a:t>Click to edit Master title style</a:t>
            </a:r>
            <a:endParaRPr lang="en-US"/>
          </a:p>
        </p:txBody>
      </p:sp>
    </p:spTree>
    <p:extLst>
      <p:ext uri="{BB962C8B-B14F-4D97-AF65-F5344CB8AC3E}">
        <p14:creationId xmlns:p14="http://schemas.microsoft.com/office/powerpoint/2010/main" val="94595077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 and Content Cyan">
    <p:spTree>
      <p:nvGrpSpPr>
        <p:cNvPr id="1" name=""/>
        <p:cNvGrpSpPr/>
        <p:nvPr/>
      </p:nvGrpSpPr>
      <p:grpSpPr>
        <a:xfrm>
          <a:off x="0" y="0"/>
          <a:ext cx="0" cy="0"/>
          <a:chOff x="0" y="0"/>
          <a:chExt cx="0" cy="0"/>
        </a:xfrm>
      </p:grpSpPr>
      <p:sp>
        <p:nvSpPr>
          <p:cNvPr id="3" name="Content Placeholder 2"/>
          <p:cNvSpPr>
            <a:spLocks noGrp="1"/>
          </p:cNvSpPr>
          <p:nvPr>
            <p:ph idx="1"/>
          </p:nvPr>
        </p:nvSpPr>
        <p:spPr>
          <a:xfrm>
            <a:off x="458218" y="1371599"/>
            <a:ext cx="8229600" cy="480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8" name="Straight Connector 7"/>
          <p:cNvCxnSpPr/>
          <p:nvPr userDrawn="1"/>
        </p:nvCxnSpPr>
        <p:spPr>
          <a:xfrm>
            <a:off x="458218" y="345723"/>
            <a:ext cx="8227564" cy="0"/>
          </a:xfrm>
          <a:prstGeom prst="line">
            <a:avLst/>
          </a:prstGeom>
          <a:ln w="603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4" name="Title 3"/>
          <p:cNvSpPr>
            <a:spLocks noGrp="1"/>
          </p:cNvSpPr>
          <p:nvPr>
            <p:ph type="title"/>
          </p:nvPr>
        </p:nvSpPr>
        <p:spPr/>
        <p:txBody>
          <a:bodyPr/>
          <a:lstStyle>
            <a:lvl1pPr>
              <a:defRPr>
                <a:solidFill>
                  <a:schemeClr val="accent5"/>
                </a:solidFill>
              </a:defRPr>
            </a:lvl1pPr>
          </a:lstStyle>
          <a:p>
            <a:r>
              <a:rPr lang="en-US" smtClean="0"/>
              <a:t>Click to edit Master title style</a:t>
            </a:r>
            <a:endParaRPr lang="en-US"/>
          </a:p>
        </p:txBody>
      </p:sp>
    </p:spTree>
    <p:extLst>
      <p:ext uri="{BB962C8B-B14F-4D97-AF65-F5344CB8AC3E}">
        <p14:creationId xmlns:p14="http://schemas.microsoft.com/office/powerpoint/2010/main" val="40548364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wo Content Cyan">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60997"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800600"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9" name="Straight Connector 8"/>
          <p:cNvCxnSpPr/>
          <p:nvPr userDrawn="1"/>
        </p:nvCxnSpPr>
        <p:spPr>
          <a:xfrm>
            <a:off x="458218" y="345723"/>
            <a:ext cx="8227564" cy="0"/>
          </a:xfrm>
          <a:prstGeom prst="line">
            <a:avLst/>
          </a:prstGeom>
          <a:ln w="603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5" name="Title 4"/>
          <p:cNvSpPr>
            <a:spLocks noGrp="1"/>
          </p:cNvSpPr>
          <p:nvPr>
            <p:ph type="title"/>
          </p:nvPr>
        </p:nvSpPr>
        <p:spPr/>
        <p:txBody>
          <a:bodyPr/>
          <a:lstStyle>
            <a:lvl1pPr>
              <a:defRPr>
                <a:solidFill>
                  <a:srgbClr val="00AEEF"/>
                </a:solidFill>
              </a:defRPr>
            </a:lvl1pPr>
          </a:lstStyle>
          <a:p>
            <a:r>
              <a:rPr lang="en-US" smtClean="0"/>
              <a:t>Click to edit Master title style</a:t>
            </a:r>
            <a:endParaRPr lang="en-US" dirty="0"/>
          </a:p>
        </p:txBody>
      </p:sp>
    </p:spTree>
    <p:extLst>
      <p:ext uri="{BB962C8B-B14F-4D97-AF65-F5344CB8AC3E}">
        <p14:creationId xmlns:p14="http://schemas.microsoft.com/office/powerpoint/2010/main" val="13857555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Magenta">
    <p:spTree>
      <p:nvGrpSpPr>
        <p:cNvPr id="1" name=""/>
        <p:cNvGrpSpPr/>
        <p:nvPr/>
      </p:nvGrpSpPr>
      <p:grpSpPr>
        <a:xfrm>
          <a:off x="0" y="0"/>
          <a:ext cx="0" cy="0"/>
          <a:chOff x="0" y="0"/>
          <a:chExt cx="0" cy="0"/>
        </a:xfrm>
      </p:grpSpPr>
      <p:sp>
        <p:nvSpPr>
          <p:cNvPr id="3" name="Content Placeholder 2"/>
          <p:cNvSpPr>
            <a:spLocks noGrp="1"/>
          </p:cNvSpPr>
          <p:nvPr>
            <p:ph idx="1"/>
          </p:nvPr>
        </p:nvSpPr>
        <p:spPr>
          <a:xfrm>
            <a:off x="458218" y="1371599"/>
            <a:ext cx="8229600" cy="480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8" name="Straight Connector 7"/>
          <p:cNvCxnSpPr/>
          <p:nvPr userDrawn="1"/>
        </p:nvCxnSpPr>
        <p:spPr>
          <a:xfrm>
            <a:off x="458218" y="345723"/>
            <a:ext cx="8227564" cy="0"/>
          </a:xfrm>
          <a:prstGeom prst="line">
            <a:avLst/>
          </a:prstGeom>
          <a:ln w="60325" cmpd="sng">
            <a:solidFill>
              <a:srgbClr val="D0006F"/>
            </a:solidFill>
          </a:ln>
          <a:effectLst/>
        </p:spPr>
        <p:style>
          <a:lnRef idx="2">
            <a:schemeClr val="accent1"/>
          </a:lnRef>
          <a:fillRef idx="0">
            <a:schemeClr val="accent1"/>
          </a:fillRef>
          <a:effectRef idx="1">
            <a:schemeClr val="accent1"/>
          </a:effectRef>
          <a:fontRef idx="minor">
            <a:schemeClr val="tx1"/>
          </a:fontRef>
        </p:style>
      </p:cxnSp>
      <p:sp>
        <p:nvSpPr>
          <p:cNvPr id="4" name="Title 3"/>
          <p:cNvSpPr>
            <a:spLocks noGrp="1"/>
          </p:cNvSpPr>
          <p:nvPr>
            <p:ph type="title"/>
          </p:nvPr>
        </p:nvSpPr>
        <p:spPr/>
        <p:txBody>
          <a:bodyPr/>
          <a:lstStyle>
            <a:lvl1pPr>
              <a:defRPr>
                <a:solidFill>
                  <a:srgbClr val="D0006F"/>
                </a:solidFill>
              </a:defRPr>
            </a:lvl1pPr>
          </a:lstStyle>
          <a:p>
            <a:r>
              <a:rPr lang="en-US" smtClean="0"/>
              <a:t>Click to edit Master title style</a:t>
            </a:r>
            <a:endParaRPr lang="en-US"/>
          </a:p>
        </p:txBody>
      </p:sp>
    </p:spTree>
    <p:extLst>
      <p:ext uri="{BB962C8B-B14F-4D97-AF65-F5344CB8AC3E}">
        <p14:creationId xmlns:p14="http://schemas.microsoft.com/office/powerpoint/2010/main" val="5110539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Content Magenta">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60997"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800600" y="1371599"/>
            <a:ext cx="3886200" cy="48006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cxnSp>
        <p:nvCxnSpPr>
          <p:cNvPr id="9" name="Straight Connector 8"/>
          <p:cNvCxnSpPr/>
          <p:nvPr userDrawn="1"/>
        </p:nvCxnSpPr>
        <p:spPr>
          <a:xfrm>
            <a:off x="458218" y="345723"/>
            <a:ext cx="8227564" cy="0"/>
          </a:xfrm>
          <a:prstGeom prst="line">
            <a:avLst/>
          </a:prstGeom>
          <a:ln w="60325" cmpd="sng">
            <a:solidFill>
              <a:srgbClr val="D0006F"/>
            </a:solidFill>
          </a:ln>
          <a:effectLst/>
        </p:spPr>
        <p:style>
          <a:lnRef idx="2">
            <a:schemeClr val="accent1"/>
          </a:lnRef>
          <a:fillRef idx="0">
            <a:schemeClr val="accent1"/>
          </a:fillRef>
          <a:effectRef idx="1">
            <a:schemeClr val="accent1"/>
          </a:effectRef>
          <a:fontRef idx="minor">
            <a:schemeClr val="tx1"/>
          </a:fontRef>
        </p:style>
      </p:cxnSp>
      <p:sp>
        <p:nvSpPr>
          <p:cNvPr id="5" name="Title 4"/>
          <p:cNvSpPr>
            <a:spLocks noGrp="1"/>
          </p:cNvSpPr>
          <p:nvPr>
            <p:ph type="title"/>
          </p:nvPr>
        </p:nvSpPr>
        <p:spPr/>
        <p:txBody>
          <a:bodyPr/>
          <a:lstStyle>
            <a:lvl1pPr>
              <a:defRPr>
                <a:solidFill>
                  <a:srgbClr val="D0006F"/>
                </a:solidFill>
              </a:defRPr>
            </a:lvl1pPr>
          </a:lstStyle>
          <a:p>
            <a:r>
              <a:rPr lang="en-US" smtClean="0"/>
              <a:t>Click to edit Master title style</a:t>
            </a:r>
            <a:endParaRPr lang="en-US"/>
          </a:p>
        </p:txBody>
      </p:sp>
    </p:spTree>
    <p:extLst>
      <p:ext uri="{BB962C8B-B14F-4D97-AF65-F5344CB8AC3E}">
        <p14:creationId xmlns:p14="http://schemas.microsoft.com/office/powerpoint/2010/main" val="357885676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Divider White Purp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410177"/>
            <a:ext cx="5056191" cy="1674990"/>
          </a:xfrm>
        </p:spPr>
        <p:txBody>
          <a:bodyPr anchor="t"/>
          <a:lstStyle>
            <a:lvl1pPr algn="l">
              <a:defRPr sz="4800" b="0" cap="none">
                <a:solidFill>
                  <a:schemeClr val="tx2"/>
                </a:solidFill>
              </a:defRPr>
            </a:lvl1pPr>
          </a:lstStyle>
          <a:p>
            <a:r>
              <a:rPr lang="en-US" dirty="0" smtClean="0"/>
              <a:t>Click to edit master title style</a:t>
            </a:r>
            <a:endParaRPr lang="en-US" dirty="0"/>
          </a:p>
        </p:txBody>
      </p:sp>
      <p:cxnSp>
        <p:nvCxnSpPr>
          <p:cNvPr id="7" name="Straight Connector 6"/>
          <p:cNvCxnSpPr/>
          <p:nvPr userDrawn="1"/>
        </p:nvCxnSpPr>
        <p:spPr>
          <a:xfrm>
            <a:off x="458218" y="345723"/>
            <a:ext cx="8227564" cy="0"/>
          </a:xfrm>
          <a:prstGeom prst="line">
            <a:avLst/>
          </a:prstGeom>
          <a:ln w="60325" cmpd="sng">
            <a:solidFill>
              <a:schemeClr val="tx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623231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Divider White Plu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410177"/>
            <a:ext cx="5056191" cy="1674990"/>
          </a:xfrm>
        </p:spPr>
        <p:txBody>
          <a:bodyPr anchor="t"/>
          <a:lstStyle>
            <a:lvl1pPr algn="l">
              <a:defRPr sz="4800" b="0" cap="none">
                <a:solidFill>
                  <a:schemeClr val="accent2"/>
                </a:solidFill>
              </a:defRPr>
            </a:lvl1pPr>
          </a:lstStyle>
          <a:p>
            <a:r>
              <a:rPr lang="en-US" dirty="0" smtClean="0"/>
              <a:t>Click to edit master title style</a:t>
            </a:r>
            <a:endParaRPr lang="en-US" dirty="0"/>
          </a:p>
        </p:txBody>
      </p:sp>
      <p:cxnSp>
        <p:nvCxnSpPr>
          <p:cNvPr id="7" name="Straight Connector 6"/>
          <p:cNvCxnSpPr/>
          <p:nvPr userDrawn="1"/>
        </p:nvCxnSpPr>
        <p:spPr>
          <a:xfrm>
            <a:off x="458218" y="345723"/>
            <a:ext cx="8227564" cy="0"/>
          </a:xfrm>
          <a:prstGeom prst="line">
            <a:avLst/>
          </a:prstGeom>
          <a:ln w="603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96805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Divider White Tea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410177"/>
            <a:ext cx="5056191" cy="1674990"/>
          </a:xfrm>
        </p:spPr>
        <p:txBody>
          <a:bodyPr anchor="t"/>
          <a:lstStyle>
            <a:lvl1pPr algn="l">
              <a:defRPr sz="4800" b="0" cap="none">
                <a:solidFill>
                  <a:schemeClr val="accent6"/>
                </a:solidFill>
              </a:defRPr>
            </a:lvl1pPr>
          </a:lstStyle>
          <a:p>
            <a:r>
              <a:rPr lang="en-US" dirty="0" smtClean="0"/>
              <a:t>Click to edit master title style</a:t>
            </a:r>
            <a:endParaRPr lang="en-US" dirty="0"/>
          </a:p>
        </p:txBody>
      </p:sp>
      <p:cxnSp>
        <p:nvCxnSpPr>
          <p:cNvPr id="7" name="Straight Connector 6"/>
          <p:cNvCxnSpPr/>
          <p:nvPr userDrawn="1"/>
        </p:nvCxnSpPr>
        <p:spPr>
          <a:xfrm>
            <a:off x="458218" y="345723"/>
            <a:ext cx="8227564" cy="0"/>
          </a:xfrm>
          <a:prstGeom prst="line">
            <a:avLst/>
          </a:prstGeom>
          <a:ln w="60325" cmpd="sng">
            <a:solidFill>
              <a:schemeClr val="accent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681209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Divider White Gree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410177"/>
            <a:ext cx="5056191" cy="1674990"/>
          </a:xfrm>
        </p:spPr>
        <p:txBody>
          <a:bodyPr anchor="t"/>
          <a:lstStyle>
            <a:lvl1pPr algn="l">
              <a:defRPr sz="4800" b="0" cap="none">
                <a:solidFill>
                  <a:schemeClr val="accent1"/>
                </a:solidFill>
              </a:defRPr>
            </a:lvl1pPr>
          </a:lstStyle>
          <a:p>
            <a:r>
              <a:rPr lang="en-US" dirty="0" smtClean="0"/>
              <a:t>Click to edit master title style</a:t>
            </a:r>
            <a:endParaRPr lang="en-US" dirty="0"/>
          </a:p>
        </p:txBody>
      </p:sp>
      <p:cxnSp>
        <p:nvCxnSpPr>
          <p:cNvPr id="7" name="Straight Connector 6"/>
          <p:cNvCxnSpPr/>
          <p:nvPr userDrawn="1"/>
        </p:nvCxnSpPr>
        <p:spPr>
          <a:xfrm>
            <a:off x="458218" y="345723"/>
            <a:ext cx="8227564" cy="0"/>
          </a:xfrm>
          <a:prstGeom prst="line">
            <a:avLst/>
          </a:prstGeom>
          <a:ln w="60325" cmpd="sng">
            <a:solidFill>
              <a:schemeClr val="accent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4880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Divider White Blu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410177"/>
            <a:ext cx="5056191" cy="1674990"/>
          </a:xfrm>
        </p:spPr>
        <p:txBody>
          <a:bodyPr anchor="t"/>
          <a:lstStyle>
            <a:lvl1pPr algn="l">
              <a:defRPr sz="4800" b="0" cap="none">
                <a:solidFill>
                  <a:schemeClr val="accent4"/>
                </a:solidFill>
              </a:defRPr>
            </a:lvl1pPr>
          </a:lstStyle>
          <a:p>
            <a:r>
              <a:rPr lang="en-US" dirty="0" smtClean="0"/>
              <a:t>Click to edit master title style</a:t>
            </a:r>
            <a:endParaRPr lang="en-US" dirty="0"/>
          </a:p>
        </p:txBody>
      </p:sp>
      <p:cxnSp>
        <p:nvCxnSpPr>
          <p:cNvPr id="7" name="Straight Connector 6"/>
          <p:cNvCxnSpPr/>
          <p:nvPr userDrawn="1"/>
        </p:nvCxnSpPr>
        <p:spPr>
          <a:xfrm>
            <a:off x="458218" y="345723"/>
            <a:ext cx="8227564" cy="0"/>
          </a:xfrm>
          <a:prstGeom prst="line">
            <a:avLst/>
          </a:prstGeom>
          <a:ln w="60325" cmpd="sng">
            <a:solidFill>
              <a:schemeClr val="accent4"/>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742895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Divider White Cya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410177"/>
            <a:ext cx="5056191" cy="1674990"/>
          </a:xfrm>
        </p:spPr>
        <p:txBody>
          <a:bodyPr anchor="t"/>
          <a:lstStyle>
            <a:lvl1pPr algn="l">
              <a:defRPr sz="4800" b="0" cap="none">
                <a:solidFill>
                  <a:schemeClr val="accent5"/>
                </a:solidFill>
              </a:defRPr>
            </a:lvl1pPr>
          </a:lstStyle>
          <a:p>
            <a:r>
              <a:rPr lang="en-US" dirty="0" smtClean="0"/>
              <a:t>Click to edit master title style</a:t>
            </a:r>
            <a:endParaRPr lang="en-US" dirty="0"/>
          </a:p>
        </p:txBody>
      </p:sp>
      <p:cxnSp>
        <p:nvCxnSpPr>
          <p:cNvPr id="7" name="Straight Connector 6"/>
          <p:cNvCxnSpPr/>
          <p:nvPr userDrawn="1"/>
        </p:nvCxnSpPr>
        <p:spPr>
          <a:xfrm>
            <a:off x="458218" y="345723"/>
            <a:ext cx="8227564" cy="0"/>
          </a:xfrm>
          <a:prstGeom prst="line">
            <a:avLst/>
          </a:prstGeom>
          <a:ln w="603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72977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ivider White Magent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410177"/>
            <a:ext cx="5056191" cy="1674990"/>
          </a:xfrm>
        </p:spPr>
        <p:txBody>
          <a:bodyPr anchor="t"/>
          <a:lstStyle>
            <a:lvl1pPr algn="l">
              <a:defRPr sz="4800" b="0" cap="none">
                <a:solidFill>
                  <a:srgbClr val="D0006F"/>
                </a:solidFill>
              </a:defRPr>
            </a:lvl1pPr>
          </a:lstStyle>
          <a:p>
            <a:r>
              <a:rPr lang="en-US" dirty="0" smtClean="0"/>
              <a:t>Click to edit master title style</a:t>
            </a:r>
            <a:endParaRPr lang="en-US" dirty="0"/>
          </a:p>
        </p:txBody>
      </p:sp>
      <p:cxnSp>
        <p:nvCxnSpPr>
          <p:cNvPr id="7" name="Straight Connector 6"/>
          <p:cNvCxnSpPr/>
          <p:nvPr userDrawn="1"/>
        </p:nvCxnSpPr>
        <p:spPr>
          <a:xfrm>
            <a:off x="458218" y="345723"/>
            <a:ext cx="8227564" cy="0"/>
          </a:xfrm>
          <a:prstGeom prst="line">
            <a:avLst/>
          </a:prstGeom>
          <a:ln w="60325" cmpd="sng">
            <a:solidFill>
              <a:srgbClr val="D0006F"/>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1981434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Divider Cyan">
    <p:bg>
      <p:bgPr>
        <a:solidFill>
          <a:schemeClr val="accent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410177"/>
            <a:ext cx="5056191" cy="1674990"/>
          </a:xfrm>
        </p:spPr>
        <p:txBody>
          <a:bodyPr anchor="t"/>
          <a:lstStyle>
            <a:lvl1pPr algn="l">
              <a:defRPr sz="4800" b="0" cap="none">
                <a:solidFill>
                  <a:schemeClr val="bg1"/>
                </a:solidFill>
              </a:defRPr>
            </a:lvl1pPr>
          </a:lstStyle>
          <a:p>
            <a:r>
              <a:rPr lang="en-US" dirty="0" smtClean="0"/>
              <a:t>Click to edit master title style</a:t>
            </a:r>
            <a:endParaRPr lang="en-US" dirty="0"/>
          </a:p>
        </p:txBody>
      </p:sp>
      <p:cxnSp>
        <p:nvCxnSpPr>
          <p:cNvPr id="7" name="Straight Connector 6"/>
          <p:cNvCxnSpPr/>
          <p:nvPr userDrawn="1"/>
        </p:nvCxnSpPr>
        <p:spPr>
          <a:xfrm>
            <a:off x="458218" y="345723"/>
            <a:ext cx="8227564" cy="0"/>
          </a:xfrm>
          <a:prstGeom prst="line">
            <a:avLst/>
          </a:prstGeom>
          <a:ln w="6032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8056" y="6448999"/>
            <a:ext cx="1048225" cy="192023"/>
          </a:xfrm>
          <a:prstGeom prst="rect">
            <a:avLst/>
          </a:prstGeom>
        </p:spPr>
      </p:pic>
      <p:sp>
        <p:nvSpPr>
          <p:cNvPr id="6" name="TextBox 5"/>
          <p:cNvSpPr txBox="1"/>
          <p:nvPr userDrawn="1"/>
        </p:nvSpPr>
        <p:spPr>
          <a:xfrm>
            <a:off x="5029733" y="6497025"/>
            <a:ext cx="3260829" cy="184666"/>
          </a:xfrm>
          <a:prstGeom prst="rect">
            <a:avLst/>
          </a:prstGeom>
          <a:noFill/>
        </p:spPr>
        <p:txBody>
          <a:bodyPr wrap="none" rtlCol="0">
            <a:spAutoFit/>
          </a:bodyPr>
          <a:lstStyle/>
          <a:p>
            <a:pPr algn="r"/>
            <a:r>
              <a:rPr lang="en-US" sz="600" dirty="0" smtClean="0">
                <a:solidFill>
                  <a:schemeClr val="bg1"/>
                </a:solidFill>
              </a:rPr>
              <a:t>Confidential and proprietary information  © 2014 Navient Solutions,</a:t>
            </a:r>
            <a:r>
              <a:rPr lang="en-US" sz="600" baseline="0" dirty="0" smtClean="0">
                <a:solidFill>
                  <a:schemeClr val="bg1"/>
                </a:solidFill>
              </a:rPr>
              <a:t> Inc</a:t>
            </a:r>
            <a:r>
              <a:rPr lang="en-US" sz="600" dirty="0" smtClean="0">
                <a:solidFill>
                  <a:schemeClr val="bg1"/>
                </a:solidFill>
              </a:rPr>
              <a:t>. All rights reserved.</a:t>
            </a:r>
          </a:p>
        </p:txBody>
      </p:sp>
      <p:sp>
        <p:nvSpPr>
          <p:cNvPr id="8" name="TextBox 7"/>
          <p:cNvSpPr txBox="1"/>
          <p:nvPr userDrawn="1"/>
        </p:nvSpPr>
        <p:spPr>
          <a:xfrm>
            <a:off x="8164336" y="6456033"/>
            <a:ext cx="522464" cy="246221"/>
          </a:xfrm>
          <a:prstGeom prst="rect">
            <a:avLst/>
          </a:prstGeom>
          <a:noFill/>
        </p:spPr>
        <p:txBody>
          <a:bodyPr wrap="square" lIns="0" rIns="0" rtlCol="0">
            <a:noAutofit/>
          </a:bodyPr>
          <a:lstStyle/>
          <a:p>
            <a:pPr algn="r"/>
            <a:fld id="{8EF3A903-7F25-E440-BA55-7115C69D9986}" type="slidenum">
              <a:rPr lang="en-US" sz="1000" smtClean="0">
                <a:solidFill>
                  <a:schemeClr val="bg1"/>
                </a:solidFill>
              </a:rPr>
              <a:t>‹#›</a:t>
            </a:fld>
            <a:endParaRPr lang="en-US" sz="1000" dirty="0" smtClean="0">
              <a:solidFill>
                <a:schemeClr val="bg1"/>
              </a:solidFill>
            </a:endParaRPr>
          </a:p>
        </p:txBody>
      </p:sp>
    </p:spTree>
    <p:extLst>
      <p:ext uri="{BB962C8B-B14F-4D97-AF65-F5344CB8AC3E}">
        <p14:creationId xmlns:p14="http://schemas.microsoft.com/office/powerpoint/2010/main" val="232876471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Divider Blue">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2410177"/>
            <a:ext cx="5056191" cy="1674990"/>
          </a:xfrm>
        </p:spPr>
        <p:txBody>
          <a:bodyPr anchor="t"/>
          <a:lstStyle>
            <a:lvl1pPr algn="l">
              <a:defRPr sz="4800" b="0" cap="none">
                <a:solidFill>
                  <a:schemeClr val="bg1"/>
                </a:solidFill>
              </a:defRPr>
            </a:lvl1pPr>
          </a:lstStyle>
          <a:p>
            <a:r>
              <a:rPr lang="en-US" dirty="0" smtClean="0"/>
              <a:t>Click to edit master title style</a:t>
            </a:r>
            <a:endParaRPr lang="en-US" dirty="0"/>
          </a:p>
        </p:txBody>
      </p:sp>
      <p:cxnSp>
        <p:nvCxnSpPr>
          <p:cNvPr id="7" name="Straight Connector 6"/>
          <p:cNvCxnSpPr/>
          <p:nvPr userDrawn="1"/>
        </p:nvCxnSpPr>
        <p:spPr>
          <a:xfrm>
            <a:off x="458218" y="345723"/>
            <a:ext cx="8227564" cy="0"/>
          </a:xfrm>
          <a:prstGeom prst="line">
            <a:avLst/>
          </a:prstGeom>
          <a:ln w="6032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8056" y="6448999"/>
            <a:ext cx="1048225" cy="192023"/>
          </a:xfrm>
          <a:prstGeom prst="rect">
            <a:avLst/>
          </a:prstGeom>
        </p:spPr>
      </p:pic>
      <p:sp>
        <p:nvSpPr>
          <p:cNvPr id="6" name="TextBox 5"/>
          <p:cNvSpPr txBox="1"/>
          <p:nvPr userDrawn="1"/>
        </p:nvSpPr>
        <p:spPr>
          <a:xfrm>
            <a:off x="5029733" y="6497025"/>
            <a:ext cx="3260829" cy="184666"/>
          </a:xfrm>
          <a:prstGeom prst="rect">
            <a:avLst/>
          </a:prstGeom>
          <a:noFill/>
        </p:spPr>
        <p:txBody>
          <a:bodyPr wrap="none" rtlCol="0">
            <a:spAutoFit/>
          </a:bodyPr>
          <a:lstStyle/>
          <a:p>
            <a:pPr algn="r"/>
            <a:r>
              <a:rPr lang="en-US" sz="600" dirty="0" smtClean="0">
                <a:solidFill>
                  <a:schemeClr val="bg1"/>
                </a:solidFill>
              </a:rPr>
              <a:t>Confidential and proprietary information  © 2014 Navient Solutions, Inc. All rights reserved.</a:t>
            </a:r>
          </a:p>
        </p:txBody>
      </p:sp>
      <p:sp>
        <p:nvSpPr>
          <p:cNvPr id="8" name="TextBox 7"/>
          <p:cNvSpPr txBox="1"/>
          <p:nvPr userDrawn="1"/>
        </p:nvSpPr>
        <p:spPr>
          <a:xfrm>
            <a:off x="8164336" y="6456033"/>
            <a:ext cx="522464" cy="246221"/>
          </a:xfrm>
          <a:prstGeom prst="rect">
            <a:avLst/>
          </a:prstGeom>
          <a:noFill/>
        </p:spPr>
        <p:txBody>
          <a:bodyPr wrap="square" lIns="0" rIns="0" rtlCol="0">
            <a:noAutofit/>
          </a:bodyPr>
          <a:lstStyle/>
          <a:p>
            <a:pPr algn="r"/>
            <a:fld id="{8EF3A903-7F25-E440-BA55-7115C69D9986}" type="slidenum">
              <a:rPr lang="en-US" sz="1000" smtClean="0">
                <a:solidFill>
                  <a:schemeClr val="bg1"/>
                </a:solidFill>
              </a:rPr>
              <a:t>‹#›</a:t>
            </a:fld>
            <a:endParaRPr lang="en-US" sz="1000" dirty="0" smtClean="0">
              <a:solidFill>
                <a:schemeClr val="bg1"/>
              </a:solidFill>
            </a:endParaRPr>
          </a:p>
        </p:txBody>
      </p:sp>
    </p:spTree>
    <p:extLst>
      <p:ext uri="{BB962C8B-B14F-4D97-AF65-F5344CB8AC3E}">
        <p14:creationId xmlns:p14="http://schemas.microsoft.com/office/powerpoint/2010/main" val="417926207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Divider Purpl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8218" y="2410177"/>
            <a:ext cx="5056191" cy="1674990"/>
          </a:xfrm>
        </p:spPr>
        <p:txBody>
          <a:bodyPr anchor="t"/>
          <a:lstStyle>
            <a:lvl1pPr algn="l">
              <a:defRPr sz="4800" b="0" cap="none">
                <a:solidFill>
                  <a:schemeClr val="bg1"/>
                </a:solidFill>
              </a:defRPr>
            </a:lvl1pPr>
          </a:lstStyle>
          <a:p>
            <a:r>
              <a:rPr lang="en-US" dirty="0" smtClean="0"/>
              <a:t>Click to edit master title style</a:t>
            </a:r>
            <a:endParaRPr lang="en-US" dirty="0"/>
          </a:p>
        </p:txBody>
      </p:sp>
      <p:cxnSp>
        <p:nvCxnSpPr>
          <p:cNvPr id="7" name="Straight Connector 6"/>
          <p:cNvCxnSpPr/>
          <p:nvPr userDrawn="1"/>
        </p:nvCxnSpPr>
        <p:spPr>
          <a:xfrm>
            <a:off x="458218" y="345723"/>
            <a:ext cx="8227564" cy="0"/>
          </a:xfrm>
          <a:prstGeom prst="line">
            <a:avLst/>
          </a:prstGeom>
          <a:ln w="6032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8056" y="6448999"/>
            <a:ext cx="1048225" cy="192023"/>
          </a:xfrm>
          <a:prstGeom prst="rect">
            <a:avLst/>
          </a:prstGeom>
        </p:spPr>
      </p:pic>
      <p:sp>
        <p:nvSpPr>
          <p:cNvPr id="6" name="TextBox 5"/>
          <p:cNvSpPr txBox="1"/>
          <p:nvPr userDrawn="1"/>
        </p:nvSpPr>
        <p:spPr>
          <a:xfrm>
            <a:off x="5029733" y="6497025"/>
            <a:ext cx="3260829" cy="184666"/>
          </a:xfrm>
          <a:prstGeom prst="rect">
            <a:avLst/>
          </a:prstGeom>
          <a:noFill/>
        </p:spPr>
        <p:txBody>
          <a:bodyPr wrap="none" rtlCol="0">
            <a:spAutoFit/>
          </a:bodyPr>
          <a:lstStyle/>
          <a:p>
            <a:pPr algn="r"/>
            <a:r>
              <a:rPr lang="en-US" sz="600" dirty="0" smtClean="0">
                <a:solidFill>
                  <a:schemeClr val="bg1"/>
                </a:solidFill>
              </a:rPr>
              <a:t>Confidential and proprietary information  © 2014 Navient Solutions, Inc. All rights reserved.</a:t>
            </a:r>
          </a:p>
        </p:txBody>
      </p:sp>
      <p:sp>
        <p:nvSpPr>
          <p:cNvPr id="8" name="TextBox 7"/>
          <p:cNvSpPr txBox="1"/>
          <p:nvPr userDrawn="1"/>
        </p:nvSpPr>
        <p:spPr>
          <a:xfrm>
            <a:off x="8164336" y="6456033"/>
            <a:ext cx="522464" cy="246221"/>
          </a:xfrm>
          <a:prstGeom prst="rect">
            <a:avLst/>
          </a:prstGeom>
          <a:noFill/>
        </p:spPr>
        <p:txBody>
          <a:bodyPr wrap="square" lIns="0" rIns="0" rtlCol="0">
            <a:noAutofit/>
          </a:bodyPr>
          <a:lstStyle/>
          <a:p>
            <a:pPr algn="r"/>
            <a:fld id="{8EF3A903-7F25-E440-BA55-7115C69D9986}" type="slidenum">
              <a:rPr lang="en-US" sz="1000" smtClean="0">
                <a:solidFill>
                  <a:schemeClr val="bg1"/>
                </a:solidFill>
              </a:rPr>
              <a:t>‹#›</a:t>
            </a:fld>
            <a:endParaRPr lang="en-US" sz="1000" dirty="0" smtClean="0">
              <a:solidFill>
                <a:schemeClr val="bg1"/>
              </a:solidFill>
            </a:endParaRPr>
          </a:p>
        </p:txBody>
      </p:sp>
    </p:spTree>
    <p:extLst>
      <p:ext uri="{BB962C8B-B14F-4D97-AF65-F5344CB8AC3E}">
        <p14:creationId xmlns:p14="http://schemas.microsoft.com/office/powerpoint/2010/main" val="188340609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gi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402168"/>
            <a:ext cx="8229600" cy="906531"/>
          </a:xfrm>
          <a:prstGeom prst="rect">
            <a:avLst/>
          </a:prstGeom>
        </p:spPr>
        <p:txBody>
          <a:bodyPr vert="horz" lIns="0" tIns="45720" rIns="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577347"/>
          </a:xfrm>
          <a:prstGeom prst="rect">
            <a:avLst/>
          </a:prstGeom>
        </p:spPr>
        <p:txBody>
          <a:bodyPr vert="horz" lIns="0" tIns="45720" rIns="0" bIns="45720" rtlCol="0">
            <a:no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4" name="TextBox 13"/>
          <p:cNvSpPr txBox="1"/>
          <p:nvPr/>
        </p:nvSpPr>
        <p:spPr>
          <a:xfrm>
            <a:off x="4889500" y="6497025"/>
            <a:ext cx="3591562" cy="184666"/>
          </a:xfrm>
          <a:prstGeom prst="rect">
            <a:avLst/>
          </a:prstGeom>
          <a:noFill/>
        </p:spPr>
        <p:txBody>
          <a:bodyPr wrap="square" rtlCol="0">
            <a:spAutoFit/>
          </a:bodyPr>
          <a:lstStyle/>
          <a:p>
            <a:pPr algn="r"/>
            <a:r>
              <a:rPr lang="en-US" sz="600" dirty="0" smtClean="0"/>
              <a:t>Confidential and proprietary information © 2016 General Revenue Corporation. All rights reserved.</a:t>
            </a:r>
            <a:endParaRPr lang="en-US" sz="600" dirty="0" smtClean="0">
              <a:solidFill>
                <a:srgbClr val="838383"/>
              </a:solidFill>
            </a:endParaRPr>
          </a:p>
        </p:txBody>
      </p:sp>
      <p:sp>
        <p:nvSpPr>
          <p:cNvPr id="15" name="TextBox 14"/>
          <p:cNvSpPr txBox="1"/>
          <p:nvPr/>
        </p:nvSpPr>
        <p:spPr>
          <a:xfrm>
            <a:off x="8164336" y="6456033"/>
            <a:ext cx="522464" cy="246221"/>
          </a:xfrm>
          <a:prstGeom prst="rect">
            <a:avLst/>
          </a:prstGeom>
          <a:noFill/>
        </p:spPr>
        <p:txBody>
          <a:bodyPr wrap="square" lIns="0" rIns="0" rtlCol="0">
            <a:noAutofit/>
          </a:bodyPr>
          <a:lstStyle/>
          <a:p>
            <a:pPr algn="r"/>
            <a:fld id="{8EF3A903-7F25-E440-BA55-7115C69D9986}" type="slidenum">
              <a:rPr lang="en-US" sz="1000" smtClean="0">
                <a:solidFill>
                  <a:srgbClr val="838383"/>
                </a:solidFill>
              </a:rPr>
              <a:t>‹#›</a:t>
            </a:fld>
            <a:endParaRPr lang="en-US" sz="1000" dirty="0" smtClean="0">
              <a:solidFill>
                <a:srgbClr val="838383"/>
              </a:solidFill>
            </a:endParaRPr>
          </a:p>
        </p:txBody>
      </p:sp>
      <p:pic>
        <p:nvPicPr>
          <p:cNvPr id="4" name="Picture 3" descr="APGGR_CSP2558_GRCLogo_Update_FNL 2.gif"/>
          <p:cNvPicPr>
            <a:picLocks noChangeAspect="1"/>
          </p:cNvPicPr>
          <p:nvPr/>
        </p:nvPicPr>
        <p:blipFill rotWithShape="1">
          <a:blip r:embed="rId53">
            <a:extLst>
              <a:ext uri="{28A0092B-C50C-407E-A947-70E740481C1C}">
                <a14:useLocalDpi xmlns:a14="http://schemas.microsoft.com/office/drawing/2010/main" val="0"/>
              </a:ext>
            </a:extLst>
          </a:blip>
          <a:srcRect r="68120"/>
          <a:stretch/>
        </p:blipFill>
        <p:spPr>
          <a:xfrm>
            <a:off x="4301289" y="6186821"/>
            <a:ext cx="537411" cy="564285"/>
          </a:xfrm>
          <a:prstGeom prst="rect">
            <a:avLst/>
          </a:prstGeom>
        </p:spPr>
      </p:pic>
    </p:spTree>
    <p:extLst>
      <p:ext uri="{BB962C8B-B14F-4D97-AF65-F5344CB8AC3E}">
        <p14:creationId xmlns:p14="http://schemas.microsoft.com/office/powerpoint/2010/main" val="3484904435"/>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 id="2147483712" r:id="rId19"/>
    <p:sldLayoutId id="2147483713" r:id="rId20"/>
    <p:sldLayoutId id="2147483714" r:id="rId21"/>
    <p:sldLayoutId id="2147483715" r:id="rId22"/>
    <p:sldLayoutId id="2147483716" r:id="rId23"/>
    <p:sldLayoutId id="2147483717" r:id="rId24"/>
    <p:sldLayoutId id="2147483718" r:id="rId25"/>
    <p:sldLayoutId id="2147483719" r:id="rId26"/>
    <p:sldLayoutId id="2147483720" r:id="rId27"/>
    <p:sldLayoutId id="2147483721" r:id="rId28"/>
    <p:sldLayoutId id="2147483722" r:id="rId29"/>
    <p:sldLayoutId id="2147483723" r:id="rId30"/>
    <p:sldLayoutId id="2147483724" r:id="rId31"/>
    <p:sldLayoutId id="2147483725" r:id="rId32"/>
    <p:sldLayoutId id="2147483726" r:id="rId33"/>
    <p:sldLayoutId id="2147483676" r:id="rId34"/>
    <p:sldLayoutId id="2147483677" r:id="rId35"/>
    <p:sldLayoutId id="2147483672" r:id="rId36"/>
    <p:sldLayoutId id="2147483678" r:id="rId37"/>
    <p:sldLayoutId id="2147483669" r:id="rId38"/>
    <p:sldLayoutId id="2147483652" r:id="rId39"/>
    <p:sldLayoutId id="2147483673" r:id="rId40"/>
    <p:sldLayoutId id="2147483679" r:id="rId41"/>
    <p:sldLayoutId id="2147483686" r:id="rId42"/>
    <p:sldLayoutId id="2147483651" r:id="rId43"/>
    <p:sldLayoutId id="2147483687" r:id="rId44"/>
    <p:sldLayoutId id="2147483688" r:id="rId45"/>
    <p:sldLayoutId id="2147483689" r:id="rId46"/>
    <p:sldLayoutId id="2147483690" r:id="rId47"/>
    <p:sldLayoutId id="2147483691" r:id="rId48"/>
    <p:sldLayoutId id="2147483667" r:id="rId49"/>
    <p:sldLayoutId id="2147483666" r:id="rId50"/>
    <p:sldLayoutId id="2147483661" r:id="rId51"/>
  </p:sldLayoutIdLst>
  <p:txStyles>
    <p:titleStyle>
      <a:lvl1pPr algn="l" defTabSz="457200" rtl="0" eaLnBrk="1" latinLnBrk="0" hangingPunct="1">
        <a:spcBef>
          <a:spcPct val="0"/>
        </a:spcBef>
        <a:buNone/>
        <a:defRPr sz="2800" kern="1200">
          <a:solidFill>
            <a:schemeClr val="tx2"/>
          </a:solidFill>
          <a:latin typeface="+mj-lt"/>
          <a:ea typeface="+mj-ea"/>
          <a:cs typeface="+mj-cs"/>
        </a:defRPr>
      </a:lvl1pPr>
    </p:titleStyle>
    <p:bodyStyle>
      <a:lvl1pPr marL="169863" indent="-169863" algn="l" defTabSz="457200" rtl="0" eaLnBrk="1" latinLnBrk="0" hangingPunct="1">
        <a:spcBef>
          <a:spcPts val="0"/>
        </a:spcBef>
        <a:spcAft>
          <a:spcPts val="0"/>
        </a:spcAft>
        <a:buFont typeface="Arial"/>
        <a:buChar char="•"/>
        <a:defRPr sz="1800" kern="1200">
          <a:solidFill>
            <a:schemeClr val="tx1"/>
          </a:solidFill>
          <a:latin typeface="+mn-lt"/>
          <a:ea typeface="+mn-ea"/>
          <a:cs typeface="+mn-cs"/>
        </a:defRPr>
      </a:lvl1pPr>
      <a:lvl2pPr marL="346075" indent="-176213" algn="l" defTabSz="457200" rtl="0" eaLnBrk="1" latinLnBrk="0" hangingPunct="1">
        <a:spcBef>
          <a:spcPts val="0"/>
        </a:spcBef>
        <a:spcAft>
          <a:spcPts val="0"/>
        </a:spcAft>
        <a:buFont typeface="Lucida Grande"/>
        <a:buChar char="-"/>
        <a:defRPr sz="1800" kern="1200">
          <a:solidFill>
            <a:schemeClr val="tx1"/>
          </a:solidFill>
          <a:latin typeface="+mn-lt"/>
          <a:ea typeface="+mn-ea"/>
          <a:cs typeface="+mn-cs"/>
        </a:defRPr>
      </a:lvl2pPr>
      <a:lvl3pPr marL="514350" indent="-168275" algn="l" defTabSz="457200" rtl="0" eaLnBrk="1" latinLnBrk="0" hangingPunct="1">
        <a:spcBef>
          <a:spcPts val="0"/>
        </a:spcBef>
        <a:spcAft>
          <a:spcPts val="0"/>
        </a:spcAft>
        <a:buFont typeface="Arial"/>
        <a:buChar char="•"/>
        <a:defRPr sz="1800" kern="1200">
          <a:solidFill>
            <a:schemeClr val="tx1"/>
          </a:solidFill>
          <a:latin typeface="+mn-lt"/>
          <a:ea typeface="+mn-ea"/>
          <a:cs typeface="+mn-cs"/>
        </a:defRPr>
      </a:lvl3pPr>
      <a:lvl4pPr marL="684213" indent="-169863" algn="l" defTabSz="457200" rtl="0" eaLnBrk="1" latinLnBrk="0" hangingPunct="1">
        <a:spcBef>
          <a:spcPts val="0"/>
        </a:spcBef>
        <a:spcAft>
          <a:spcPts val="0"/>
        </a:spcAft>
        <a:buFont typeface="Lucida Grande"/>
        <a:buChar char="-"/>
        <a:defRPr sz="1800" kern="1200">
          <a:solidFill>
            <a:schemeClr val="tx1"/>
          </a:solidFill>
          <a:latin typeface="+mn-lt"/>
          <a:ea typeface="+mn-ea"/>
          <a:cs typeface="+mn-cs"/>
        </a:defRPr>
      </a:lvl4pPr>
      <a:lvl5pPr marL="860425" indent="-176213" algn="l" defTabSz="457200" rtl="0" eaLnBrk="1" latinLnBrk="0" hangingPunct="1">
        <a:spcBef>
          <a:spcPts val="0"/>
        </a:spcBef>
        <a:spcAft>
          <a:spcPts val="0"/>
        </a:spcAft>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535872"/>
            <a:ext cx="8229600" cy="1541503"/>
          </a:xfrm>
        </p:spPr>
        <p:txBody>
          <a:bodyPr/>
          <a:lstStyle/>
          <a:p>
            <a:pPr algn="ctr"/>
            <a:r>
              <a:rPr lang="en-US" sz="4800" dirty="0" smtClean="0">
                <a:solidFill>
                  <a:schemeClr val="tx2"/>
                </a:solidFill>
              </a:rPr>
              <a:t>Credit Reporting and</a:t>
            </a:r>
            <a:br>
              <a:rPr lang="en-US" sz="4800" dirty="0" smtClean="0">
                <a:solidFill>
                  <a:schemeClr val="tx2"/>
                </a:solidFill>
              </a:rPr>
            </a:br>
            <a:r>
              <a:rPr lang="en-US" sz="4800" dirty="0" smtClean="0">
                <a:solidFill>
                  <a:schemeClr val="tx2"/>
                </a:solidFill>
              </a:rPr>
              <a:t>The Fair Credit Reporting Act</a:t>
            </a:r>
            <a:br>
              <a:rPr lang="en-US" sz="4800" dirty="0" smtClean="0">
                <a:solidFill>
                  <a:schemeClr val="tx2"/>
                </a:solidFill>
              </a:rPr>
            </a:br>
            <a:r>
              <a:rPr lang="en-US" sz="2400" dirty="0" smtClean="0">
                <a:solidFill>
                  <a:schemeClr val="tx2"/>
                </a:solidFill>
              </a:rPr>
              <a:t/>
            </a:r>
            <a:br>
              <a:rPr lang="en-US" sz="2400" dirty="0" smtClean="0">
                <a:solidFill>
                  <a:schemeClr val="tx2"/>
                </a:solidFill>
              </a:rPr>
            </a:br>
            <a:r>
              <a:rPr lang="en-US" sz="3200" dirty="0" smtClean="0">
                <a:solidFill>
                  <a:schemeClr val="tx2"/>
                </a:solidFill>
              </a:rPr>
              <a:t>Presented </a:t>
            </a:r>
            <a:r>
              <a:rPr lang="en-US" sz="3200" dirty="0" smtClean="0">
                <a:solidFill>
                  <a:schemeClr val="tx2"/>
                </a:solidFill>
              </a:rPr>
              <a:t>by </a:t>
            </a:r>
            <a:br>
              <a:rPr lang="en-US" sz="3200" dirty="0" smtClean="0">
                <a:solidFill>
                  <a:schemeClr val="tx2"/>
                </a:solidFill>
              </a:rPr>
            </a:br>
            <a:r>
              <a:rPr lang="en-US" sz="3200" dirty="0" smtClean="0">
                <a:solidFill>
                  <a:schemeClr val="tx2"/>
                </a:solidFill>
              </a:rPr>
              <a:t>General Revenue </a:t>
            </a:r>
            <a:r>
              <a:rPr lang="en-US" sz="3200" dirty="0" smtClean="0">
                <a:solidFill>
                  <a:schemeClr val="tx2"/>
                </a:solidFill>
              </a:rPr>
              <a:t>Corporation</a:t>
            </a:r>
            <a:br>
              <a:rPr lang="en-US" sz="3200" dirty="0" smtClean="0">
                <a:solidFill>
                  <a:schemeClr val="tx2"/>
                </a:solidFill>
              </a:rPr>
            </a:br>
            <a:r>
              <a:rPr lang="en-US" sz="2000" dirty="0" smtClean="0">
                <a:solidFill>
                  <a:schemeClr val="tx2"/>
                </a:solidFill>
              </a:rPr>
              <a:t>June 2016</a:t>
            </a:r>
            <a:r>
              <a:rPr lang="en-US" sz="3200" dirty="0" smtClean="0">
                <a:solidFill>
                  <a:schemeClr val="tx2"/>
                </a:solidFill>
              </a:rPr>
              <a:t/>
            </a:r>
            <a:br>
              <a:rPr lang="en-US" sz="3200" dirty="0" smtClean="0">
                <a:solidFill>
                  <a:schemeClr val="tx2"/>
                </a:solidFill>
              </a:rPr>
            </a:br>
            <a:r>
              <a:rPr lang="en-US" sz="3600" dirty="0" smtClean="0">
                <a:solidFill>
                  <a:schemeClr val="tx2"/>
                </a:solidFill>
              </a:rPr>
              <a:t/>
            </a:r>
            <a:br>
              <a:rPr lang="en-US" sz="3600" dirty="0" smtClean="0">
                <a:solidFill>
                  <a:schemeClr val="tx2"/>
                </a:solidFill>
              </a:rPr>
            </a:br>
            <a:r>
              <a:rPr lang="en-US" sz="2800" dirty="0" smtClean="0">
                <a:solidFill>
                  <a:schemeClr val="tx2"/>
                </a:solidFill>
              </a:rPr>
              <a:t>Hosted by </a:t>
            </a:r>
            <a:br>
              <a:rPr lang="en-US" sz="2800" dirty="0" smtClean="0">
                <a:solidFill>
                  <a:schemeClr val="tx2"/>
                </a:solidFill>
              </a:rPr>
            </a:br>
            <a:r>
              <a:rPr lang="en-US" sz="2800" dirty="0" smtClean="0">
                <a:solidFill>
                  <a:schemeClr val="tx2"/>
                </a:solidFill>
              </a:rPr>
              <a:t>Evelyn Capodanno, </a:t>
            </a:r>
            <a:br>
              <a:rPr lang="en-US" sz="2800" dirty="0" smtClean="0">
                <a:solidFill>
                  <a:schemeClr val="tx2"/>
                </a:solidFill>
              </a:rPr>
            </a:br>
            <a:r>
              <a:rPr lang="en-US" sz="2800" dirty="0" smtClean="0">
                <a:solidFill>
                  <a:schemeClr val="tx2"/>
                </a:solidFill>
              </a:rPr>
              <a:t>Senior Director of Compliance</a:t>
            </a:r>
            <a:endParaRPr lang="en-US" sz="2800" dirty="0">
              <a:solidFill>
                <a:schemeClr val="tx2"/>
              </a:solidFill>
            </a:endParaRPr>
          </a:p>
        </p:txBody>
      </p:sp>
    </p:spTree>
    <p:extLst>
      <p:ext uri="{BB962C8B-B14F-4D97-AF65-F5344CB8AC3E}">
        <p14:creationId xmlns:p14="http://schemas.microsoft.com/office/powerpoint/2010/main" val="420608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p:txBody>
          <a:bodyPr/>
          <a:lstStyle/>
          <a:p>
            <a:pPr lvl="0"/>
            <a:r>
              <a:rPr lang="en-US" dirty="0" smtClean="0">
                <a:solidFill>
                  <a:schemeClr val="tx2"/>
                </a:solidFill>
              </a:rPr>
              <a:t>Fair Credit </a:t>
            </a:r>
            <a:r>
              <a:rPr lang="en-US" dirty="0">
                <a:solidFill>
                  <a:schemeClr val="tx2"/>
                </a:solidFill>
              </a:rPr>
              <a:t>Reporting Act (FCRA)</a:t>
            </a:r>
            <a:r>
              <a:rPr lang="en-US" dirty="0" smtClean="0">
                <a:solidFill>
                  <a:srgbClr val="FF0000"/>
                </a:solidFill>
              </a:rPr>
              <a:t/>
            </a:r>
            <a:br>
              <a:rPr lang="en-US" dirty="0" smtClean="0">
                <a:solidFill>
                  <a:srgbClr val="FF0000"/>
                </a:solidFill>
              </a:rPr>
            </a:br>
            <a:endParaRPr lang="en-US" dirty="0">
              <a:solidFill>
                <a:srgbClr val="FF0000"/>
              </a:solidFill>
            </a:endParaRPr>
          </a:p>
          <a:p>
            <a:r>
              <a:rPr lang="en-US" dirty="0" smtClean="0">
                <a:solidFill>
                  <a:schemeClr val="tx2"/>
                </a:solidFill>
              </a:rPr>
              <a:t>Credit Reporting</a:t>
            </a:r>
            <a:endParaRPr lang="en-US" dirty="0">
              <a:solidFill>
                <a:schemeClr val="tx2"/>
              </a:solidFill>
            </a:endParaRPr>
          </a:p>
          <a:p>
            <a:endParaRPr lang="en-US" dirty="0">
              <a:solidFill>
                <a:schemeClr val="tx2"/>
              </a:solidFill>
            </a:endParaRPr>
          </a:p>
          <a:p>
            <a:r>
              <a:rPr lang="en-US" dirty="0" smtClean="0">
                <a:solidFill>
                  <a:schemeClr val="tx2"/>
                </a:solidFill>
              </a:rPr>
              <a:t>Credit Reporting Disputes</a:t>
            </a:r>
          </a:p>
          <a:p>
            <a:endParaRPr lang="en-US" dirty="0">
              <a:solidFill>
                <a:schemeClr val="tx2"/>
              </a:solidFill>
            </a:endParaRPr>
          </a:p>
          <a:p>
            <a:r>
              <a:rPr lang="en-US" dirty="0" smtClean="0">
                <a:solidFill>
                  <a:schemeClr val="tx2"/>
                </a:solidFill>
              </a:rPr>
              <a:t>Upcoming Changes and Consumer Reporting Agency Business Rules</a:t>
            </a:r>
          </a:p>
          <a:p>
            <a:endParaRPr lang="en-US" dirty="0">
              <a:solidFill>
                <a:schemeClr val="tx2"/>
              </a:solidFill>
            </a:endParaRPr>
          </a:p>
          <a:p>
            <a:r>
              <a:rPr lang="en-US" dirty="0" smtClean="0">
                <a:solidFill>
                  <a:schemeClr val="tx2"/>
                </a:solidFill>
              </a:rPr>
              <a:t>What the FCRA Means To </a:t>
            </a:r>
            <a:r>
              <a:rPr lang="en-US" dirty="0">
                <a:solidFill>
                  <a:schemeClr val="tx2"/>
                </a:solidFill>
              </a:rPr>
              <a:t>Y</a:t>
            </a:r>
            <a:r>
              <a:rPr lang="en-US" dirty="0" smtClean="0">
                <a:solidFill>
                  <a:schemeClr val="tx2"/>
                </a:solidFill>
              </a:rPr>
              <a:t>ou </a:t>
            </a:r>
            <a:r>
              <a:rPr lang="en-US" dirty="0">
                <a:solidFill>
                  <a:schemeClr val="tx2"/>
                </a:solidFill>
              </a:rPr>
              <a:t>A</a:t>
            </a:r>
            <a:r>
              <a:rPr lang="en-US" dirty="0" smtClean="0">
                <a:solidFill>
                  <a:schemeClr val="tx2"/>
                </a:solidFill>
              </a:rPr>
              <a:t>s A Creditor</a:t>
            </a:r>
          </a:p>
          <a:p>
            <a:endParaRPr lang="en-US" dirty="0">
              <a:solidFill>
                <a:schemeClr val="tx2"/>
              </a:solidFill>
            </a:endParaRPr>
          </a:p>
          <a:p>
            <a:r>
              <a:rPr lang="en-US" dirty="0" smtClean="0">
                <a:solidFill>
                  <a:schemeClr val="tx2"/>
                </a:solidFill>
              </a:rPr>
              <a:t>Questions &amp; Answers</a:t>
            </a:r>
          </a:p>
          <a:p>
            <a:endParaRPr lang="en-US" dirty="0" smtClean="0"/>
          </a:p>
          <a:p>
            <a:endParaRPr lang="en-US" dirty="0" smtClean="0"/>
          </a:p>
        </p:txBody>
      </p:sp>
    </p:spTree>
    <p:extLst>
      <p:ext uri="{BB962C8B-B14F-4D97-AF65-F5344CB8AC3E}">
        <p14:creationId xmlns:p14="http://schemas.microsoft.com/office/powerpoint/2010/main" val="7336616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0488" y="2143654"/>
            <a:ext cx="8229600" cy="1470025"/>
          </a:xfrm>
        </p:spPr>
        <p:txBody>
          <a:bodyPr/>
          <a:lstStyle/>
          <a:p>
            <a:r>
              <a:rPr lang="en-US" sz="3600" dirty="0" smtClean="0">
                <a:solidFill>
                  <a:schemeClr val="tx2"/>
                </a:solidFill>
              </a:rPr>
              <a:t>Fair Credit Reporting Act (FCRA)</a:t>
            </a:r>
            <a:endParaRPr lang="en-US" sz="3600" dirty="0">
              <a:solidFill>
                <a:schemeClr val="tx2"/>
              </a:solidFill>
            </a:endParaRPr>
          </a:p>
        </p:txBody>
      </p:sp>
      <p:sp>
        <p:nvSpPr>
          <p:cNvPr id="3" name="Subtitle 2"/>
          <p:cNvSpPr>
            <a:spLocks noGrp="1"/>
          </p:cNvSpPr>
          <p:nvPr>
            <p:ph type="subTitle" idx="1"/>
          </p:nvPr>
        </p:nvSpPr>
        <p:spPr/>
        <p:txBody>
          <a:bodyPr/>
          <a:lstStyle/>
          <a:p>
            <a:endParaRPr lang="en-US" dirty="0" smtClean="0"/>
          </a:p>
          <a:p>
            <a:r>
              <a:rPr lang="en-US" dirty="0" smtClean="0"/>
              <a:t> </a:t>
            </a:r>
          </a:p>
          <a:p>
            <a:endParaRPr lang="en-US" dirty="0"/>
          </a:p>
          <a:p>
            <a:endParaRPr lang="en-US" sz="1000" dirty="0">
              <a:solidFill>
                <a:srgbClr val="FF0000"/>
              </a:solidFill>
            </a:endParaRPr>
          </a:p>
        </p:txBody>
      </p:sp>
    </p:spTree>
    <p:extLst>
      <p:ext uri="{BB962C8B-B14F-4D97-AF65-F5344CB8AC3E}">
        <p14:creationId xmlns:p14="http://schemas.microsoft.com/office/powerpoint/2010/main" val="38195285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Fair Credit Reporting Act - History</a:t>
            </a:r>
            <a:endParaRPr lang="en-US" dirty="0"/>
          </a:p>
        </p:txBody>
      </p:sp>
      <p:sp>
        <p:nvSpPr>
          <p:cNvPr id="3" name="Content Placeholder 2"/>
          <p:cNvSpPr>
            <a:spLocks noGrp="1"/>
          </p:cNvSpPr>
          <p:nvPr>
            <p:ph idx="1"/>
          </p:nvPr>
        </p:nvSpPr>
        <p:spPr>
          <a:xfrm>
            <a:off x="458218" y="966651"/>
            <a:ext cx="8229600" cy="5294812"/>
          </a:xfrm>
        </p:spPr>
        <p:txBody>
          <a:bodyPr/>
          <a:lstStyle/>
          <a:p>
            <a:pPr marL="169862" lvl="1" indent="0">
              <a:buNone/>
            </a:pPr>
            <a:endParaRPr lang="en-US" sz="1200" dirty="0" smtClean="0"/>
          </a:p>
          <a:p>
            <a:pPr marL="169862" lvl="1" indent="0">
              <a:buNone/>
            </a:pPr>
            <a:endParaRPr lang="en-US" sz="1200" dirty="0"/>
          </a:p>
          <a:p>
            <a:pPr marL="169862" lvl="1" indent="0">
              <a:buNone/>
            </a:pPr>
            <a:endParaRPr lang="en-US" sz="1200" dirty="0" smtClean="0"/>
          </a:p>
          <a:p>
            <a:pPr marL="169862" lvl="1" indent="0">
              <a:buNone/>
            </a:pPr>
            <a:endParaRPr lang="en-US" sz="1200" dirty="0"/>
          </a:p>
          <a:p>
            <a:pPr marL="169862" lvl="1" indent="0">
              <a:buNone/>
            </a:pPr>
            <a:endParaRPr lang="en-US" sz="1200" dirty="0" smtClean="0"/>
          </a:p>
          <a:p>
            <a:pPr marL="169862" lvl="1" indent="0">
              <a:buNone/>
            </a:pPr>
            <a:endParaRPr lang="en-US" sz="1200" dirty="0" smtClean="0"/>
          </a:p>
          <a:p>
            <a:pPr marL="169862" lvl="1" indent="0">
              <a:buNone/>
            </a:pPr>
            <a:r>
              <a:rPr lang="en-US" sz="1400" dirty="0" smtClean="0"/>
              <a:t>The </a:t>
            </a:r>
            <a:r>
              <a:rPr lang="en-US" sz="1400" dirty="0"/>
              <a:t>concept of "credit reporting" dates back to the middle of the nineteenth century, if not earlier.  Local businesspeople cooperated with one another by sharing information about individuals in the community, and whether they paid their bills on time. </a:t>
            </a:r>
            <a:endParaRPr lang="en-US" sz="1400" dirty="0" smtClean="0"/>
          </a:p>
          <a:p>
            <a:pPr marL="169862" lvl="1" indent="0">
              <a:buNone/>
            </a:pPr>
            <a:endParaRPr lang="en-US" sz="1400" dirty="0"/>
          </a:p>
          <a:p>
            <a:pPr marL="169862" lvl="1" indent="0">
              <a:buNone/>
            </a:pPr>
            <a:r>
              <a:rPr lang="en-US" sz="1400" dirty="0"/>
              <a:t>Over time, local businesspeople banded together, sometimes through a board of trade or chamber of commerce, to build "credit bureaus" that would collect, organize and store information about the individuals in the community.  As the economy expanded and merchants and banks became regional (and then national), the credit bureaus expanded too, and community credit bureaus began sharing </a:t>
            </a:r>
            <a:endParaRPr lang="en-US" sz="1400" dirty="0" smtClean="0"/>
          </a:p>
          <a:p>
            <a:pPr marL="169862" lvl="1" indent="0">
              <a:buNone/>
            </a:pPr>
            <a:r>
              <a:rPr lang="en-US" sz="1400" dirty="0" smtClean="0"/>
              <a:t>information </a:t>
            </a:r>
            <a:r>
              <a:rPr lang="en-US" sz="1400" dirty="0"/>
              <a:t>with one another and building networks of credit bureaus</a:t>
            </a:r>
            <a:r>
              <a:rPr lang="en-US" sz="1400" dirty="0" smtClean="0"/>
              <a:t>.</a:t>
            </a:r>
          </a:p>
          <a:p>
            <a:pPr marL="169862" lvl="1" indent="0">
              <a:buNone/>
            </a:pPr>
            <a:endParaRPr lang="en-US" sz="1400" dirty="0"/>
          </a:p>
          <a:p>
            <a:pPr marL="169862" lvl="1" indent="0">
              <a:buNone/>
            </a:pPr>
            <a:r>
              <a:rPr lang="en-US" sz="1400" dirty="0"/>
              <a:t>In the late 1960's, Congress became concerned that credit reporting companies were collecting a great deal of information about American consumers without their knowledge, and that these "secret" files were being used to make important decisions about consumers, such as whether they got credit, insurance or a job.  Congress also recognized, however, the enormous benefits that the credit reporting system had provided for the economy and consumers - primarily in facilitating the mobility of the population and supporting reliable access to credit and other products for creditworthy consumers.  Congress did not want to jeopardize these benefits, and enacted the</a:t>
            </a:r>
            <a:r>
              <a:rPr lang="en-US" sz="1400" b="1" dirty="0"/>
              <a:t> FCRA </a:t>
            </a:r>
            <a:r>
              <a:rPr lang="en-US" sz="1400" dirty="0"/>
              <a:t>in response. </a:t>
            </a:r>
          </a:p>
        </p:txBody>
      </p:sp>
      <p:pic>
        <p:nvPicPr>
          <p:cNvPr id="5" name="Picture 4" descr="Fun Fact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3155" y="646008"/>
            <a:ext cx="1170285" cy="1170285"/>
          </a:xfrm>
          <a:prstGeom prst="rect">
            <a:avLst/>
          </a:prstGeom>
        </p:spPr>
      </p:pic>
    </p:spTree>
    <p:extLst>
      <p:ext uri="{BB962C8B-B14F-4D97-AF65-F5344CB8AC3E}">
        <p14:creationId xmlns:p14="http://schemas.microsoft.com/office/powerpoint/2010/main" val="166817174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Fair Credit Reporting Act</a:t>
            </a:r>
            <a:endParaRPr lang="en-US" dirty="0"/>
          </a:p>
        </p:txBody>
      </p:sp>
      <p:sp>
        <p:nvSpPr>
          <p:cNvPr id="3" name="Content Placeholder 2"/>
          <p:cNvSpPr>
            <a:spLocks noGrp="1"/>
          </p:cNvSpPr>
          <p:nvPr>
            <p:ph idx="1"/>
          </p:nvPr>
        </p:nvSpPr>
        <p:spPr>
          <a:xfrm>
            <a:off x="458218" y="966651"/>
            <a:ext cx="8229600" cy="5294812"/>
          </a:xfrm>
        </p:spPr>
        <p:txBody>
          <a:bodyPr/>
          <a:lstStyle/>
          <a:p>
            <a:pPr marL="0" indent="0">
              <a:buNone/>
            </a:pPr>
            <a:r>
              <a:rPr lang="en-US" sz="1400" dirty="0" smtClean="0">
                <a:solidFill>
                  <a:schemeClr val="tx2"/>
                </a:solidFill>
              </a:rPr>
              <a:t>Congress enacted the Fair Credit Reporting Act (“FCRA”) in 1970 to protect consumers from the misuse of information contained in consumer reports and to ensure the accuracy of the information contained in those reports. </a:t>
            </a:r>
            <a:r>
              <a:rPr lang="en-US" altLang="en-US" sz="1400" dirty="0" smtClean="0">
                <a:solidFill>
                  <a:schemeClr val="tx2"/>
                </a:solidFill>
              </a:rPr>
              <a:t>The Fair and Accurate Credit Transactions Act of 2003 (“FACT Act”) amended the FCRA and established the “Accuracy and Integrity” and “Direct Dispute” Rules imposed on Data Furnishers. </a:t>
            </a:r>
            <a:endParaRPr lang="en-US" sz="1400" dirty="0" smtClean="0">
              <a:solidFill>
                <a:schemeClr val="tx2"/>
              </a:solidFill>
            </a:endParaRPr>
          </a:p>
          <a:p>
            <a:pPr marL="0" indent="0">
              <a:buNone/>
            </a:pPr>
            <a:endParaRPr lang="en-US" altLang="en-US" sz="1400" dirty="0" smtClean="0">
              <a:solidFill>
                <a:schemeClr val="tx2"/>
              </a:solidFill>
            </a:endParaRPr>
          </a:p>
          <a:p>
            <a:pPr marL="0" indent="0">
              <a:buNone/>
            </a:pPr>
            <a:r>
              <a:rPr lang="en-US" sz="1400" dirty="0" smtClean="0">
                <a:solidFill>
                  <a:schemeClr val="tx2"/>
                </a:solidFill>
              </a:rPr>
              <a:t>The FCRA today provides </a:t>
            </a:r>
            <a:r>
              <a:rPr lang="en-US" sz="1400" b="1" dirty="0" smtClean="0">
                <a:solidFill>
                  <a:schemeClr val="tx2"/>
                </a:solidFill>
              </a:rPr>
              <a:t>consumers with important rights</a:t>
            </a:r>
            <a:r>
              <a:rPr lang="en-US" sz="1400" dirty="0" smtClean="0">
                <a:solidFill>
                  <a:schemeClr val="tx2"/>
                </a:solidFill>
              </a:rPr>
              <a:t>, and </a:t>
            </a:r>
            <a:r>
              <a:rPr lang="en-US" sz="1400" b="1" dirty="0" smtClean="0">
                <a:solidFill>
                  <a:schemeClr val="tx2"/>
                </a:solidFill>
              </a:rPr>
              <a:t>imposes certain duties</a:t>
            </a:r>
            <a:r>
              <a:rPr lang="en-US" sz="1400" dirty="0" smtClean="0">
                <a:solidFill>
                  <a:schemeClr val="tx2"/>
                </a:solidFill>
              </a:rPr>
              <a:t> on Consumer Reporting Agencies (“CRAs”), Users of Consumer Reports (“Data Users”), and Data Furnishers.</a:t>
            </a:r>
          </a:p>
          <a:p>
            <a:pPr marL="0" indent="0">
              <a:buNone/>
            </a:pPr>
            <a:endParaRPr lang="en-US" sz="1400" dirty="0">
              <a:solidFill>
                <a:schemeClr val="tx2"/>
              </a:solidFill>
            </a:endParaRPr>
          </a:p>
          <a:p>
            <a:pPr marL="0" indent="-6350">
              <a:buNone/>
            </a:pPr>
            <a:r>
              <a:rPr lang="en-US" sz="1200" b="1" i="1" u="sng" dirty="0">
                <a:solidFill>
                  <a:schemeClr val="tx2"/>
                </a:solidFill>
              </a:rPr>
              <a:t>Key </a:t>
            </a:r>
            <a:r>
              <a:rPr lang="en-US" sz="1200" b="1" i="1" u="sng" dirty="0" smtClean="0">
                <a:solidFill>
                  <a:schemeClr val="tx2"/>
                </a:solidFill>
              </a:rPr>
              <a:t>Definitions:</a:t>
            </a:r>
            <a:endParaRPr lang="en-US" sz="1200" b="1" i="1" u="sng" dirty="0">
              <a:solidFill>
                <a:schemeClr val="tx2"/>
              </a:solidFill>
            </a:endParaRPr>
          </a:p>
          <a:p>
            <a:pPr marL="169862" lvl="1" indent="0">
              <a:buNone/>
            </a:pPr>
            <a:endParaRPr lang="en-US" sz="1100" dirty="0" smtClean="0">
              <a:solidFill>
                <a:schemeClr val="tx2"/>
              </a:solidFill>
            </a:endParaRPr>
          </a:p>
          <a:p>
            <a:pPr marL="398462" lvl="1" indent="-228600">
              <a:buAutoNum type="arabicParenR"/>
            </a:pPr>
            <a:r>
              <a:rPr lang="en-US" sz="1100" u="sng" dirty="0" smtClean="0">
                <a:solidFill>
                  <a:schemeClr val="tx2"/>
                </a:solidFill>
              </a:rPr>
              <a:t>Consumer </a:t>
            </a:r>
            <a:r>
              <a:rPr lang="en-US" sz="1100" u="sng" dirty="0">
                <a:solidFill>
                  <a:schemeClr val="tx2"/>
                </a:solidFill>
              </a:rPr>
              <a:t>Reporting </a:t>
            </a:r>
            <a:r>
              <a:rPr lang="en-US" sz="1100" u="sng" dirty="0" smtClean="0">
                <a:solidFill>
                  <a:schemeClr val="tx2"/>
                </a:solidFill>
              </a:rPr>
              <a:t>Agencies</a:t>
            </a:r>
            <a:r>
              <a:rPr lang="en-US" sz="1100" dirty="0" smtClean="0">
                <a:solidFill>
                  <a:schemeClr val="tx2"/>
                </a:solidFill>
              </a:rPr>
              <a:t>:  </a:t>
            </a:r>
            <a:r>
              <a:rPr lang="en-US" sz="1100" i="1" dirty="0" smtClean="0">
                <a:solidFill>
                  <a:schemeClr val="tx2"/>
                </a:solidFill>
              </a:rPr>
              <a:t>Individual </a:t>
            </a:r>
            <a:r>
              <a:rPr lang="en-US" sz="1100" i="1" dirty="0">
                <a:solidFill>
                  <a:schemeClr val="tx2"/>
                </a:solidFill>
              </a:rPr>
              <a:t>companies that collect, store, maintain and distribute information on consumer credit </a:t>
            </a:r>
            <a:r>
              <a:rPr lang="en-US" sz="1100" i="1" dirty="0" smtClean="0">
                <a:solidFill>
                  <a:schemeClr val="tx2"/>
                </a:solidFill>
              </a:rPr>
              <a:t>history.</a:t>
            </a:r>
            <a:br>
              <a:rPr lang="en-US" sz="1100" i="1" dirty="0" smtClean="0">
                <a:solidFill>
                  <a:schemeClr val="tx2"/>
                </a:solidFill>
              </a:rPr>
            </a:br>
            <a:endParaRPr lang="en-US" sz="1100" i="1" dirty="0" smtClean="0">
              <a:solidFill>
                <a:schemeClr val="tx2"/>
              </a:solidFill>
            </a:endParaRPr>
          </a:p>
          <a:p>
            <a:pPr marL="398462" lvl="1" indent="-228600">
              <a:buAutoNum type="arabicParenR"/>
            </a:pPr>
            <a:r>
              <a:rPr lang="en-US" sz="1100" u="sng" dirty="0" smtClean="0">
                <a:solidFill>
                  <a:schemeClr val="tx2"/>
                </a:solidFill>
              </a:rPr>
              <a:t>Data Users</a:t>
            </a:r>
            <a:r>
              <a:rPr lang="en-US" sz="1100" dirty="0" smtClean="0">
                <a:solidFill>
                  <a:schemeClr val="tx2"/>
                </a:solidFill>
              </a:rPr>
              <a:t>:  </a:t>
            </a:r>
            <a:r>
              <a:rPr lang="en-US" sz="1100" i="1" dirty="0" smtClean="0">
                <a:solidFill>
                  <a:schemeClr val="tx2"/>
                </a:solidFill>
              </a:rPr>
              <a:t>Entities that use consumer reports to determine a consumer’s eligibility for credit, insurance, employment, etc.</a:t>
            </a:r>
            <a:r>
              <a:rPr lang="en-US" sz="1100" dirty="0" smtClean="0">
                <a:solidFill>
                  <a:schemeClr val="tx2"/>
                </a:solidFill>
              </a:rPr>
              <a:t/>
            </a:r>
            <a:br>
              <a:rPr lang="en-US" sz="1100" dirty="0" smtClean="0">
                <a:solidFill>
                  <a:schemeClr val="tx2"/>
                </a:solidFill>
              </a:rPr>
            </a:br>
            <a:endParaRPr lang="en-US" sz="1100" dirty="0" smtClean="0">
              <a:solidFill>
                <a:schemeClr val="tx2"/>
              </a:solidFill>
            </a:endParaRPr>
          </a:p>
          <a:p>
            <a:pPr marL="398462" lvl="1" indent="-228600">
              <a:buAutoNum type="arabicParenR"/>
            </a:pPr>
            <a:r>
              <a:rPr lang="en-US" sz="1100" b="1" u="sng" dirty="0" smtClean="0">
                <a:solidFill>
                  <a:schemeClr val="tx2"/>
                </a:solidFill>
              </a:rPr>
              <a:t>Data Furnishers:</a:t>
            </a:r>
            <a:r>
              <a:rPr lang="en-US" sz="1100" b="1" dirty="0" smtClean="0">
                <a:solidFill>
                  <a:schemeClr val="tx2"/>
                </a:solidFill>
              </a:rPr>
              <a:t>  </a:t>
            </a:r>
            <a:r>
              <a:rPr lang="en-US" sz="1100" i="1" dirty="0" smtClean="0">
                <a:solidFill>
                  <a:schemeClr val="tx2"/>
                </a:solidFill>
              </a:rPr>
              <a:t>Entities </a:t>
            </a:r>
            <a:r>
              <a:rPr lang="en-US" sz="1100" i="1" dirty="0">
                <a:solidFill>
                  <a:schemeClr val="tx2"/>
                </a:solidFill>
              </a:rPr>
              <a:t>that furnish information about consumers to Consumer Reporting Agencies to be included in a consumer </a:t>
            </a:r>
            <a:r>
              <a:rPr lang="en-US" sz="1100" i="1" dirty="0" smtClean="0">
                <a:solidFill>
                  <a:schemeClr val="tx2"/>
                </a:solidFill>
              </a:rPr>
              <a:t>report</a:t>
            </a:r>
          </a:p>
          <a:p>
            <a:pPr marL="566737" lvl="2" indent="-228600">
              <a:buFont typeface="Arial" panose="020B0604020202020204" pitchFamily="34" charset="0"/>
              <a:buChar char="►"/>
            </a:pPr>
            <a:r>
              <a:rPr lang="en-US" sz="1100" i="1" dirty="0" smtClean="0">
                <a:solidFill>
                  <a:schemeClr val="tx2"/>
                </a:solidFill>
              </a:rPr>
              <a:t>This includes General Revenue Corporation </a:t>
            </a:r>
            <a:br>
              <a:rPr lang="en-US" sz="1100" i="1" dirty="0" smtClean="0">
                <a:solidFill>
                  <a:schemeClr val="tx2"/>
                </a:solidFill>
              </a:rPr>
            </a:br>
            <a:endParaRPr lang="en-US" sz="1100" i="1" dirty="0" smtClean="0">
              <a:solidFill>
                <a:schemeClr val="tx2"/>
              </a:solidFill>
            </a:endParaRPr>
          </a:p>
          <a:p>
            <a:pPr marL="396875" lvl="1" indent="-228600">
              <a:buFont typeface="+mj-lt"/>
              <a:buAutoNum type="arabicPeriod" startAt="4"/>
            </a:pPr>
            <a:r>
              <a:rPr lang="en-US" sz="1100" u="sng" dirty="0" smtClean="0">
                <a:solidFill>
                  <a:schemeClr val="tx2"/>
                </a:solidFill>
              </a:rPr>
              <a:t>Consumer </a:t>
            </a:r>
            <a:r>
              <a:rPr lang="en-US" sz="1100" u="sng" dirty="0">
                <a:solidFill>
                  <a:schemeClr val="tx2"/>
                </a:solidFill>
              </a:rPr>
              <a:t>Report</a:t>
            </a:r>
          </a:p>
          <a:p>
            <a:pPr marL="338137" lvl="2" indent="0">
              <a:buNone/>
              <a:tabLst>
                <a:tab pos="2225675" algn="l"/>
              </a:tabLst>
            </a:pPr>
            <a:r>
              <a:rPr lang="en-US" sz="1100" i="1" dirty="0">
                <a:solidFill>
                  <a:schemeClr val="tx2"/>
                </a:solidFill>
              </a:rPr>
              <a:t>Any written, oral, or other communication of any information by a consumer reporting agency bearing on a consumer’s credit worthiness, credit standing, credit capacity, character, general reputation, personal characteristics, or mode of living which is used or expected to be used or collected in whole or in part for the purpose of serving as a factor in establishing the consumer’s eligibility for</a:t>
            </a:r>
            <a:r>
              <a:rPr lang="en-US" sz="1100" i="1" dirty="0" smtClean="0">
                <a:solidFill>
                  <a:schemeClr val="tx2"/>
                </a:solidFill>
              </a:rPr>
              <a:t>:</a:t>
            </a:r>
          </a:p>
          <a:p>
            <a:pPr marL="566737" lvl="2" indent="-228600">
              <a:buFont typeface="Arial" panose="020B0604020202020204" pitchFamily="34" charset="0"/>
              <a:buChar char="►"/>
            </a:pPr>
            <a:r>
              <a:rPr lang="en-US" sz="1100" i="1" dirty="0" smtClean="0">
                <a:solidFill>
                  <a:schemeClr val="tx2"/>
                </a:solidFill>
              </a:rPr>
              <a:t>credit </a:t>
            </a:r>
            <a:r>
              <a:rPr lang="en-US" sz="1100" i="1" dirty="0">
                <a:solidFill>
                  <a:schemeClr val="tx2"/>
                </a:solidFill>
              </a:rPr>
              <a:t>or insurance to be used primarily for personal, family, or household </a:t>
            </a:r>
            <a:r>
              <a:rPr lang="en-US" sz="1100" i="1" dirty="0" smtClean="0">
                <a:solidFill>
                  <a:schemeClr val="tx2"/>
                </a:solidFill>
              </a:rPr>
              <a:t>purposes;</a:t>
            </a:r>
          </a:p>
          <a:p>
            <a:pPr marL="566737" lvl="2" indent="-228600">
              <a:buFont typeface="Arial" panose="020B0604020202020204" pitchFamily="34" charset="0"/>
              <a:buChar char="►"/>
            </a:pPr>
            <a:r>
              <a:rPr lang="en-US" sz="1100" i="1" dirty="0" smtClean="0">
                <a:solidFill>
                  <a:schemeClr val="tx2"/>
                </a:solidFill>
              </a:rPr>
              <a:t>employment </a:t>
            </a:r>
            <a:r>
              <a:rPr lang="en-US" sz="1100" i="1" dirty="0">
                <a:solidFill>
                  <a:schemeClr val="tx2"/>
                </a:solidFill>
              </a:rPr>
              <a:t>purposes; or </a:t>
            </a:r>
            <a:endParaRPr lang="en-US" sz="1100" i="1" dirty="0" smtClean="0">
              <a:solidFill>
                <a:schemeClr val="tx2"/>
              </a:solidFill>
            </a:endParaRPr>
          </a:p>
          <a:p>
            <a:pPr marL="566737" lvl="2" indent="-228600">
              <a:buFont typeface="Arial" panose="020B0604020202020204" pitchFamily="34" charset="0"/>
              <a:buChar char="►"/>
            </a:pPr>
            <a:r>
              <a:rPr lang="en-US" sz="1100" i="1" dirty="0" smtClean="0">
                <a:solidFill>
                  <a:schemeClr val="tx2"/>
                </a:solidFill>
              </a:rPr>
              <a:t>any </a:t>
            </a:r>
            <a:r>
              <a:rPr lang="en-US" sz="1100" i="1" dirty="0">
                <a:solidFill>
                  <a:schemeClr val="tx2"/>
                </a:solidFill>
              </a:rPr>
              <a:t>other purpose authorized under FCRA</a:t>
            </a:r>
          </a:p>
          <a:p>
            <a:pPr marL="169862" lvl="1" indent="0">
              <a:buNone/>
            </a:pPr>
            <a:endParaRPr lang="en-US" sz="1100" u="sng" dirty="0" smtClean="0"/>
          </a:p>
        </p:txBody>
      </p:sp>
    </p:spTree>
    <p:extLst>
      <p:ext uri="{BB962C8B-B14F-4D97-AF65-F5344CB8AC3E}">
        <p14:creationId xmlns:p14="http://schemas.microsoft.com/office/powerpoint/2010/main" val="27824869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Consumer Rights</a:t>
            </a:r>
            <a:endParaRPr lang="en-US" dirty="0"/>
          </a:p>
        </p:txBody>
      </p:sp>
      <p:sp>
        <p:nvSpPr>
          <p:cNvPr id="3" name="Content Placeholder 2"/>
          <p:cNvSpPr>
            <a:spLocks noGrp="1"/>
          </p:cNvSpPr>
          <p:nvPr>
            <p:ph idx="1"/>
          </p:nvPr>
        </p:nvSpPr>
        <p:spPr>
          <a:xfrm>
            <a:off x="340884" y="1265582"/>
            <a:ext cx="8464268" cy="4800600"/>
          </a:xfrm>
        </p:spPr>
        <p:txBody>
          <a:bodyPr/>
          <a:lstStyle/>
          <a:p>
            <a:pPr marL="169862" lvl="1" indent="0">
              <a:buNone/>
            </a:pPr>
            <a:r>
              <a:rPr lang="en-US" b="1" dirty="0" smtClean="0">
                <a:solidFill>
                  <a:schemeClr val="tx2"/>
                </a:solidFill>
              </a:rPr>
              <a:t>Below are a summary of a consumer’s major rights under the FCRA:</a:t>
            </a:r>
            <a:br>
              <a:rPr lang="en-US" b="1" dirty="0" smtClean="0">
                <a:solidFill>
                  <a:schemeClr val="tx2"/>
                </a:solidFill>
              </a:rPr>
            </a:br>
            <a:endParaRPr lang="en-US" b="1" dirty="0" smtClean="0">
              <a:solidFill>
                <a:schemeClr val="tx2"/>
              </a:solidFill>
            </a:endParaRPr>
          </a:p>
          <a:p>
            <a:pPr marL="574675" lvl="2" indent="-234950">
              <a:buFont typeface="Wingdings" panose="05000000000000000000" pitchFamily="2" charset="2"/>
              <a:buChar char="ü"/>
            </a:pPr>
            <a:r>
              <a:rPr lang="en-US" sz="1400" dirty="0" smtClean="0">
                <a:solidFill>
                  <a:schemeClr val="tx2"/>
                </a:solidFill>
              </a:rPr>
              <a:t>Told</a:t>
            </a:r>
            <a:r>
              <a:rPr lang="en-US" sz="1400" dirty="0" smtClean="0">
                <a:solidFill>
                  <a:srgbClr val="FF0000"/>
                </a:solidFill>
              </a:rPr>
              <a:t> </a:t>
            </a:r>
            <a:r>
              <a:rPr lang="en-US" sz="1400" dirty="0">
                <a:solidFill>
                  <a:schemeClr val="tx2"/>
                </a:solidFill>
              </a:rPr>
              <a:t>if information in </a:t>
            </a:r>
            <a:r>
              <a:rPr lang="en-US" sz="1400" dirty="0" smtClean="0">
                <a:solidFill>
                  <a:schemeClr val="tx2"/>
                </a:solidFill>
              </a:rPr>
              <a:t>their credit </a:t>
            </a:r>
            <a:r>
              <a:rPr lang="en-US" sz="1400" dirty="0">
                <a:solidFill>
                  <a:schemeClr val="tx2"/>
                </a:solidFill>
              </a:rPr>
              <a:t>file has been used against </a:t>
            </a:r>
            <a:r>
              <a:rPr lang="en-US" sz="1400" dirty="0" smtClean="0">
                <a:solidFill>
                  <a:schemeClr val="tx2"/>
                </a:solidFill>
              </a:rPr>
              <a:t>them</a:t>
            </a:r>
          </a:p>
          <a:p>
            <a:pPr marL="574675" lvl="2" indent="-234950">
              <a:buFont typeface="Wingdings" panose="05000000000000000000" pitchFamily="2" charset="2"/>
              <a:buChar char="ü"/>
            </a:pPr>
            <a:r>
              <a:rPr lang="en-US" sz="1400" dirty="0" smtClean="0">
                <a:solidFill>
                  <a:schemeClr val="tx2"/>
                </a:solidFill>
              </a:rPr>
              <a:t>Know </a:t>
            </a:r>
            <a:r>
              <a:rPr lang="en-US" sz="1400" dirty="0">
                <a:solidFill>
                  <a:schemeClr val="tx2"/>
                </a:solidFill>
              </a:rPr>
              <a:t>what is in </a:t>
            </a:r>
            <a:r>
              <a:rPr lang="en-US" sz="1400" dirty="0" smtClean="0">
                <a:solidFill>
                  <a:schemeClr val="tx2"/>
                </a:solidFill>
              </a:rPr>
              <a:t>their credit file</a:t>
            </a:r>
          </a:p>
          <a:p>
            <a:pPr marL="574675" lvl="2" indent="-234950">
              <a:buFont typeface="Wingdings" panose="05000000000000000000" pitchFamily="2" charset="2"/>
              <a:buChar char="ü"/>
            </a:pPr>
            <a:r>
              <a:rPr lang="en-US" sz="1400" dirty="0" smtClean="0">
                <a:solidFill>
                  <a:schemeClr val="tx2"/>
                </a:solidFill>
              </a:rPr>
              <a:t>Receive free credit reports </a:t>
            </a:r>
            <a:r>
              <a:rPr lang="en-US" sz="1400" dirty="0">
                <a:solidFill>
                  <a:schemeClr val="tx2"/>
                </a:solidFill>
              </a:rPr>
              <a:t>annually from each nationwide </a:t>
            </a:r>
            <a:r>
              <a:rPr lang="en-US" sz="1400" dirty="0" smtClean="0">
                <a:solidFill>
                  <a:schemeClr val="tx2"/>
                </a:solidFill>
              </a:rPr>
              <a:t>consumer reporting agency </a:t>
            </a:r>
          </a:p>
          <a:p>
            <a:pPr marL="574675" lvl="2" indent="-234950">
              <a:buFont typeface="Wingdings" panose="05000000000000000000" pitchFamily="2" charset="2"/>
              <a:buChar char="ü"/>
            </a:pPr>
            <a:r>
              <a:rPr lang="en-US" sz="1400" dirty="0" smtClean="0">
                <a:solidFill>
                  <a:schemeClr val="tx2"/>
                </a:solidFill>
              </a:rPr>
              <a:t>Dispute </a:t>
            </a:r>
            <a:r>
              <a:rPr lang="en-US" sz="1400" dirty="0">
                <a:solidFill>
                  <a:schemeClr val="tx2"/>
                </a:solidFill>
              </a:rPr>
              <a:t>incomplete or inaccurate information </a:t>
            </a:r>
          </a:p>
          <a:p>
            <a:pPr marL="574675" lvl="1" indent="-234950">
              <a:buFont typeface="Wingdings" panose="05000000000000000000" pitchFamily="2" charset="2"/>
              <a:buChar char="ü"/>
            </a:pPr>
            <a:r>
              <a:rPr lang="en-US" sz="1400" dirty="0" smtClean="0">
                <a:solidFill>
                  <a:schemeClr val="tx2"/>
                </a:solidFill>
              </a:rPr>
              <a:t>Accessibility </a:t>
            </a:r>
            <a:r>
              <a:rPr lang="en-US" sz="1400" dirty="0">
                <a:solidFill>
                  <a:schemeClr val="tx2"/>
                </a:solidFill>
              </a:rPr>
              <a:t>to credit files is limited</a:t>
            </a:r>
          </a:p>
          <a:p>
            <a:pPr marL="574675" lvl="1" indent="-234950">
              <a:buFont typeface="Wingdings" panose="05000000000000000000" pitchFamily="2" charset="2"/>
              <a:buChar char="ü"/>
            </a:pPr>
            <a:r>
              <a:rPr lang="en-US" sz="1400" dirty="0" smtClean="0">
                <a:solidFill>
                  <a:schemeClr val="tx2"/>
                </a:solidFill>
              </a:rPr>
              <a:t>Limit </a:t>
            </a:r>
            <a:r>
              <a:rPr lang="en-US" sz="1400" dirty="0">
                <a:solidFill>
                  <a:schemeClr val="tx2"/>
                </a:solidFill>
              </a:rPr>
              <a:t>"prescreened" offers of credit and insurance </a:t>
            </a:r>
          </a:p>
          <a:p>
            <a:pPr marL="574675" lvl="1" indent="-234950">
              <a:buFont typeface="Wingdings" panose="05000000000000000000" pitchFamily="2" charset="2"/>
              <a:buChar char="ü"/>
            </a:pPr>
            <a:r>
              <a:rPr lang="en-US" sz="1400" dirty="0">
                <a:solidFill>
                  <a:schemeClr val="tx2"/>
                </a:solidFill>
              </a:rPr>
              <a:t>Give consent for consumer reports to be  provided to employers</a:t>
            </a:r>
          </a:p>
          <a:p>
            <a:pPr marL="574675" lvl="1" indent="-234950">
              <a:buFont typeface="Wingdings" panose="05000000000000000000" pitchFamily="2" charset="2"/>
              <a:buChar char="ü"/>
            </a:pPr>
            <a:r>
              <a:rPr lang="en-US" sz="1400" dirty="0">
                <a:solidFill>
                  <a:schemeClr val="tx2"/>
                </a:solidFill>
              </a:rPr>
              <a:t>Consumer Reporting </a:t>
            </a:r>
            <a:r>
              <a:rPr lang="en-US" sz="1400" dirty="0" smtClean="0">
                <a:solidFill>
                  <a:schemeClr val="tx2"/>
                </a:solidFill>
              </a:rPr>
              <a:t>Agencies (CRA) must </a:t>
            </a:r>
            <a:r>
              <a:rPr lang="en-US" sz="1400" dirty="0">
                <a:solidFill>
                  <a:schemeClr val="tx2"/>
                </a:solidFill>
              </a:rPr>
              <a:t>correct or delete inaccurate, incomplete, or unverifiable information</a:t>
            </a:r>
          </a:p>
          <a:p>
            <a:pPr marL="574675" lvl="1" indent="-234950">
              <a:buFont typeface="Wingdings" panose="05000000000000000000" pitchFamily="2" charset="2"/>
              <a:buChar char="ü"/>
            </a:pPr>
            <a:r>
              <a:rPr lang="en-US" sz="1400" dirty="0" smtClean="0">
                <a:solidFill>
                  <a:schemeClr val="tx2"/>
                </a:solidFill>
              </a:rPr>
              <a:t>CRAs may </a:t>
            </a:r>
            <a:r>
              <a:rPr lang="en-US" sz="1400" dirty="0">
                <a:solidFill>
                  <a:schemeClr val="tx2"/>
                </a:solidFill>
              </a:rPr>
              <a:t>not report outdated negative information</a:t>
            </a:r>
          </a:p>
          <a:p>
            <a:pPr marL="574675" lvl="1" indent="-234950">
              <a:buFont typeface="Wingdings" panose="05000000000000000000" pitchFamily="2" charset="2"/>
              <a:buChar char="ü"/>
            </a:pPr>
            <a:r>
              <a:rPr lang="en-US" sz="1400" dirty="0">
                <a:solidFill>
                  <a:schemeClr val="tx2"/>
                </a:solidFill>
              </a:rPr>
              <a:t>Identity theft victims and active duty military personnel have additional </a:t>
            </a:r>
            <a:r>
              <a:rPr lang="en-US" sz="1400" dirty="0" smtClean="0">
                <a:solidFill>
                  <a:schemeClr val="tx2"/>
                </a:solidFill>
              </a:rPr>
              <a:t>rights</a:t>
            </a:r>
            <a:endParaRPr lang="en-US" sz="1400" dirty="0">
              <a:solidFill>
                <a:schemeClr val="tx2"/>
              </a:solidFill>
            </a:endParaRPr>
          </a:p>
          <a:p>
            <a:pPr marL="574675" lvl="1" indent="-234950">
              <a:buFont typeface="Wingdings" panose="05000000000000000000" pitchFamily="2" charset="2"/>
              <a:buChar char="ü"/>
            </a:pPr>
            <a:r>
              <a:rPr lang="en-US" sz="1400" dirty="0" smtClean="0">
                <a:solidFill>
                  <a:schemeClr val="tx2"/>
                </a:solidFill>
              </a:rPr>
              <a:t>Seek </a:t>
            </a:r>
            <a:r>
              <a:rPr lang="en-US" sz="1400" dirty="0">
                <a:solidFill>
                  <a:schemeClr val="tx2"/>
                </a:solidFill>
              </a:rPr>
              <a:t>civil </a:t>
            </a:r>
            <a:r>
              <a:rPr lang="en-US" sz="1400" dirty="0" smtClean="0">
                <a:solidFill>
                  <a:schemeClr val="tx2"/>
                </a:solidFill>
              </a:rPr>
              <a:t>damages from violators</a:t>
            </a:r>
            <a:endParaRPr lang="en-US" sz="1400" dirty="0">
              <a:solidFill>
                <a:schemeClr val="tx2"/>
              </a:solidFill>
            </a:endParaRPr>
          </a:p>
          <a:p>
            <a:pPr>
              <a:buFont typeface="Wingdings" panose="05000000000000000000" pitchFamily="2" charset="2"/>
              <a:buChar char="ü"/>
            </a:pPr>
            <a:endParaRPr lang="en-US" dirty="0"/>
          </a:p>
          <a:p>
            <a:pPr marL="0" indent="0">
              <a:buNone/>
            </a:pPr>
            <a:endParaRPr lang="en-US" dirty="0"/>
          </a:p>
          <a:p>
            <a:pPr marL="169862" lvl="1" indent="0">
              <a:buNone/>
            </a:pPr>
            <a:endParaRPr lang="en-US" sz="1400" dirty="0"/>
          </a:p>
        </p:txBody>
      </p:sp>
    </p:spTree>
    <p:extLst>
      <p:ext uri="{BB962C8B-B14F-4D97-AF65-F5344CB8AC3E}">
        <p14:creationId xmlns:p14="http://schemas.microsoft.com/office/powerpoint/2010/main" val="10513628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402" y="484632"/>
            <a:ext cx="8229600" cy="630065"/>
          </a:xfrm>
        </p:spPr>
        <p:txBody>
          <a:bodyPr/>
          <a:lstStyle/>
          <a:p>
            <a:r>
              <a:rPr lang="en-US" sz="2800" dirty="0" smtClean="0"/>
              <a:t>Duties of Data Users and Furnishers</a:t>
            </a:r>
            <a:br>
              <a:rPr lang="en-US" sz="2800" dirty="0" smtClean="0"/>
            </a:br>
            <a:endParaRPr lang="en-US" sz="2800" dirty="0"/>
          </a:p>
        </p:txBody>
      </p:sp>
      <p:sp>
        <p:nvSpPr>
          <p:cNvPr id="3" name="Content Placeholder 2"/>
          <p:cNvSpPr>
            <a:spLocks noGrp="1"/>
          </p:cNvSpPr>
          <p:nvPr>
            <p:ph idx="1"/>
          </p:nvPr>
        </p:nvSpPr>
        <p:spPr>
          <a:xfrm>
            <a:off x="214378" y="1215484"/>
            <a:ext cx="8229600" cy="5324653"/>
          </a:xfrm>
        </p:spPr>
        <p:txBody>
          <a:bodyPr/>
          <a:lstStyle/>
          <a:p>
            <a:pPr marL="346075" lvl="2" indent="0">
              <a:buNone/>
            </a:pPr>
            <a:endParaRPr lang="en-US" sz="1200" dirty="0"/>
          </a:p>
          <a:p>
            <a:pPr lvl="2">
              <a:buFont typeface="Arial" panose="020B0604020202020204" pitchFamily="34" charset="0"/>
              <a:buChar char="•"/>
            </a:pPr>
            <a:endParaRPr lang="en-US" sz="1200" dirty="0" smtClean="0"/>
          </a:p>
          <a:p>
            <a:pPr lvl="2">
              <a:buFont typeface="Arial" panose="020B0604020202020204" pitchFamily="34" charset="0"/>
              <a:buChar char="•"/>
            </a:pPr>
            <a:endParaRPr lang="en-US" sz="1200" dirty="0"/>
          </a:p>
          <a:p>
            <a:pPr lvl="2">
              <a:buFont typeface="Arial" panose="020B0604020202020204" pitchFamily="34" charset="0"/>
              <a:buChar char="•"/>
            </a:pPr>
            <a:endParaRPr lang="en-US" sz="1200" dirty="0" smtClean="0"/>
          </a:p>
          <a:p>
            <a:pPr lvl="2">
              <a:buFont typeface="Arial" panose="020B0604020202020204" pitchFamily="34" charset="0"/>
              <a:buChar char="•"/>
            </a:pPr>
            <a:endParaRPr lang="en-US" sz="1200" dirty="0"/>
          </a:p>
          <a:p>
            <a:pPr lvl="2">
              <a:buFont typeface="Arial" panose="020B0604020202020204" pitchFamily="34" charset="0"/>
              <a:buChar char="•"/>
            </a:pPr>
            <a:endParaRPr lang="en-US" sz="1200" dirty="0" smtClean="0"/>
          </a:p>
          <a:p>
            <a:pPr lvl="3">
              <a:buFont typeface="Arial" panose="020B0604020202020204" pitchFamily="34" charset="0"/>
              <a:buChar char="•"/>
            </a:pPr>
            <a:endParaRPr lang="en-US" sz="1200" dirty="0"/>
          </a:p>
          <a:p>
            <a:pPr marL="514350" lvl="3" indent="0">
              <a:buNone/>
            </a:pPr>
            <a:endParaRPr lang="en-US" sz="1200" dirty="0" smtClean="0"/>
          </a:p>
          <a:p>
            <a:pPr lvl="2">
              <a:buFont typeface="Arial" panose="020B0604020202020204" pitchFamily="34" charset="0"/>
              <a:buChar char="•"/>
            </a:pPr>
            <a:endParaRPr lang="en-US" sz="1200" dirty="0"/>
          </a:p>
        </p:txBody>
      </p:sp>
      <p:graphicFrame>
        <p:nvGraphicFramePr>
          <p:cNvPr id="6" name="Table 5"/>
          <p:cNvGraphicFramePr>
            <a:graphicFrameLocks noGrp="1"/>
          </p:cNvGraphicFramePr>
          <p:nvPr>
            <p:extLst>
              <p:ext uri="{D42A27DB-BD31-4B8C-83A1-F6EECF244321}">
                <p14:modId xmlns:p14="http://schemas.microsoft.com/office/powerpoint/2010/main" val="926403384"/>
              </p:ext>
            </p:extLst>
          </p:nvPr>
        </p:nvGraphicFramePr>
        <p:xfrm>
          <a:off x="497599" y="1215484"/>
          <a:ext cx="7663157" cy="4891347"/>
        </p:xfrm>
        <a:graphic>
          <a:graphicData uri="http://schemas.openxmlformats.org/drawingml/2006/table">
            <a:tbl>
              <a:tblPr firstRow="1" bandRow="1">
                <a:tableStyleId>{5C22544A-7EE6-4342-B048-85BDC9FD1C3A}</a:tableStyleId>
              </a:tblPr>
              <a:tblGrid>
                <a:gridCol w="3766904">
                  <a:extLst>
                    <a:ext uri="{9D8B030D-6E8A-4147-A177-3AD203B41FA5}">
                      <a16:colId xmlns:a16="http://schemas.microsoft.com/office/drawing/2014/main" val="2591913782"/>
                    </a:ext>
                  </a:extLst>
                </a:gridCol>
                <a:gridCol w="3896253">
                  <a:extLst>
                    <a:ext uri="{9D8B030D-6E8A-4147-A177-3AD203B41FA5}">
                      <a16:colId xmlns:a16="http://schemas.microsoft.com/office/drawing/2014/main" val="2410961391"/>
                    </a:ext>
                  </a:extLst>
                </a:gridCol>
              </a:tblGrid>
              <a:tr h="332195">
                <a:tc>
                  <a:txBody>
                    <a:bodyPr/>
                    <a:lstStyle/>
                    <a:p>
                      <a:r>
                        <a:rPr lang="en-US" sz="1400" dirty="0" smtClean="0">
                          <a:solidFill>
                            <a:schemeClr val="tx2"/>
                          </a:solidFill>
                        </a:rPr>
                        <a:t>Data Furnishers</a:t>
                      </a:r>
                      <a:endParaRPr lang="en-US" sz="1400" dirty="0">
                        <a:solidFill>
                          <a:schemeClr val="tx2"/>
                        </a:solidFill>
                      </a:endParaRPr>
                    </a:p>
                  </a:txBody>
                  <a:tcPr>
                    <a:solidFill>
                      <a:schemeClr val="tx2">
                        <a:lumMod val="20000"/>
                        <a:lumOff val="80000"/>
                      </a:schemeClr>
                    </a:solidFill>
                  </a:tcPr>
                </a:tc>
                <a:tc>
                  <a:txBody>
                    <a:bodyPr/>
                    <a:lstStyle/>
                    <a:p>
                      <a:r>
                        <a:rPr lang="en-US" sz="1400" dirty="0" smtClean="0">
                          <a:solidFill>
                            <a:schemeClr val="tx2"/>
                          </a:solidFill>
                        </a:rPr>
                        <a:t>Data Users</a:t>
                      </a:r>
                      <a:endParaRPr lang="en-US" sz="14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42714991"/>
                  </a:ext>
                </a:extLst>
              </a:tr>
              <a:tr h="395974">
                <a:tc>
                  <a:txBody>
                    <a:bodyPr/>
                    <a:lstStyle/>
                    <a:p>
                      <a:r>
                        <a:rPr lang="en-US" sz="1000" dirty="0" smtClean="0">
                          <a:solidFill>
                            <a:schemeClr val="tx2"/>
                          </a:solidFill>
                        </a:rPr>
                        <a:t>Report with Accuracy and Integrity – Provide required personal and account level information</a:t>
                      </a:r>
                      <a:endParaRPr lang="en-US" sz="1000" dirty="0">
                        <a:solidFill>
                          <a:schemeClr val="tx2"/>
                        </a:solidFill>
                      </a:endParaRPr>
                    </a:p>
                  </a:txBody>
                  <a:tcPr>
                    <a:solidFill>
                      <a:schemeClr val="tx2">
                        <a:lumMod val="20000"/>
                        <a:lumOff val="80000"/>
                      </a:schemeClr>
                    </a:solidFill>
                  </a:tcPr>
                </a:tc>
                <a:tc>
                  <a:txBody>
                    <a:bodyPr/>
                    <a:lstStyle/>
                    <a:p>
                      <a:r>
                        <a:rPr lang="en-US" sz="1000" dirty="0" smtClean="0">
                          <a:solidFill>
                            <a:schemeClr val="tx2"/>
                          </a:solidFill>
                        </a:rPr>
                        <a:t>Must have a </a:t>
                      </a:r>
                      <a:r>
                        <a:rPr lang="en-US" sz="1000" b="1" dirty="0" smtClean="0">
                          <a:solidFill>
                            <a:schemeClr val="tx2"/>
                          </a:solidFill>
                        </a:rPr>
                        <a:t>Permissible Purpose </a:t>
                      </a:r>
                      <a:r>
                        <a:rPr lang="en-US" sz="1000" dirty="0" smtClean="0">
                          <a:solidFill>
                            <a:schemeClr val="tx2"/>
                          </a:solidFill>
                        </a:rPr>
                        <a:t>to use a credit report (including account review, collections, with customer permission, employment, licensing)</a:t>
                      </a:r>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953869506"/>
                  </a:ext>
                </a:extLst>
              </a:tr>
              <a:tr h="548272">
                <a:tc>
                  <a:txBody>
                    <a:bodyPr/>
                    <a:lstStyle/>
                    <a:p>
                      <a:r>
                        <a:rPr lang="en-US" sz="1000" dirty="0" smtClean="0">
                          <a:solidFill>
                            <a:schemeClr val="tx2"/>
                          </a:solidFill>
                        </a:rPr>
                        <a:t>Report</a:t>
                      </a:r>
                      <a:r>
                        <a:rPr lang="en-US" sz="1000" baseline="0" dirty="0" smtClean="0">
                          <a:solidFill>
                            <a:schemeClr val="tx2"/>
                          </a:solidFill>
                        </a:rPr>
                        <a:t> Accounts Monthly and Include the Name of the Original Creditor</a:t>
                      </a:r>
                      <a:endParaRPr lang="en-US" sz="1000" dirty="0">
                        <a:solidFill>
                          <a:schemeClr val="tx2"/>
                        </a:solidFill>
                      </a:endParaRPr>
                    </a:p>
                  </a:txBody>
                  <a:tcPr>
                    <a:solidFill>
                      <a:schemeClr val="tx2">
                        <a:lumMod val="20000"/>
                        <a:lumOff val="80000"/>
                      </a:schemeClr>
                    </a:solidFill>
                  </a:tcPr>
                </a:tc>
                <a:tc>
                  <a:txBody>
                    <a:bodyPr/>
                    <a:lstStyle/>
                    <a:p>
                      <a:r>
                        <a:rPr lang="en-US" sz="1000" dirty="0" smtClean="0">
                          <a:solidFill>
                            <a:schemeClr val="tx2"/>
                          </a:solidFill>
                        </a:rPr>
                        <a:t>Deliver adverse action and/or</a:t>
                      </a:r>
                      <a:r>
                        <a:rPr lang="en-US" sz="1000" baseline="0" dirty="0" smtClean="0">
                          <a:solidFill>
                            <a:schemeClr val="tx2"/>
                          </a:solidFill>
                        </a:rPr>
                        <a:t> risk based pricing </a:t>
                      </a:r>
                      <a:r>
                        <a:rPr lang="en-US" sz="1000" dirty="0" smtClean="0">
                          <a:solidFill>
                            <a:schemeClr val="tx2"/>
                          </a:solidFill>
                        </a:rPr>
                        <a:t>notices to consumers when required</a:t>
                      </a:r>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3985998353"/>
                  </a:ext>
                </a:extLst>
              </a:tr>
              <a:tr h="438186">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smtClean="0">
                          <a:solidFill>
                            <a:schemeClr val="tx2"/>
                          </a:solidFill>
                        </a:rPr>
                        <a:t>Utilize industry reporting format and follow established reporting guidelines</a:t>
                      </a:r>
                    </a:p>
                  </a:txBody>
                  <a:tcPr>
                    <a:solidFill>
                      <a:schemeClr val="tx2">
                        <a:lumMod val="20000"/>
                        <a:lumOff val="80000"/>
                      </a:schemeClr>
                    </a:solidFill>
                  </a:tcPr>
                </a:tc>
                <a:tc>
                  <a:txBody>
                    <a:bodyPr/>
                    <a:lstStyle/>
                    <a:p>
                      <a:r>
                        <a:rPr lang="en-US" sz="1000" dirty="0" smtClean="0">
                          <a:solidFill>
                            <a:schemeClr val="tx2"/>
                          </a:solidFill>
                        </a:rPr>
                        <a:t>Certify </a:t>
                      </a:r>
                      <a:r>
                        <a:rPr lang="en-US" sz="1000" baseline="0" dirty="0" smtClean="0">
                          <a:solidFill>
                            <a:schemeClr val="tx2"/>
                          </a:solidFill>
                        </a:rPr>
                        <a:t>to the CRA who delivers the credit report how it will be used</a:t>
                      </a:r>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1734140136"/>
                  </a:ext>
                </a:extLst>
              </a:tr>
              <a:tr h="3959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baseline="0" dirty="0" smtClean="0">
                          <a:solidFill>
                            <a:schemeClr val="tx2"/>
                          </a:solidFill>
                        </a:rPr>
                        <a:t>Report accounts as disputed where appropriate</a:t>
                      </a:r>
                      <a:endParaRPr lang="en-US" sz="1000" dirty="0" smtClean="0">
                        <a:solidFill>
                          <a:schemeClr val="tx2"/>
                        </a:solidFill>
                      </a:endParaRPr>
                    </a:p>
                    <a:p>
                      <a:endParaRPr lang="en-US" sz="1000" dirty="0">
                        <a:solidFill>
                          <a:schemeClr val="tx2"/>
                        </a:solidFill>
                      </a:endParaRPr>
                    </a:p>
                  </a:txBody>
                  <a:tcPr>
                    <a:solidFill>
                      <a:schemeClr val="tx2">
                        <a:lumMod val="20000"/>
                        <a:lumOff val="80000"/>
                      </a:schemeClr>
                    </a:solidFill>
                  </a:tcPr>
                </a:tc>
                <a:tc>
                  <a:txBody>
                    <a:bodyPr/>
                    <a:lstStyle/>
                    <a:p>
                      <a:r>
                        <a:rPr lang="en-US" sz="1000" dirty="0" smtClean="0">
                          <a:solidFill>
                            <a:schemeClr val="tx2"/>
                          </a:solidFill>
                        </a:rPr>
                        <a:t>Must resolve fraud alerts and address discrepancies</a:t>
                      </a:r>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1170094199"/>
                  </a:ext>
                </a:extLst>
              </a:tr>
              <a:tr h="395974">
                <a:tc>
                  <a:txBody>
                    <a:bodyPr/>
                    <a:lstStyle/>
                    <a:p>
                      <a:r>
                        <a:rPr lang="en-US" sz="1000" dirty="0" smtClean="0">
                          <a:solidFill>
                            <a:schemeClr val="tx2"/>
                          </a:solidFill>
                        </a:rPr>
                        <a:t>Investigate and respond to disputes and consider all relevant</a:t>
                      </a:r>
                      <a:r>
                        <a:rPr lang="en-US" sz="1000" baseline="0" dirty="0" smtClean="0">
                          <a:solidFill>
                            <a:schemeClr val="tx2"/>
                          </a:solidFill>
                        </a:rPr>
                        <a:t> information included with the dispute</a:t>
                      </a:r>
                      <a:endParaRPr lang="en-US" sz="1000" dirty="0">
                        <a:solidFill>
                          <a:schemeClr val="tx2"/>
                        </a:solidFill>
                      </a:endParaRPr>
                    </a:p>
                  </a:txBody>
                  <a:tcPr>
                    <a:solidFill>
                      <a:schemeClr val="tx2">
                        <a:lumMod val="20000"/>
                        <a:lumOff val="80000"/>
                      </a:schemeClr>
                    </a:solidFill>
                  </a:tcPr>
                </a:tc>
                <a:tc>
                  <a:txBody>
                    <a:bodyPr/>
                    <a:lstStyle/>
                    <a:p>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456739201"/>
                  </a:ext>
                </a:extLst>
              </a:tr>
              <a:tr h="367078">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smtClean="0">
                          <a:solidFill>
                            <a:schemeClr val="tx2"/>
                          </a:solidFill>
                        </a:rPr>
                        <a:t>Maintain</a:t>
                      </a:r>
                      <a:r>
                        <a:rPr lang="en-US" sz="1000" kern="1200" dirty="0" smtClean="0">
                          <a:solidFill>
                            <a:schemeClr val="tx2"/>
                          </a:solidFill>
                          <a:latin typeface="+mn-lt"/>
                          <a:ea typeface="+mn-ea"/>
                          <a:cs typeface="+mn-cs"/>
                        </a:rPr>
                        <a:t> written </a:t>
                      </a:r>
                      <a:r>
                        <a:rPr lang="en-US" sz="1000" dirty="0" smtClean="0">
                          <a:solidFill>
                            <a:schemeClr val="tx2"/>
                          </a:solidFill>
                        </a:rPr>
                        <a:t>policies and procedures</a:t>
                      </a:r>
                      <a:r>
                        <a:rPr lang="en-US" sz="1000" baseline="0" dirty="0" smtClean="0">
                          <a:solidFill>
                            <a:schemeClr val="tx2"/>
                          </a:solidFill>
                        </a:rPr>
                        <a:t> for accuracy/integrity and </a:t>
                      </a:r>
                      <a:r>
                        <a:rPr lang="en-US" sz="1000" kern="1200" dirty="0" smtClean="0">
                          <a:solidFill>
                            <a:schemeClr val="tx2"/>
                          </a:solidFill>
                          <a:latin typeface="+mn-lt"/>
                          <a:ea typeface="+mn-ea"/>
                          <a:cs typeface="+mn-cs"/>
                        </a:rPr>
                        <a:t>direct disputes</a:t>
                      </a:r>
                    </a:p>
                    <a:p>
                      <a:endParaRPr lang="en-US" sz="1000" dirty="0">
                        <a:solidFill>
                          <a:schemeClr val="tx2"/>
                        </a:solidFill>
                      </a:endParaRPr>
                    </a:p>
                  </a:txBody>
                  <a:tcPr>
                    <a:solidFill>
                      <a:schemeClr val="tx2">
                        <a:lumMod val="20000"/>
                        <a:lumOff val="80000"/>
                      </a:schemeClr>
                    </a:solidFill>
                  </a:tcPr>
                </a:tc>
                <a:tc>
                  <a:txBody>
                    <a:bodyPr/>
                    <a:lstStyle/>
                    <a:p>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3936249934"/>
                  </a:ext>
                </a:extLst>
              </a:tr>
              <a:tr h="395974">
                <a:tc>
                  <a:txBody>
                    <a:bodyPr/>
                    <a:lstStyle/>
                    <a:p>
                      <a:r>
                        <a:rPr lang="en-US" sz="1000" dirty="0" smtClean="0">
                          <a:solidFill>
                            <a:schemeClr val="tx2"/>
                          </a:solidFill>
                        </a:rPr>
                        <a:t>Promptly</a:t>
                      </a:r>
                      <a:r>
                        <a:rPr lang="en-US" sz="1000" baseline="0" dirty="0" smtClean="0">
                          <a:solidFill>
                            <a:schemeClr val="tx2"/>
                          </a:solidFill>
                        </a:rPr>
                        <a:t> correct inaccurate or incomplete information that was previously furnished</a:t>
                      </a:r>
                      <a:endParaRPr lang="en-US" sz="1000" dirty="0">
                        <a:solidFill>
                          <a:schemeClr val="tx2"/>
                        </a:solidFill>
                      </a:endParaRPr>
                    </a:p>
                  </a:txBody>
                  <a:tcPr>
                    <a:solidFill>
                      <a:schemeClr val="tx2">
                        <a:lumMod val="20000"/>
                        <a:lumOff val="80000"/>
                      </a:schemeClr>
                    </a:solidFill>
                  </a:tcPr>
                </a:tc>
                <a:tc>
                  <a:txBody>
                    <a:bodyPr/>
                    <a:lstStyle/>
                    <a:p>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180641450"/>
                  </a:ext>
                </a:extLst>
              </a:tr>
              <a:tr h="45587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smtClean="0">
                          <a:solidFill>
                            <a:schemeClr val="tx2"/>
                          </a:solidFill>
                        </a:rPr>
                        <a:t>Provide notice of closed accounts </a:t>
                      </a:r>
                      <a:r>
                        <a:rPr lang="en-US" sz="1000" baseline="0" dirty="0" smtClean="0">
                          <a:solidFill>
                            <a:schemeClr val="tx2"/>
                          </a:solidFill>
                        </a:rPr>
                        <a:t>and a notice of negative reporting</a:t>
                      </a:r>
                      <a:endParaRPr lang="en-US" sz="1000" dirty="0">
                        <a:solidFill>
                          <a:schemeClr val="tx2"/>
                        </a:solidFill>
                      </a:endParaRPr>
                    </a:p>
                  </a:txBody>
                  <a:tcPr>
                    <a:solidFill>
                      <a:schemeClr val="tx2">
                        <a:lumMod val="20000"/>
                        <a:lumOff val="80000"/>
                      </a:schemeClr>
                    </a:solidFill>
                  </a:tcPr>
                </a:tc>
                <a:tc>
                  <a:txBody>
                    <a:bodyPr/>
                    <a:lstStyle/>
                    <a:p>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418128544"/>
                  </a:ext>
                </a:extLst>
              </a:tr>
              <a:tr h="434584">
                <a:tc>
                  <a:txBody>
                    <a:bodyPr/>
                    <a:lstStyle/>
                    <a:p>
                      <a:r>
                        <a:rPr lang="en-US" sz="1000" dirty="0" smtClean="0">
                          <a:solidFill>
                            <a:schemeClr val="tx2"/>
                          </a:solidFill>
                        </a:rPr>
                        <a:t>Furnish</a:t>
                      </a:r>
                      <a:r>
                        <a:rPr lang="en-US" sz="1000" baseline="0" dirty="0" smtClean="0">
                          <a:solidFill>
                            <a:schemeClr val="tx2"/>
                          </a:solidFill>
                        </a:rPr>
                        <a:t> the date of first delinquency</a:t>
                      </a:r>
                      <a:endParaRPr lang="en-US" sz="1000" dirty="0">
                        <a:solidFill>
                          <a:schemeClr val="tx2"/>
                        </a:solidFill>
                      </a:endParaRPr>
                    </a:p>
                  </a:txBody>
                  <a:tcPr>
                    <a:solidFill>
                      <a:schemeClr val="tx2">
                        <a:lumMod val="20000"/>
                        <a:lumOff val="80000"/>
                      </a:schemeClr>
                    </a:solidFill>
                  </a:tcPr>
                </a:tc>
                <a:tc>
                  <a:txBody>
                    <a:bodyPr/>
                    <a:lstStyle/>
                    <a:p>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282897452"/>
                  </a:ext>
                </a:extLst>
              </a:tr>
              <a:tr h="395974">
                <a:tc>
                  <a:txBody>
                    <a:bodyPr/>
                    <a:lstStyle/>
                    <a:p>
                      <a:r>
                        <a:rPr lang="en-US" sz="1000" dirty="0" smtClean="0">
                          <a:solidFill>
                            <a:schemeClr val="tx2"/>
                          </a:solidFill>
                        </a:rPr>
                        <a:t>Reasonably respond to claims of identity</a:t>
                      </a:r>
                      <a:r>
                        <a:rPr lang="en-US" sz="1000" baseline="0" dirty="0" smtClean="0">
                          <a:solidFill>
                            <a:schemeClr val="tx2"/>
                          </a:solidFill>
                        </a:rPr>
                        <a:t> theft and provide information to victims</a:t>
                      </a:r>
                      <a:endParaRPr lang="en-US" sz="1000" dirty="0">
                        <a:solidFill>
                          <a:schemeClr val="tx2"/>
                        </a:solidFill>
                      </a:endParaRPr>
                    </a:p>
                  </a:txBody>
                  <a:tcPr>
                    <a:solidFill>
                      <a:schemeClr val="tx2">
                        <a:lumMod val="20000"/>
                        <a:lumOff val="80000"/>
                      </a:schemeClr>
                    </a:solidFill>
                  </a:tcPr>
                </a:tc>
                <a:tc>
                  <a:txBody>
                    <a:bodyPr/>
                    <a:lstStyle/>
                    <a:p>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2520573593"/>
                  </a:ext>
                </a:extLst>
              </a:tr>
            </a:tbl>
          </a:graphicData>
        </a:graphic>
      </p:graphicFrame>
      <p:sp>
        <p:nvSpPr>
          <p:cNvPr id="4" name="TextBox 3"/>
          <p:cNvSpPr txBox="1"/>
          <p:nvPr/>
        </p:nvSpPr>
        <p:spPr>
          <a:xfrm>
            <a:off x="497599" y="6130914"/>
            <a:ext cx="2710832" cy="261610"/>
          </a:xfrm>
          <a:prstGeom prst="rect">
            <a:avLst/>
          </a:prstGeom>
          <a:noFill/>
        </p:spPr>
        <p:txBody>
          <a:bodyPr wrap="square" rtlCol="0">
            <a:spAutoFit/>
          </a:bodyPr>
          <a:lstStyle/>
          <a:p>
            <a:r>
              <a:rPr lang="en-US" sz="1100" dirty="0" smtClean="0">
                <a:solidFill>
                  <a:schemeClr val="tx2"/>
                </a:solidFill>
              </a:rPr>
              <a:t>Not an all-inclusive list</a:t>
            </a:r>
            <a:endParaRPr lang="en-US" sz="1100" dirty="0">
              <a:solidFill>
                <a:schemeClr val="tx2"/>
              </a:solidFill>
            </a:endParaRPr>
          </a:p>
        </p:txBody>
      </p:sp>
    </p:spTree>
    <p:extLst>
      <p:ext uri="{BB962C8B-B14F-4D97-AF65-F5344CB8AC3E}">
        <p14:creationId xmlns:p14="http://schemas.microsoft.com/office/powerpoint/2010/main" val="31807814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102705"/>
            <a:ext cx="8229600" cy="1470025"/>
          </a:xfrm>
        </p:spPr>
        <p:txBody>
          <a:bodyPr/>
          <a:lstStyle/>
          <a:p>
            <a:r>
              <a:rPr lang="en-US" sz="3200" dirty="0" smtClean="0">
                <a:solidFill>
                  <a:schemeClr val="tx2"/>
                </a:solidFill>
              </a:rPr>
              <a:t>Credit Reporting Disputes </a:t>
            </a:r>
            <a:endParaRPr lang="en-US" sz="3200" dirty="0">
              <a:solidFill>
                <a:schemeClr val="tx2"/>
              </a:solidFill>
            </a:endParaRPr>
          </a:p>
        </p:txBody>
      </p:sp>
    </p:spTree>
    <p:extLst>
      <p:ext uri="{BB962C8B-B14F-4D97-AF65-F5344CB8AC3E}">
        <p14:creationId xmlns:p14="http://schemas.microsoft.com/office/powerpoint/2010/main" val="10242106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Credit Reporting Disputes</a:t>
            </a:r>
            <a:endParaRPr lang="en-US" dirty="0"/>
          </a:p>
        </p:txBody>
      </p:sp>
      <p:sp>
        <p:nvSpPr>
          <p:cNvPr id="3" name="Content Placeholder 2"/>
          <p:cNvSpPr>
            <a:spLocks noGrp="1"/>
          </p:cNvSpPr>
          <p:nvPr>
            <p:ph idx="1"/>
          </p:nvPr>
        </p:nvSpPr>
        <p:spPr>
          <a:xfrm>
            <a:off x="458218" y="1019906"/>
            <a:ext cx="8229600" cy="5364710"/>
          </a:xfrm>
        </p:spPr>
        <p:txBody>
          <a:bodyPr/>
          <a:lstStyle/>
          <a:p>
            <a:endParaRPr lang="en-US" dirty="0" smtClean="0"/>
          </a:p>
          <a:p>
            <a:pPr marL="0" indent="0">
              <a:buNone/>
            </a:pPr>
            <a:r>
              <a:rPr lang="en-US" sz="1400" dirty="0" smtClean="0">
                <a:solidFill>
                  <a:schemeClr val="tx2"/>
                </a:solidFill>
              </a:rPr>
              <a:t>Consumers have the right under the Fair Credit Reporting Act to dispute information in their credit report by contacting the CRA’s or the Data Furnishers.</a:t>
            </a:r>
          </a:p>
          <a:p>
            <a:pPr marL="0" indent="0">
              <a:buNone/>
            </a:pPr>
            <a:endParaRPr lang="en-US" sz="1400" dirty="0">
              <a:solidFill>
                <a:schemeClr val="tx2"/>
              </a:solidFill>
            </a:endParaRPr>
          </a:p>
          <a:p>
            <a:pPr marL="0" indent="0">
              <a:buNone/>
            </a:pPr>
            <a:r>
              <a:rPr lang="en-US" sz="1400" dirty="0" smtClean="0">
                <a:solidFill>
                  <a:schemeClr val="tx2"/>
                </a:solidFill>
              </a:rPr>
              <a:t>There are two methods by which a consumer can dispute inaccurate or incomplete information in their credit report:</a:t>
            </a:r>
            <a:br>
              <a:rPr lang="en-US" sz="1400" dirty="0" smtClean="0">
                <a:solidFill>
                  <a:schemeClr val="tx2"/>
                </a:solidFill>
              </a:rPr>
            </a:br>
            <a:endParaRPr lang="en-US" sz="1400" dirty="0" smtClean="0">
              <a:solidFill>
                <a:schemeClr val="tx2"/>
              </a:solidFill>
            </a:endParaRPr>
          </a:p>
          <a:p>
            <a:pPr marL="688975" lvl="2" indent="-342900">
              <a:buFont typeface="+mj-lt"/>
              <a:buAutoNum type="arabicPeriod"/>
            </a:pPr>
            <a:r>
              <a:rPr lang="en-US" sz="1400" dirty="0" smtClean="0">
                <a:solidFill>
                  <a:schemeClr val="tx2"/>
                </a:solidFill>
              </a:rPr>
              <a:t>Directly with the Consumer Reporting Agencies (“CRAs”)</a:t>
            </a:r>
          </a:p>
          <a:p>
            <a:pPr marL="858838" lvl="3" indent="-342900">
              <a:buFont typeface="Wingdings" panose="05000000000000000000" pitchFamily="2" charset="2"/>
              <a:buChar char="Ø"/>
            </a:pPr>
            <a:r>
              <a:rPr lang="en-US" sz="1200" dirty="0" smtClean="0">
                <a:solidFill>
                  <a:schemeClr val="tx2"/>
                </a:solidFill>
              </a:rPr>
              <a:t>Online, Phone, Writing</a:t>
            </a:r>
          </a:p>
          <a:p>
            <a:pPr marL="858838" lvl="3" indent="-342900">
              <a:buFont typeface="Wingdings" panose="05000000000000000000" pitchFamily="2" charset="2"/>
              <a:buChar char="Ø"/>
            </a:pPr>
            <a:r>
              <a:rPr lang="en-US" sz="1200" dirty="0" smtClean="0">
                <a:solidFill>
                  <a:schemeClr val="tx2"/>
                </a:solidFill>
              </a:rPr>
              <a:t>When </a:t>
            </a:r>
            <a:r>
              <a:rPr lang="en-US" sz="1200" dirty="0">
                <a:solidFill>
                  <a:schemeClr val="tx2"/>
                </a:solidFill>
              </a:rPr>
              <a:t>a CRA forwards a consumer’s dispute to the Data Furnisher, the preferred method of delivery is through an electronic system known as </a:t>
            </a:r>
            <a:r>
              <a:rPr lang="en-US" sz="1200" b="1" dirty="0">
                <a:solidFill>
                  <a:schemeClr val="tx2"/>
                </a:solidFill>
              </a:rPr>
              <a:t>“e-Oscar</a:t>
            </a:r>
            <a:r>
              <a:rPr lang="en-US" sz="1200" dirty="0" smtClean="0">
                <a:solidFill>
                  <a:schemeClr val="tx2"/>
                </a:solidFill>
              </a:rPr>
              <a:t>”:</a:t>
            </a:r>
          </a:p>
          <a:p>
            <a:pPr marL="1035050" lvl="4" indent="-342900">
              <a:buFont typeface="Wingdings" panose="05000000000000000000" pitchFamily="2" charset="2"/>
              <a:buChar char="Ø"/>
            </a:pPr>
            <a:r>
              <a:rPr lang="en-US" sz="1000" i="1" dirty="0" smtClean="0">
                <a:solidFill>
                  <a:schemeClr val="tx2"/>
                </a:solidFill>
              </a:rPr>
              <a:t>the </a:t>
            </a:r>
            <a:r>
              <a:rPr lang="en-US" sz="1000" b="1" i="1" dirty="0">
                <a:solidFill>
                  <a:schemeClr val="tx2"/>
                </a:solidFill>
              </a:rPr>
              <a:t>O</a:t>
            </a:r>
            <a:r>
              <a:rPr lang="en-US" sz="1000" i="1" dirty="0">
                <a:solidFill>
                  <a:schemeClr val="tx2"/>
                </a:solidFill>
              </a:rPr>
              <a:t>nline </a:t>
            </a:r>
            <a:r>
              <a:rPr lang="en-US" sz="1000" b="1" i="1" dirty="0">
                <a:solidFill>
                  <a:schemeClr val="tx2"/>
                </a:solidFill>
              </a:rPr>
              <a:t>S</a:t>
            </a:r>
            <a:r>
              <a:rPr lang="en-US" sz="1000" i="1" dirty="0">
                <a:solidFill>
                  <a:schemeClr val="tx2"/>
                </a:solidFill>
              </a:rPr>
              <a:t>olution for </a:t>
            </a:r>
            <a:r>
              <a:rPr lang="en-US" sz="1000" b="1" i="1" dirty="0">
                <a:solidFill>
                  <a:schemeClr val="tx2"/>
                </a:solidFill>
              </a:rPr>
              <a:t>C</a:t>
            </a:r>
            <a:r>
              <a:rPr lang="en-US" sz="1000" i="1" dirty="0">
                <a:solidFill>
                  <a:schemeClr val="tx2"/>
                </a:solidFill>
              </a:rPr>
              <a:t>omplete and </a:t>
            </a:r>
            <a:r>
              <a:rPr lang="en-US" sz="1000" b="1" i="1" dirty="0">
                <a:solidFill>
                  <a:schemeClr val="tx2"/>
                </a:solidFill>
              </a:rPr>
              <a:t>A</a:t>
            </a:r>
            <a:r>
              <a:rPr lang="en-US" sz="1000" i="1" dirty="0">
                <a:solidFill>
                  <a:schemeClr val="tx2"/>
                </a:solidFill>
              </a:rPr>
              <a:t>ccurate </a:t>
            </a:r>
            <a:r>
              <a:rPr lang="en-US" sz="1000" b="1" i="1" dirty="0">
                <a:solidFill>
                  <a:schemeClr val="tx2"/>
                </a:solidFill>
              </a:rPr>
              <a:t>R</a:t>
            </a:r>
            <a:r>
              <a:rPr lang="en-US" sz="1000" i="1" dirty="0">
                <a:solidFill>
                  <a:schemeClr val="tx2"/>
                </a:solidFill>
              </a:rPr>
              <a:t>eporting, is a browser-based, Metro 2 compliant system that has been developed by Equifax, Experian, Innovis and TransUnion.  This system was designed to provide data furnishers with an online solution for processing </a:t>
            </a:r>
            <a:r>
              <a:rPr lang="en-US" sz="1000" b="1" i="1" dirty="0">
                <a:solidFill>
                  <a:schemeClr val="tx2"/>
                </a:solidFill>
              </a:rPr>
              <a:t>A</a:t>
            </a:r>
            <a:r>
              <a:rPr lang="en-US" sz="1000" i="1" dirty="0">
                <a:solidFill>
                  <a:schemeClr val="tx2"/>
                </a:solidFill>
              </a:rPr>
              <a:t>utomated </a:t>
            </a:r>
            <a:r>
              <a:rPr lang="en-US" sz="1000" b="1" i="1" dirty="0">
                <a:solidFill>
                  <a:schemeClr val="tx2"/>
                </a:solidFill>
              </a:rPr>
              <a:t>C</a:t>
            </a:r>
            <a:r>
              <a:rPr lang="en-US" sz="1000" i="1" dirty="0">
                <a:solidFill>
                  <a:schemeClr val="tx2"/>
                </a:solidFill>
              </a:rPr>
              <a:t>redit </a:t>
            </a:r>
            <a:r>
              <a:rPr lang="en-US" sz="1000" b="1" i="1" dirty="0">
                <a:solidFill>
                  <a:schemeClr val="tx2"/>
                </a:solidFill>
              </a:rPr>
              <a:t>D</a:t>
            </a:r>
            <a:r>
              <a:rPr lang="en-US" sz="1000" i="1" dirty="0">
                <a:solidFill>
                  <a:schemeClr val="tx2"/>
                </a:solidFill>
              </a:rPr>
              <a:t>ispute </a:t>
            </a:r>
            <a:r>
              <a:rPr lang="en-US" sz="1000" b="1" i="1" dirty="0">
                <a:solidFill>
                  <a:schemeClr val="tx2"/>
                </a:solidFill>
              </a:rPr>
              <a:t>V</a:t>
            </a:r>
            <a:r>
              <a:rPr lang="en-US" sz="1000" i="1" dirty="0">
                <a:solidFill>
                  <a:schemeClr val="tx2"/>
                </a:solidFill>
              </a:rPr>
              <a:t>erifications (ACDVs).</a:t>
            </a:r>
          </a:p>
          <a:p>
            <a:pPr marL="515938" lvl="3" indent="0">
              <a:buNone/>
            </a:pPr>
            <a:endParaRPr lang="en-US" sz="1200" dirty="0" smtClean="0">
              <a:solidFill>
                <a:schemeClr val="tx2"/>
              </a:solidFill>
            </a:endParaRPr>
          </a:p>
          <a:p>
            <a:pPr marL="688975" lvl="2" indent="-342900">
              <a:buFont typeface="+mj-lt"/>
              <a:buAutoNum type="arabicPeriod"/>
            </a:pPr>
            <a:r>
              <a:rPr lang="en-US" sz="1400" dirty="0" smtClean="0">
                <a:solidFill>
                  <a:schemeClr val="tx2"/>
                </a:solidFill>
              </a:rPr>
              <a:t>Directly with the Data Furnisher</a:t>
            </a:r>
          </a:p>
          <a:p>
            <a:pPr marL="687388" lvl="3" indent="-171450">
              <a:buFont typeface="Wingdings" panose="05000000000000000000" pitchFamily="2" charset="2"/>
              <a:buChar char="Ø"/>
            </a:pPr>
            <a:r>
              <a:rPr lang="en-US" sz="1200" dirty="0" smtClean="0">
                <a:solidFill>
                  <a:schemeClr val="tx2"/>
                </a:solidFill>
              </a:rPr>
              <a:t>DF determines the method(s)</a:t>
            </a:r>
          </a:p>
          <a:p>
            <a:pPr marL="863600" lvl="4" indent="-171450">
              <a:buFont typeface="Wingdings" panose="05000000000000000000" pitchFamily="2" charset="2"/>
              <a:buChar char="Ø"/>
            </a:pPr>
            <a:r>
              <a:rPr lang="en-US" sz="1200" dirty="0" smtClean="0">
                <a:solidFill>
                  <a:schemeClr val="tx2"/>
                </a:solidFill>
              </a:rPr>
              <a:t>GRC is notified Online, Phone, Writing</a:t>
            </a:r>
            <a:endParaRPr lang="en-US" sz="1200" dirty="0">
              <a:solidFill>
                <a:schemeClr val="tx2"/>
              </a:solidFill>
            </a:endParaRPr>
          </a:p>
          <a:p>
            <a:pPr marL="0" indent="0">
              <a:buNone/>
            </a:pPr>
            <a:endParaRPr lang="en-US" sz="1400" dirty="0"/>
          </a:p>
          <a:p>
            <a:pPr marL="0" indent="0">
              <a:buNone/>
            </a:pPr>
            <a:r>
              <a:rPr lang="en-US" sz="1400" dirty="0" smtClean="0"/>
              <a:t/>
            </a:r>
            <a:br>
              <a:rPr lang="en-US" sz="1400" dirty="0" smtClean="0"/>
            </a:br>
            <a:endParaRPr lang="en-US" sz="1400" dirty="0"/>
          </a:p>
        </p:txBody>
      </p:sp>
    </p:spTree>
    <p:extLst>
      <p:ext uri="{BB962C8B-B14F-4D97-AF65-F5344CB8AC3E}">
        <p14:creationId xmlns:p14="http://schemas.microsoft.com/office/powerpoint/2010/main" val="42054828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Credit Reporting Disputes – CRAs (“ACDV”)</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166318399"/>
              </p:ext>
            </p:extLst>
          </p:nvPr>
        </p:nvGraphicFramePr>
        <p:xfrm>
          <a:off x="725514" y="1019175"/>
          <a:ext cx="7692972" cy="50158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5457539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Credit Reporting Disputes – Direct</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554780211"/>
              </p:ext>
            </p:extLst>
          </p:nvPr>
        </p:nvGraphicFramePr>
        <p:xfrm>
          <a:off x="593536" y="1127922"/>
          <a:ext cx="7956929" cy="50683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53931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0488" y="2143654"/>
            <a:ext cx="8229600" cy="1470025"/>
          </a:xfrm>
        </p:spPr>
        <p:txBody>
          <a:bodyPr/>
          <a:lstStyle/>
          <a:p>
            <a:r>
              <a:rPr lang="en-US" sz="3600" dirty="0" smtClean="0">
                <a:solidFill>
                  <a:schemeClr val="tx2"/>
                </a:solidFill>
              </a:rPr>
              <a:t>Upcoming Changes and CRA Business Rules</a:t>
            </a:r>
            <a:endParaRPr lang="en-US" sz="3600" dirty="0">
              <a:solidFill>
                <a:schemeClr val="tx2"/>
              </a:solidFill>
            </a:endParaRPr>
          </a:p>
        </p:txBody>
      </p:sp>
      <p:sp>
        <p:nvSpPr>
          <p:cNvPr id="3" name="Subtitle 2"/>
          <p:cNvSpPr>
            <a:spLocks noGrp="1"/>
          </p:cNvSpPr>
          <p:nvPr>
            <p:ph type="subTitle" idx="1"/>
          </p:nvPr>
        </p:nvSpPr>
        <p:spPr/>
        <p:txBody>
          <a:bodyPr/>
          <a:lstStyle/>
          <a:p>
            <a:endParaRPr lang="en-US" dirty="0" smtClean="0"/>
          </a:p>
          <a:p>
            <a:r>
              <a:rPr lang="en-US" dirty="0" smtClean="0"/>
              <a:t> </a:t>
            </a:r>
          </a:p>
          <a:p>
            <a:endParaRPr lang="en-US" dirty="0"/>
          </a:p>
          <a:p>
            <a:endParaRPr lang="en-US" sz="1000" dirty="0">
              <a:solidFill>
                <a:srgbClr val="FF0000"/>
              </a:solidFill>
            </a:endParaRPr>
          </a:p>
        </p:txBody>
      </p:sp>
    </p:spTree>
    <p:extLst>
      <p:ext uri="{BB962C8B-B14F-4D97-AF65-F5344CB8AC3E}">
        <p14:creationId xmlns:p14="http://schemas.microsoft.com/office/powerpoint/2010/main" val="20457676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218" y="484632"/>
            <a:ext cx="8229600" cy="630065"/>
          </a:xfrm>
        </p:spPr>
        <p:txBody>
          <a:bodyPr/>
          <a:lstStyle/>
          <a:p>
            <a:r>
              <a:rPr lang="en-US" sz="3200" dirty="0" smtClean="0"/>
              <a:t/>
            </a:r>
            <a:br>
              <a:rPr lang="en-US" sz="3200" dirty="0" smtClean="0"/>
            </a:br>
            <a:endParaRPr lang="en-US" sz="3200" dirty="0"/>
          </a:p>
        </p:txBody>
      </p:sp>
      <p:sp>
        <p:nvSpPr>
          <p:cNvPr id="3" name="Content Placeholder 2"/>
          <p:cNvSpPr>
            <a:spLocks noGrp="1"/>
          </p:cNvSpPr>
          <p:nvPr>
            <p:ph idx="1"/>
          </p:nvPr>
        </p:nvSpPr>
        <p:spPr>
          <a:xfrm>
            <a:off x="214378" y="1215484"/>
            <a:ext cx="8229600" cy="5324653"/>
          </a:xfrm>
        </p:spPr>
        <p:txBody>
          <a:bodyPr/>
          <a:lstStyle/>
          <a:p>
            <a:pPr lvl="2">
              <a:buFont typeface="Arial" panose="020B0604020202020204" pitchFamily="34" charset="0"/>
              <a:buChar char="•"/>
            </a:pPr>
            <a:endParaRPr lang="en-US" sz="1200" dirty="0" smtClean="0"/>
          </a:p>
          <a:p>
            <a:pPr marL="346075" lvl="2" indent="0">
              <a:buNone/>
            </a:pPr>
            <a:r>
              <a:rPr lang="en-US" sz="1200" dirty="0">
                <a:solidFill>
                  <a:schemeClr val="tx2"/>
                </a:solidFill>
              </a:rPr>
              <a:t>In addition to </a:t>
            </a:r>
            <a:r>
              <a:rPr lang="en-US" sz="1200" dirty="0" smtClean="0">
                <a:solidFill>
                  <a:schemeClr val="tx2"/>
                </a:solidFill>
              </a:rPr>
              <a:t>following the requirements in the FCRA and </a:t>
            </a:r>
            <a:r>
              <a:rPr lang="en-US" sz="1200" dirty="0">
                <a:solidFill>
                  <a:schemeClr val="tx2"/>
                </a:solidFill>
              </a:rPr>
              <a:t>the Metro 2 reporting guidance, </a:t>
            </a:r>
            <a:r>
              <a:rPr lang="en-US" sz="1200" dirty="0" smtClean="0">
                <a:solidFill>
                  <a:schemeClr val="tx2"/>
                </a:solidFill>
              </a:rPr>
              <a:t>CRAs </a:t>
            </a:r>
            <a:r>
              <a:rPr lang="en-US" sz="1200" dirty="0">
                <a:solidFill>
                  <a:schemeClr val="tx2"/>
                </a:solidFill>
              </a:rPr>
              <a:t>will also apply unique “business rules” </a:t>
            </a:r>
            <a:r>
              <a:rPr lang="en-US" sz="1200" dirty="0" smtClean="0">
                <a:solidFill>
                  <a:schemeClr val="tx2"/>
                </a:solidFill>
              </a:rPr>
              <a:t>to information that is reported and may change the way information appears on a credit report.  These rules may also prohibit accounts that trigger these business rules from being reported at all.</a:t>
            </a:r>
            <a:endParaRPr lang="en-US" sz="1200" dirty="0">
              <a:solidFill>
                <a:schemeClr val="tx2"/>
              </a:solidFill>
            </a:endParaRPr>
          </a:p>
          <a:p>
            <a:pPr marL="346075" lvl="2" indent="0">
              <a:buNone/>
            </a:pPr>
            <a:endParaRPr lang="en-US" sz="1200" dirty="0">
              <a:solidFill>
                <a:schemeClr val="tx2"/>
              </a:solidFill>
            </a:endParaRPr>
          </a:p>
          <a:p>
            <a:pPr marL="346075" lvl="2" indent="0">
              <a:buNone/>
            </a:pPr>
            <a:r>
              <a:rPr lang="en-US" sz="1200" dirty="0" smtClean="0">
                <a:solidFill>
                  <a:schemeClr val="tx2"/>
                </a:solidFill>
              </a:rPr>
              <a:t>Examples – One or more CRAs: </a:t>
            </a:r>
            <a:endParaRPr lang="en-US" sz="1200" dirty="0">
              <a:solidFill>
                <a:schemeClr val="tx2"/>
              </a:solidFill>
            </a:endParaRPr>
          </a:p>
          <a:p>
            <a:pPr marL="346075" lvl="2" indent="0">
              <a:buNone/>
            </a:pPr>
            <a:endParaRPr lang="en-US" sz="1200" dirty="0">
              <a:solidFill>
                <a:schemeClr val="tx2"/>
              </a:solidFill>
            </a:endParaRPr>
          </a:p>
          <a:p>
            <a:pPr lvl="2">
              <a:buFont typeface="Wingdings" panose="05000000000000000000" pitchFamily="2" charset="2"/>
              <a:buChar char="ü"/>
            </a:pPr>
            <a:r>
              <a:rPr lang="en-US" sz="1200" dirty="0" smtClean="0">
                <a:solidFill>
                  <a:schemeClr val="tx2"/>
                </a:solidFill>
              </a:rPr>
              <a:t>Do </a:t>
            </a:r>
            <a:r>
              <a:rPr lang="en-US" sz="1200" dirty="0">
                <a:solidFill>
                  <a:schemeClr val="tx2"/>
                </a:solidFill>
              </a:rPr>
              <a:t>not accept any debt furnished with a “medical term” in the creditor’s name field.</a:t>
            </a:r>
          </a:p>
          <a:p>
            <a:pPr lvl="2">
              <a:buFont typeface="Wingdings" panose="05000000000000000000" pitchFamily="2" charset="2"/>
              <a:buChar char="ü"/>
            </a:pPr>
            <a:endParaRPr lang="en-US" sz="1200" dirty="0">
              <a:solidFill>
                <a:schemeClr val="tx2"/>
              </a:solidFill>
            </a:endParaRPr>
          </a:p>
          <a:p>
            <a:pPr lvl="2">
              <a:buFont typeface="Wingdings" panose="05000000000000000000" pitchFamily="2" charset="2"/>
              <a:buChar char="ü"/>
            </a:pPr>
            <a:r>
              <a:rPr lang="en-US" sz="1200" dirty="0" smtClean="0">
                <a:solidFill>
                  <a:schemeClr val="tx2"/>
                </a:solidFill>
              </a:rPr>
              <a:t>Do </a:t>
            </a:r>
            <a:r>
              <a:rPr lang="en-US" sz="1200" dirty="0">
                <a:solidFill>
                  <a:schemeClr val="tx2"/>
                </a:solidFill>
              </a:rPr>
              <a:t>not accept accounts where the date of first delinquency is within 90 days of the account open date. </a:t>
            </a:r>
          </a:p>
          <a:p>
            <a:pPr lvl="2">
              <a:buFont typeface="Wingdings" panose="05000000000000000000" pitchFamily="2" charset="2"/>
              <a:buChar char="ü"/>
            </a:pPr>
            <a:endParaRPr lang="en-US" sz="1200" dirty="0">
              <a:solidFill>
                <a:schemeClr val="tx2"/>
              </a:solidFill>
            </a:endParaRPr>
          </a:p>
          <a:p>
            <a:pPr lvl="2">
              <a:buFont typeface="Wingdings" panose="05000000000000000000" pitchFamily="2" charset="2"/>
              <a:buChar char="ü"/>
            </a:pPr>
            <a:r>
              <a:rPr lang="en-US" sz="1200" dirty="0" smtClean="0">
                <a:solidFill>
                  <a:schemeClr val="tx2"/>
                </a:solidFill>
              </a:rPr>
              <a:t>Do </a:t>
            </a:r>
            <a:r>
              <a:rPr lang="en-US" sz="1200" dirty="0">
                <a:solidFill>
                  <a:schemeClr val="tx2"/>
                </a:solidFill>
              </a:rPr>
              <a:t>not accept newly reported accounts where the balance is less than $50.</a:t>
            </a:r>
          </a:p>
          <a:p>
            <a:pPr lvl="2">
              <a:buFont typeface="Wingdings" panose="05000000000000000000" pitchFamily="2" charset="2"/>
              <a:buChar char="q"/>
            </a:pPr>
            <a:endParaRPr lang="en-US" sz="1200" dirty="0">
              <a:solidFill>
                <a:schemeClr val="tx2"/>
              </a:solidFill>
            </a:endParaRPr>
          </a:p>
          <a:p>
            <a:pPr marL="346075" lvl="2" indent="0">
              <a:buNone/>
            </a:pPr>
            <a:endParaRPr lang="en-US" sz="1200" dirty="0">
              <a:solidFill>
                <a:schemeClr val="tx2"/>
              </a:solidFill>
            </a:endParaRPr>
          </a:p>
          <a:p>
            <a:pPr marL="346075" lvl="2" indent="0">
              <a:buNone/>
            </a:pPr>
            <a:r>
              <a:rPr lang="en-US" sz="1200" dirty="0" smtClean="0">
                <a:solidFill>
                  <a:schemeClr val="tx2"/>
                </a:solidFill>
              </a:rPr>
              <a:t>In 2015, the CRA’s launched the “National Consumer Assistance Plan” to enhance credit reporting </a:t>
            </a:r>
            <a:r>
              <a:rPr lang="en-US" sz="1200" dirty="0">
                <a:solidFill>
                  <a:schemeClr val="tx2"/>
                </a:solidFill>
              </a:rPr>
              <a:t>a</a:t>
            </a:r>
            <a:r>
              <a:rPr lang="en-US" sz="1200" dirty="0" smtClean="0">
                <a:solidFill>
                  <a:schemeClr val="tx2"/>
                </a:solidFill>
              </a:rPr>
              <a:t>ccuracy, and provide consumers more transparency when interacting with CRAs about their credit reports.</a:t>
            </a:r>
            <a:br>
              <a:rPr lang="en-US" sz="1200" dirty="0" smtClean="0">
                <a:solidFill>
                  <a:schemeClr val="tx2"/>
                </a:solidFill>
              </a:rPr>
            </a:br>
            <a:endParaRPr lang="en-US" sz="1200" dirty="0" smtClean="0">
              <a:solidFill>
                <a:schemeClr val="tx2"/>
              </a:solidFill>
            </a:endParaRPr>
          </a:p>
          <a:p>
            <a:pPr marL="346075" lvl="2" indent="0">
              <a:buNone/>
            </a:pPr>
            <a:r>
              <a:rPr lang="en-US" sz="1200" dirty="0" smtClean="0">
                <a:solidFill>
                  <a:schemeClr val="tx2"/>
                </a:solidFill>
              </a:rPr>
              <a:t>The </a:t>
            </a:r>
            <a:r>
              <a:rPr lang="en-US" sz="1200" dirty="0">
                <a:solidFill>
                  <a:schemeClr val="tx2"/>
                </a:solidFill>
              </a:rPr>
              <a:t>below items impact “Collection Agencies and Debt Buyers”</a:t>
            </a:r>
          </a:p>
          <a:p>
            <a:pPr lvl="2">
              <a:buFont typeface="Arial" panose="020B0604020202020204" pitchFamily="34" charset="0"/>
              <a:buChar char="•"/>
            </a:pPr>
            <a:endParaRPr lang="en-US" sz="1200" dirty="0"/>
          </a:p>
          <a:p>
            <a:pPr lvl="2">
              <a:buFont typeface="Arial" panose="020B0604020202020204" pitchFamily="34" charset="0"/>
              <a:buChar char="•"/>
            </a:pPr>
            <a:endParaRPr lang="en-US" sz="1200" dirty="0" smtClean="0"/>
          </a:p>
          <a:p>
            <a:pPr lvl="2">
              <a:buFont typeface="Arial" panose="020B0604020202020204" pitchFamily="34" charset="0"/>
              <a:buChar char="•"/>
            </a:pPr>
            <a:endParaRPr lang="en-US" sz="1200" dirty="0"/>
          </a:p>
          <a:p>
            <a:pPr lvl="2">
              <a:buFont typeface="Arial" panose="020B0604020202020204" pitchFamily="34" charset="0"/>
              <a:buChar char="•"/>
            </a:pPr>
            <a:endParaRPr lang="en-US" sz="1200" dirty="0" smtClean="0"/>
          </a:p>
          <a:p>
            <a:pPr lvl="2">
              <a:buFont typeface="Arial" panose="020B0604020202020204" pitchFamily="34" charset="0"/>
              <a:buChar char="•"/>
            </a:pPr>
            <a:endParaRPr lang="en-US" sz="1200" dirty="0"/>
          </a:p>
          <a:p>
            <a:pPr lvl="2">
              <a:buFont typeface="Arial" panose="020B0604020202020204" pitchFamily="34" charset="0"/>
              <a:buChar char="•"/>
            </a:pPr>
            <a:endParaRPr lang="en-US" sz="1200" dirty="0" smtClean="0"/>
          </a:p>
          <a:p>
            <a:pPr lvl="3">
              <a:buFont typeface="Arial" panose="020B0604020202020204" pitchFamily="34" charset="0"/>
              <a:buChar char="•"/>
            </a:pPr>
            <a:endParaRPr lang="en-US" sz="1200" dirty="0"/>
          </a:p>
          <a:p>
            <a:pPr marL="514350" lvl="3" indent="0">
              <a:buNone/>
            </a:pPr>
            <a:endParaRPr lang="en-US" sz="1200" dirty="0" smtClean="0"/>
          </a:p>
          <a:p>
            <a:pPr lvl="2">
              <a:buFont typeface="Arial" panose="020B0604020202020204" pitchFamily="34" charset="0"/>
              <a:buChar char="•"/>
            </a:pPr>
            <a:endParaRPr lang="en-US" sz="1200" dirty="0"/>
          </a:p>
        </p:txBody>
      </p:sp>
      <p:graphicFrame>
        <p:nvGraphicFramePr>
          <p:cNvPr id="6" name="Table 5"/>
          <p:cNvGraphicFramePr>
            <a:graphicFrameLocks noGrp="1"/>
          </p:cNvGraphicFramePr>
          <p:nvPr>
            <p:extLst>
              <p:ext uri="{D42A27DB-BD31-4B8C-83A1-F6EECF244321}">
                <p14:modId xmlns:p14="http://schemas.microsoft.com/office/powerpoint/2010/main" val="2902515381"/>
              </p:ext>
            </p:extLst>
          </p:nvPr>
        </p:nvGraphicFramePr>
        <p:xfrm>
          <a:off x="509832" y="4769139"/>
          <a:ext cx="8008015" cy="1629946"/>
        </p:xfrm>
        <a:graphic>
          <a:graphicData uri="http://schemas.openxmlformats.org/drawingml/2006/table">
            <a:tbl>
              <a:tblPr firstRow="1" bandRow="1">
                <a:tableStyleId>{5C22544A-7EE6-4342-B048-85BDC9FD1C3A}</a:tableStyleId>
              </a:tblPr>
              <a:tblGrid>
                <a:gridCol w="6984402">
                  <a:extLst>
                    <a:ext uri="{9D8B030D-6E8A-4147-A177-3AD203B41FA5}">
                      <a16:colId xmlns:a16="http://schemas.microsoft.com/office/drawing/2014/main" val="2327633998"/>
                    </a:ext>
                  </a:extLst>
                </a:gridCol>
                <a:gridCol w="1023613">
                  <a:extLst>
                    <a:ext uri="{9D8B030D-6E8A-4147-A177-3AD203B41FA5}">
                      <a16:colId xmlns:a16="http://schemas.microsoft.com/office/drawing/2014/main" val="2410961391"/>
                    </a:ext>
                  </a:extLst>
                </a:gridCol>
              </a:tblGrid>
              <a:tr h="240201">
                <a:tc>
                  <a:txBody>
                    <a:bodyPr/>
                    <a:lstStyle/>
                    <a:p>
                      <a:r>
                        <a:rPr lang="en-US" sz="1000" dirty="0" smtClean="0">
                          <a:solidFill>
                            <a:schemeClr val="tx2"/>
                          </a:solidFill>
                        </a:rPr>
                        <a:t>What is Required?</a:t>
                      </a:r>
                      <a:endParaRPr lang="en-US" sz="1000" dirty="0">
                        <a:solidFill>
                          <a:schemeClr val="tx2"/>
                        </a:solidFill>
                      </a:endParaRPr>
                    </a:p>
                  </a:txBody>
                  <a:tcPr>
                    <a:solidFill>
                      <a:schemeClr val="tx2">
                        <a:lumMod val="20000"/>
                        <a:lumOff val="80000"/>
                      </a:schemeClr>
                    </a:solidFill>
                  </a:tcPr>
                </a:tc>
                <a:tc>
                  <a:txBody>
                    <a:bodyPr/>
                    <a:lstStyle/>
                    <a:p>
                      <a:r>
                        <a:rPr lang="en-US" sz="1000" dirty="0" smtClean="0">
                          <a:solidFill>
                            <a:schemeClr val="tx2"/>
                          </a:solidFill>
                        </a:rPr>
                        <a:t>Effective Date</a:t>
                      </a:r>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1734140136"/>
                  </a:ext>
                </a:extLst>
              </a:tr>
              <a:tr h="270226">
                <a:tc>
                  <a:txBody>
                    <a:bodyPr/>
                    <a:lstStyle/>
                    <a:p>
                      <a:r>
                        <a:rPr lang="en-US" sz="1000" b="0" i="0" u="none" strike="noStrike" kern="1200" baseline="0" dirty="0" smtClean="0">
                          <a:solidFill>
                            <a:schemeClr val="tx2"/>
                          </a:solidFill>
                          <a:latin typeface="+mn-lt"/>
                          <a:ea typeface="+mn-ea"/>
                          <a:cs typeface="+mn-cs"/>
                        </a:rPr>
                        <a:t>Do not report debt that did not arise from a contract or agreement to pay  </a:t>
                      </a:r>
                      <a:endParaRPr lang="en-US" sz="1000" dirty="0">
                        <a:solidFill>
                          <a:schemeClr val="tx2"/>
                        </a:solidFill>
                      </a:endParaRPr>
                    </a:p>
                  </a:txBody>
                  <a:tcPr>
                    <a:solidFill>
                      <a:schemeClr val="tx2">
                        <a:lumMod val="20000"/>
                        <a:lumOff val="80000"/>
                      </a:schemeClr>
                    </a:solidFill>
                  </a:tcPr>
                </a:tc>
                <a:tc>
                  <a:txBody>
                    <a:bodyPr/>
                    <a:lstStyle/>
                    <a:p>
                      <a:r>
                        <a:rPr lang="en-US" sz="1000" dirty="0" smtClean="0">
                          <a:solidFill>
                            <a:schemeClr val="tx2"/>
                          </a:solidFill>
                        </a:rPr>
                        <a:t>6/15/2016</a:t>
                      </a:r>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1170094199"/>
                  </a:ext>
                </a:extLst>
              </a:tr>
              <a:tr h="270226">
                <a:tc>
                  <a:txBody>
                    <a:bodyPr/>
                    <a:lstStyle/>
                    <a:p>
                      <a:r>
                        <a:rPr lang="en-US" sz="1000" b="0" i="0" u="none" strike="noStrike" kern="1200" baseline="0" dirty="0" smtClean="0">
                          <a:solidFill>
                            <a:schemeClr val="tx2"/>
                          </a:solidFill>
                          <a:latin typeface="+mn-lt"/>
                          <a:ea typeface="+mn-ea"/>
                          <a:cs typeface="+mn-cs"/>
                        </a:rPr>
                        <a:t>Do not report medical debt collection accounts less than 180 days old   </a:t>
                      </a:r>
                    </a:p>
                  </a:txBody>
                  <a:tcPr>
                    <a:solidFill>
                      <a:schemeClr val="tx2">
                        <a:lumMod val="20000"/>
                        <a:lumOff val="80000"/>
                      </a:schemeClr>
                    </a:solidFill>
                  </a:tcPr>
                </a:tc>
                <a:tc>
                  <a:txBody>
                    <a:bodyPr/>
                    <a:lstStyle/>
                    <a:p>
                      <a:r>
                        <a:rPr lang="en-US" sz="1000" dirty="0" smtClean="0">
                          <a:solidFill>
                            <a:schemeClr val="tx2"/>
                          </a:solidFill>
                        </a:rPr>
                        <a:t>6/15/2016</a:t>
                      </a:r>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456739201"/>
                  </a:ext>
                </a:extLst>
              </a:tr>
              <a:tr h="305203">
                <a:tc>
                  <a:txBody>
                    <a:bodyPr/>
                    <a:lstStyle/>
                    <a:p>
                      <a:pPr marL="0" algn="l" defTabSz="457200" rtl="0" eaLnBrk="1" latinLnBrk="0" hangingPunct="1"/>
                      <a:r>
                        <a:rPr lang="en-US" sz="1000" kern="1200" dirty="0" smtClean="0">
                          <a:solidFill>
                            <a:schemeClr val="tx2"/>
                          </a:solidFill>
                          <a:latin typeface="+mn-lt"/>
                          <a:ea typeface="+mn-ea"/>
                          <a:cs typeface="+mn-cs"/>
                        </a:rPr>
                        <a:t>Report using the newly established minimum reporting requirements for consumer personally identifiable information </a:t>
                      </a:r>
                      <a:endParaRPr lang="en-US" sz="1000" kern="1200" dirty="0">
                        <a:solidFill>
                          <a:schemeClr val="tx2"/>
                        </a:solidFill>
                        <a:latin typeface="+mn-lt"/>
                        <a:ea typeface="+mn-ea"/>
                        <a:cs typeface="+mn-cs"/>
                      </a:endParaRPr>
                    </a:p>
                  </a:txBody>
                  <a:tcPr>
                    <a:solidFill>
                      <a:schemeClr val="tx2">
                        <a:lumMod val="20000"/>
                        <a:lumOff val="80000"/>
                      </a:schemeClr>
                    </a:solidFill>
                  </a:tcPr>
                </a:tc>
                <a:tc>
                  <a:txBody>
                    <a:bodyPr/>
                    <a:lstStyle/>
                    <a:p>
                      <a:pPr marL="0" algn="l" defTabSz="457200" rtl="0" eaLnBrk="1" latinLnBrk="0" hangingPunct="1"/>
                      <a:r>
                        <a:rPr lang="en-US" sz="1000" kern="1200" dirty="0" smtClean="0">
                          <a:solidFill>
                            <a:schemeClr val="tx2"/>
                          </a:solidFill>
                          <a:latin typeface="+mn-lt"/>
                          <a:ea typeface="+mn-ea"/>
                          <a:cs typeface="+mn-cs"/>
                        </a:rPr>
                        <a:t>9/15/2017</a:t>
                      </a:r>
                      <a:endParaRPr lang="en-US" sz="1000" kern="1200" dirty="0">
                        <a:solidFill>
                          <a:schemeClr val="tx2"/>
                        </a:solidFill>
                        <a:latin typeface="+mn-lt"/>
                        <a:ea typeface="+mn-ea"/>
                        <a:cs typeface="+mn-cs"/>
                      </a:endParaRPr>
                    </a:p>
                  </a:txBody>
                  <a:tcPr>
                    <a:solidFill>
                      <a:schemeClr val="tx2">
                        <a:lumMod val="20000"/>
                        <a:lumOff val="80000"/>
                      </a:schemeClr>
                    </a:solidFill>
                  </a:tcPr>
                </a:tc>
                <a:extLst>
                  <a:ext uri="{0D108BD9-81ED-4DB2-BD59-A6C34878D82A}">
                    <a16:rowId xmlns:a16="http://schemas.microsoft.com/office/drawing/2014/main" val="3936249934"/>
                  </a:ext>
                </a:extLst>
              </a:tr>
              <a:tr h="540451">
                <a:tc>
                  <a:txBody>
                    <a:bodyPr/>
                    <a:lstStyle/>
                    <a:p>
                      <a:pPr marL="0" algn="l" defTabSz="457200" rtl="0" eaLnBrk="1" latinLnBrk="0" hangingPunct="1"/>
                      <a:r>
                        <a:rPr lang="en-US" sz="1000" b="0" i="0" u="none" strike="noStrike" kern="1200" baseline="0" dirty="0" smtClean="0">
                          <a:solidFill>
                            <a:schemeClr val="tx2"/>
                          </a:solidFill>
                          <a:latin typeface="+mn-lt"/>
                          <a:ea typeface="+mn-ea"/>
                          <a:cs typeface="+mn-cs"/>
                        </a:rPr>
                        <a:t>For newly opened accounts, must report full name (First, Middle, Last Name and Generation Code/Suffix), address, full Social Security Number and </a:t>
                      </a:r>
                      <a:r>
                        <a:rPr lang="en-US" sz="1000" b="1" i="0" u="none" strike="noStrike" kern="1200" baseline="0" dirty="0" smtClean="0">
                          <a:solidFill>
                            <a:schemeClr val="tx2"/>
                          </a:solidFill>
                          <a:latin typeface="+mn-lt"/>
                          <a:ea typeface="+mn-ea"/>
                          <a:cs typeface="+mn-cs"/>
                        </a:rPr>
                        <a:t>Date of Birth.  </a:t>
                      </a:r>
                    </a:p>
                  </a:txBody>
                  <a:tcPr>
                    <a:solidFill>
                      <a:schemeClr val="tx2">
                        <a:lumMod val="20000"/>
                        <a:lumOff val="80000"/>
                      </a:schemeClr>
                    </a:solidFill>
                  </a:tcPr>
                </a:tc>
                <a:tc>
                  <a:txBody>
                    <a:bodyPr/>
                    <a:lstStyle/>
                    <a:p>
                      <a:r>
                        <a:rPr lang="en-US" sz="1000" dirty="0" smtClean="0">
                          <a:solidFill>
                            <a:schemeClr val="tx2"/>
                          </a:solidFill>
                        </a:rPr>
                        <a:t>9/15/2017</a:t>
                      </a:r>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180641450"/>
                  </a:ext>
                </a:extLst>
              </a:tr>
            </a:tbl>
          </a:graphicData>
        </a:graphic>
      </p:graphicFrame>
      <p:sp>
        <p:nvSpPr>
          <p:cNvPr id="5" name="Rectangle 4"/>
          <p:cNvSpPr/>
          <p:nvPr/>
        </p:nvSpPr>
        <p:spPr>
          <a:xfrm>
            <a:off x="458217" y="635002"/>
            <a:ext cx="8111247" cy="523220"/>
          </a:xfrm>
          <a:prstGeom prst="rect">
            <a:avLst/>
          </a:prstGeom>
        </p:spPr>
        <p:txBody>
          <a:bodyPr wrap="square">
            <a:spAutoFit/>
          </a:bodyPr>
          <a:lstStyle/>
          <a:p>
            <a:r>
              <a:rPr lang="en-US" sz="2800" dirty="0"/>
              <a:t>CRA Business Rules</a:t>
            </a:r>
          </a:p>
        </p:txBody>
      </p:sp>
    </p:spTree>
    <p:extLst>
      <p:ext uri="{BB962C8B-B14F-4D97-AF65-F5344CB8AC3E}">
        <p14:creationId xmlns:p14="http://schemas.microsoft.com/office/powerpoint/2010/main" val="6247402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08642"/>
            <a:ext cx="8229600" cy="1470025"/>
          </a:xfrm>
        </p:spPr>
        <p:txBody>
          <a:bodyPr/>
          <a:lstStyle/>
          <a:p>
            <a:r>
              <a:rPr lang="en-US" sz="3600" dirty="0" smtClean="0">
                <a:solidFill>
                  <a:schemeClr val="tx2"/>
                </a:solidFill>
              </a:rPr>
              <a:t>Fair Credit Reporting Act:</a:t>
            </a:r>
            <a:br>
              <a:rPr lang="en-US" sz="3600" dirty="0" smtClean="0">
                <a:solidFill>
                  <a:schemeClr val="tx2"/>
                </a:solidFill>
              </a:rPr>
            </a:br>
            <a:r>
              <a:rPr lang="en-US" sz="3600" dirty="0" smtClean="0">
                <a:solidFill>
                  <a:schemeClr val="tx2"/>
                </a:solidFill>
              </a:rPr>
              <a:t/>
            </a:r>
            <a:br>
              <a:rPr lang="en-US" sz="3600" dirty="0" smtClean="0">
                <a:solidFill>
                  <a:schemeClr val="tx2"/>
                </a:solidFill>
              </a:rPr>
            </a:br>
            <a:r>
              <a:rPr lang="en-US" sz="3600" dirty="0">
                <a:solidFill>
                  <a:schemeClr val="tx2"/>
                </a:solidFill>
              </a:rPr>
              <a:t/>
            </a:r>
            <a:br>
              <a:rPr lang="en-US" sz="3600" dirty="0">
                <a:solidFill>
                  <a:schemeClr val="tx2"/>
                </a:solidFill>
              </a:rPr>
            </a:br>
            <a:r>
              <a:rPr lang="en-US" sz="3600" dirty="0">
                <a:solidFill>
                  <a:schemeClr val="tx2"/>
                </a:solidFill>
              </a:rPr>
              <a:t/>
            </a:r>
            <a:br>
              <a:rPr lang="en-US" sz="3600" dirty="0">
                <a:solidFill>
                  <a:schemeClr val="tx2"/>
                </a:solidFill>
              </a:rPr>
            </a:br>
            <a:r>
              <a:rPr lang="en-US" sz="3600" dirty="0" smtClean="0">
                <a:solidFill>
                  <a:schemeClr val="tx2"/>
                </a:solidFill>
              </a:rPr>
              <a:t>What it means to you as a creditor…..</a:t>
            </a:r>
            <a:endParaRPr lang="en-US" sz="3600" dirty="0">
              <a:solidFill>
                <a:schemeClr val="tx2"/>
              </a:solidFill>
            </a:endParaRPr>
          </a:p>
        </p:txBody>
      </p:sp>
      <p:sp>
        <p:nvSpPr>
          <p:cNvPr id="3" name="Subtitle 2"/>
          <p:cNvSpPr>
            <a:spLocks noGrp="1"/>
          </p:cNvSpPr>
          <p:nvPr>
            <p:ph type="subTitle" idx="1"/>
          </p:nvPr>
        </p:nvSpPr>
        <p:spPr/>
        <p:txBody>
          <a:bodyPr/>
          <a:lstStyle/>
          <a:p>
            <a:endParaRPr lang="en-US" dirty="0"/>
          </a:p>
          <a:p>
            <a:endParaRPr lang="en-US" dirty="0" smtClean="0"/>
          </a:p>
          <a:p>
            <a:endParaRPr lang="en-US" dirty="0" smtClean="0"/>
          </a:p>
          <a:p>
            <a:endParaRPr lang="en-US" dirty="0"/>
          </a:p>
          <a:p>
            <a:endParaRPr lang="en-US" dirty="0" smtClean="0"/>
          </a:p>
          <a:p>
            <a:endParaRPr lang="en-US" dirty="0"/>
          </a:p>
          <a:p>
            <a:endParaRPr lang="en-US" sz="1000" dirty="0">
              <a:solidFill>
                <a:srgbClr val="FF0000"/>
              </a:solidFill>
            </a:endParaRPr>
          </a:p>
        </p:txBody>
      </p:sp>
    </p:spTree>
    <p:extLst>
      <p:ext uri="{BB962C8B-B14F-4D97-AF65-F5344CB8AC3E}">
        <p14:creationId xmlns:p14="http://schemas.microsoft.com/office/powerpoint/2010/main" val="42828742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Credit Reporting Advantages</a:t>
            </a:r>
            <a:endParaRPr lang="en-US" dirty="0"/>
          </a:p>
        </p:txBody>
      </p:sp>
      <p:sp>
        <p:nvSpPr>
          <p:cNvPr id="3" name="Content Placeholder 2"/>
          <p:cNvSpPr>
            <a:spLocks noGrp="1"/>
          </p:cNvSpPr>
          <p:nvPr>
            <p:ph idx="1"/>
          </p:nvPr>
        </p:nvSpPr>
        <p:spPr>
          <a:xfrm>
            <a:off x="458218" y="1019906"/>
            <a:ext cx="8229600" cy="5364710"/>
          </a:xfrm>
        </p:spPr>
        <p:txBody>
          <a:bodyPr/>
          <a:lstStyle/>
          <a:p>
            <a:endParaRPr lang="en-US" dirty="0" smtClean="0">
              <a:solidFill>
                <a:schemeClr val="tx2"/>
              </a:solidFill>
            </a:endParaRPr>
          </a:p>
          <a:p>
            <a:pPr marL="0" indent="0">
              <a:buNone/>
            </a:pPr>
            <a:r>
              <a:rPr lang="en-US" sz="1400" dirty="0">
                <a:solidFill>
                  <a:schemeClr val="tx2"/>
                </a:solidFill>
              </a:rPr>
              <a:t>Consumer data reporting is essential for a healthy credit ecosystem, helping to improve lending decisions, on-time payments and customers’ experiences. By </a:t>
            </a:r>
            <a:r>
              <a:rPr lang="en-US" sz="1400" dirty="0" smtClean="0">
                <a:solidFill>
                  <a:schemeClr val="tx2"/>
                </a:solidFill>
              </a:rPr>
              <a:t>furnishing information to CRAs lenders can:</a:t>
            </a:r>
            <a:br>
              <a:rPr lang="en-US" sz="1400" dirty="0" smtClean="0">
                <a:solidFill>
                  <a:schemeClr val="tx2"/>
                </a:solidFill>
              </a:rPr>
            </a:br>
            <a:endParaRPr lang="en-US" sz="1400" dirty="0">
              <a:solidFill>
                <a:schemeClr val="tx2"/>
              </a:solidFill>
            </a:endParaRPr>
          </a:p>
          <a:p>
            <a:r>
              <a:rPr lang="en-US" sz="1400" b="1" dirty="0" smtClean="0">
                <a:solidFill>
                  <a:schemeClr val="tx2"/>
                </a:solidFill>
              </a:rPr>
              <a:t>Minimize delinquencies and collections</a:t>
            </a:r>
            <a:r>
              <a:rPr lang="en-US" sz="1400" dirty="0" smtClean="0">
                <a:solidFill>
                  <a:schemeClr val="tx2"/>
                </a:solidFill>
              </a:rPr>
              <a:t> – Other credit grantors may offer credit to your customer, not knowing that the customer already has an obligation to you. This may result in your customer getting over-extended and negatively impact their ability to pay you.</a:t>
            </a:r>
            <a:br>
              <a:rPr lang="en-US" sz="1400" dirty="0" smtClean="0">
                <a:solidFill>
                  <a:schemeClr val="tx2"/>
                </a:solidFill>
              </a:rPr>
            </a:br>
            <a:endParaRPr lang="en-US" sz="1400" dirty="0">
              <a:solidFill>
                <a:schemeClr val="tx2"/>
              </a:solidFill>
            </a:endParaRPr>
          </a:p>
          <a:p>
            <a:r>
              <a:rPr lang="en-US" sz="1400" b="1" dirty="0">
                <a:solidFill>
                  <a:schemeClr val="tx2"/>
                </a:solidFill>
              </a:rPr>
              <a:t>Increase on-time payments and collect bad debt </a:t>
            </a:r>
            <a:r>
              <a:rPr lang="en-US" sz="1400" dirty="0">
                <a:solidFill>
                  <a:schemeClr val="tx2"/>
                </a:solidFill>
              </a:rPr>
              <a:t>– When </a:t>
            </a:r>
            <a:r>
              <a:rPr lang="en-US" sz="1400" dirty="0" smtClean="0">
                <a:solidFill>
                  <a:schemeClr val="tx2"/>
                </a:solidFill>
              </a:rPr>
              <a:t>consumers </a:t>
            </a:r>
            <a:r>
              <a:rPr lang="en-US" sz="1400" dirty="0">
                <a:solidFill>
                  <a:schemeClr val="tx2"/>
                </a:solidFill>
              </a:rPr>
              <a:t>know their lender reports to the CRAs, they are more likely to pay on time. You can also encourage late payers to resolve </a:t>
            </a:r>
            <a:r>
              <a:rPr lang="en-US" sz="1400" dirty="0" smtClean="0">
                <a:solidFill>
                  <a:schemeClr val="tx2"/>
                </a:solidFill>
              </a:rPr>
              <a:t>outstanding debts before delinquency affects their credit.</a:t>
            </a:r>
            <a:br>
              <a:rPr lang="en-US" sz="1400" dirty="0" smtClean="0">
                <a:solidFill>
                  <a:schemeClr val="tx2"/>
                </a:solidFill>
              </a:rPr>
            </a:br>
            <a:endParaRPr lang="en-US" sz="1400" dirty="0" smtClean="0">
              <a:solidFill>
                <a:schemeClr val="tx2"/>
              </a:solidFill>
            </a:endParaRPr>
          </a:p>
          <a:p>
            <a:r>
              <a:rPr lang="en-US" sz="1400" b="1" dirty="0">
                <a:solidFill>
                  <a:schemeClr val="tx2"/>
                </a:solidFill>
              </a:rPr>
              <a:t>Reduce risky lending decisions</a:t>
            </a:r>
            <a:r>
              <a:rPr lang="en-US" sz="1400" dirty="0">
                <a:solidFill>
                  <a:schemeClr val="tx2"/>
                </a:solidFill>
              </a:rPr>
              <a:t> – With access to more comprehensive credit data, lenders have a more accurate picture of a consumer’s behavior and can make more informed – and less risky – decisions</a:t>
            </a:r>
            <a:r>
              <a:rPr lang="en-US" sz="1400" dirty="0" smtClean="0">
                <a:solidFill>
                  <a:schemeClr val="tx2"/>
                </a:solidFill>
              </a:rPr>
              <a:t>.</a:t>
            </a:r>
            <a:br>
              <a:rPr lang="en-US" sz="1400" dirty="0" smtClean="0">
                <a:solidFill>
                  <a:schemeClr val="tx2"/>
                </a:solidFill>
              </a:rPr>
            </a:br>
            <a:endParaRPr lang="en-US" sz="1400" dirty="0">
              <a:solidFill>
                <a:schemeClr val="tx2"/>
              </a:solidFill>
            </a:endParaRPr>
          </a:p>
          <a:p>
            <a:r>
              <a:rPr lang="en-US" sz="1400" b="1" dirty="0" smtClean="0">
                <a:solidFill>
                  <a:schemeClr val="tx2"/>
                </a:solidFill>
              </a:rPr>
              <a:t>Improve your customers’ experiences and cross-sell</a:t>
            </a:r>
            <a:r>
              <a:rPr lang="en-US" sz="1400" dirty="0" smtClean="0">
                <a:solidFill>
                  <a:schemeClr val="tx2"/>
                </a:solidFill>
              </a:rPr>
              <a:t> – By reporting positive data about your customers, you can reward good behavior and extend additional credit for other products and services.</a:t>
            </a:r>
            <a:br>
              <a:rPr lang="en-US" sz="1400" dirty="0" smtClean="0">
                <a:solidFill>
                  <a:schemeClr val="tx2"/>
                </a:solidFill>
              </a:rPr>
            </a:br>
            <a:endParaRPr lang="en-US" sz="1400" dirty="0" smtClean="0">
              <a:solidFill>
                <a:schemeClr val="tx2"/>
              </a:solidFill>
            </a:endParaRPr>
          </a:p>
          <a:p>
            <a:r>
              <a:rPr lang="en-US" sz="1400" b="1" dirty="0" smtClean="0">
                <a:solidFill>
                  <a:schemeClr val="tx2"/>
                </a:solidFill>
              </a:rPr>
              <a:t>Align with regulatory expectations and industry best practices</a:t>
            </a:r>
            <a:r>
              <a:rPr lang="en-US" sz="1400" dirty="0" smtClean="0">
                <a:solidFill>
                  <a:schemeClr val="tx2"/>
                </a:solidFill>
              </a:rPr>
              <a:t> – While credit data reporting is generally voluntary, you can align with regulatory priorities and best practices to help and protect the customer throughout their financial journey.</a:t>
            </a:r>
          </a:p>
          <a:p>
            <a:pPr marL="0" indent="0">
              <a:buNone/>
            </a:pPr>
            <a:endParaRPr lang="en-US" sz="1400" dirty="0" smtClean="0"/>
          </a:p>
          <a:p>
            <a:pPr marL="0" indent="0">
              <a:buNone/>
            </a:pPr>
            <a:r>
              <a:rPr lang="en-US" sz="1400" dirty="0" smtClean="0"/>
              <a:t/>
            </a:r>
            <a:br>
              <a:rPr lang="en-US" sz="1400" dirty="0" smtClean="0"/>
            </a:br>
            <a:endParaRPr lang="en-US" sz="1400" dirty="0"/>
          </a:p>
        </p:txBody>
      </p:sp>
    </p:spTree>
    <p:extLst>
      <p:ext uri="{BB962C8B-B14F-4D97-AF65-F5344CB8AC3E}">
        <p14:creationId xmlns:p14="http://schemas.microsoft.com/office/powerpoint/2010/main" val="36829057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8218" y="484632"/>
            <a:ext cx="8229600" cy="630065"/>
          </a:xfrm>
        </p:spPr>
        <p:txBody>
          <a:bodyPr/>
          <a:lstStyle/>
          <a:p>
            <a:r>
              <a:rPr lang="en-US" sz="2800" dirty="0" smtClean="0"/>
              <a:t>How You Can Make a Difference….</a:t>
            </a:r>
            <a:br>
              <a:rPr lang="en-US" sz="2800" dirty="0" smtClean="0"/>
            </a:br>
            <a:endParaRPr lang="en-US" sz="2800" dirty="0"/>
          </a:p>
        </p:txBody>
      </p:sp>
      <p:sp>
        <p:nvSpPr>
          <p:cNvPr id="3" name="Content Placeholder 2"/>
          <p:cNvSpPr>
            <a:spLocks noGrp="1"/>
          </p:cNvSpPr>
          <p:nvPr>
            <p:ph idx="1"/>
          </p:nvPr>
        </p:nvSpPr>
        <p:spPr>
          <a:xfrm>
            <a:off x="214378" y="1215484"/>
            <a:ext cx="8229600" cy="5324653"/>
          </a:xfrm>
        </p:spPr>
        <p:txBody>
          <a:bodyPr/>
          <a:lstStyle/>
          <a:p>
            <a:pPr marL="346075" lvl="2" indent="0">
              <a:buNone/>
            </a:pPr>
            <a:r>
              <a:rPr lang="en-US" sz="1600" dirty="0" smtClean="0">
                <a:solidFill>
                  <a:schemeClr val="tx2"/>
                </a:solidFill>
              </a:rPr>
              <a:t>Our Clients are</a:t>
            </a:r>
            <a:r>
              <a:rPr lang="en-US" sz="1600" dirty="0">
                <a:solidFill>
                  <a:schemeClr val="tx2"/>
                </a:solidFill>
              </a:rPr>
              <a:t> instrumental </a:t>
            </a:r>
            <a:r>
              <a:rPr lang="en-US" sz="1600" dirty="0" smtClean="0">
                <a:solidFill>
                  <a:schemeClr val="tx2"/>
                </a:solidFill>
              </a:rPr>
              <a:t>in assisting us with complying </a:t>
            </a:r>
            <a:r>
              <a:rPr lang="en-US" sz="1600" dirty="0">
                <a:solidFill>
                  <a:schemeClr val="tx2"/>
                </a:solidFill>
              </a:rPr>
              <a:t>with the requirements </a:t>
            </a:r>
            <a:r>
              <a:rPr lang="en-US" sz="1600" dirty="0" smtClean="0">
                <a:solidFill>
                  <a:schemeClr val="tx2"/>
                </a:solidFill>
              </a:rPr>
              <a:t>to report information with Accuracy and Integrity.  Here is how you can help:</a:t>
            </a:r>
            <a:endParaRPr lang="en-US" sz="1600" dirty="0">
              <a:solidFill>
                <a:schemeClr val="tx2"/>
              </a:solidFill>
            </a:endParaRPr>
          </a:p>
          <a:p>
            <a:pPr lvl="2">
              <a:buFont typeface="Arial" panose="020B0604020202020204" pitchFamily="34" charset="0"/>
              <a:buChar char="•"/>
            </a:pPr>
            <a:endParaRPr lang="en-US" sz="1200" dirty="0" smtClean="0"/>
          </a:p>
          <a:p>
            <a:pPr lvl="2">
              <a:buFont typeface="Arial" panose="020B0604020202020204" pitchFamily="34" charset="0"/>
              <a:buChar char="•"/>
            </a:pPr>
            <a:endParaRPr lang="en-US" sz="1200" dirty="0" smtClean="0"/>
          </a:p>
          <a:p>
            <a:pPr lvl="2">
              <a:buFont typeface="Arial" panose="020B0604020202020204" pitchFamily="34" charset="0"/>
              <a:buChar char="•"/>
            </a:pPr>
            <a:endParaRPr lang="en-US" sz="1200" dirty="0" smtClean="0"/>
          </a:p>
          <a:p>
            <a:pPr lvl="2">
              <a:buFont typeface="Arial" panose="020B0604020202020204" pitchFamily="34" charset="0"/>
              <a:buChar char="•"/>
            </a:pPr>
            <a:endParaRPr lang="en-US" sz="1200" dirty="0"/>
          </a:p>
          <a:p>
            <a:pPr lvl="2">
              <a:buFont typeface="Arial" panose="020B0604020202020204" pitchFamily="34" charset="0"/>
              <a:buChar char="•"/>
            </a:pPr>
            <a:endParaRPr lang="en-US" sz="1200" dirty="0" smtClean="0"/>
          </a:p>
          <a:p>
            <a:pPr lvl="2">
              <a:buFont typeface="Arial" panose="020B0604020202020204" pitchFamily="34" charset="0"/>
              <a:buChar char="•"/>
            </a:pPr>
            <a:endParaRPr lang="en-US" sz="1200" dirty="0"/>
          </a:p>
          <a:p>
            <a:pPr lvl="2">
              <a:buFont typeface="Arial" panose="020B0604020202020204" pitchFamily="34" charset="0"/>
              <a:buChar char="•"/>
            </a:pPr>
            <a:endParaRPr lang="en-US" sz="1200" dirty="0" smtClean="0"/>
          </a:p>
          <a:p>
            <a:pPr lvl="3">
              <a:buFont typeface="Arial" panose="020B0604020202020204" pitchFamily="34" charset="0"/>
              <a:buChar char="•"/>
            </a:pPr>
            <a:endParaRPr lang="en-US" sz="1200" dirty="0"/>
          </a:p>
          <a:p>
            <a:pPr marL="514350" lvl="3" indent="0">
              <a:buNone/>
            </a:pPr>
            <a:endParaRPr lang="en-US" sz="1200" dirty="0" smtClean="0"/>
          </a:p>
          <a:p>
            <a:pPr lvl="2">
              <a:buFont typeface="Arial" panose="020B0604020202020204" pitchFamily="34" charset="0"/>
              <a:buChar char="•"/>
            </a:pPr>
            <a:endParaRPr lang="en-US" sz="1200" dirty="0"/>
          </a:p>
        </p:txBody>
      </p:sp>
      <p:graphicFrame>
        <p:nvGraphicFramePr>
          <p:cNvPr id="6" name="Table 5"/>
          <p:cNvGraphicFramePr>
            <a:graphicFrameLocks noGrp="1"/>
          </p:cNvGraphicFramePr>
          <p:nvPr>
            <p:extLst>
              <p:ext uri="{D42A27DB-BD31-4B8C-83A1-F6EECF244321}">
                <p14:modId xmlns:p14="http://schemas.microsoft.com/office/powerpoint/2010/main" val="3284883786"/>
              </p:ext>
            </p:extLst>
          </p:nvPr>
        </p:nvGraphicFramePr>
        <p:xfrm>
          <a:off x="540949" y="2098766"/>
          <a:ext cx="7454538" cy="3180807"/>
        </p:xfrm>
        <a:graphic>
          <a:graphicData uri="http://schemas.openxmlformats.org/drawingml/2006/table">
            <a:tbl>
              <a:tblPr firstRow="1" bandRow="1">
                <a:tableStyleId>{5C22544A-7EE6-4342-B048-85BDC9FD1C3A}</a:tableStyleId>
              </a:tblPr>
              <a:tblGrid>
                <a:gridCol w="3456285">
                  <a:extLst>
                    <a:ext uri="{9D8B030D-6E8A-4147-A177-3AD203B41FA5}">
                      <a16:colId xmlns:a16="http://schemas.microsoft.com/office/drawing/2014/main" val="2327633998"/>
                    </a:ext>
                  </a:extLst>
                </a:gridCol>
                <a:gridCol w="3998253">
                  <a:extLst>
                    <a:ext uri="{9D8B030D-6E8A-4147-A177-3AD203B41FA5}">
                      <a16:colId xmlns:a16="http://schemas.microsoft.com/office/drawing/2014/main" val="2410961391"/>
                    </a:ext>
                  </a:extLst>
                </a:gridCol>
              </a:tblGrid>
              <a:tr h="335600">
                <a:tc>
                  <a:txBody>
                    <a:bodyPr/>
                    <a:lstStyle/>
                    <a:p>
                      <a:r>
                        <a:rPr lang="en-US" sz="1400" dirty="0" smtClean="0">
                          <a:solidFill>
                            <a:schemeClr val="tx2"/>
                          </a:solidFill>
                        </a:rPr>
                        <a:t>General Revenue Corporation</a:t>
                      </a:r>
                      <a:endParaRPr lang="en-US" sz="1400" dirty="0">
                        <a:solidFill>
                          <a:schemeClr val="tx2"/>
                        </a:solidFill>
                      </a:endParaRPr>
                    </a:p>
                  </a:txBody>
                  <a:tcPr>
                    <a:solidFill>
                      <a:schemeClr val="tx2">
                        <a:lumMod val="20000"/>
                        <a:lumOff val="80000"/>
                      </a:schemeClr>
                    </a:solidFill>
                  </a:tcPr>
                </a:tc>
                <a:tc>
                  <a:txBody>
                    <a:bodyPr/>
                    <a:lstStyle/>
                    <a:p>
                      <a:r>
                        <a:rPr lang="en-US" sz="1400" dirty="0" smtClean="0">
                          <a:solidFill>
                            <a:schemeClr val="tx2"/>
                          </a:solidFill>
                        </a:rPr>
                        <a:t>Our Clients</a:t>
                      </a:r>
                      <a:endParaRPr lang="en-US" sz="14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42714991"/>
                  </a:ext>
                </a:extLst>
              </a:tr>
              <a:tr h="370840">
                <a:tc>
                  <a:txBody>
                    <a:bodyPr/>
                    <a:lstStyle/>
                    <a:p>
                      <a:r>
                        <a:rPr lang="en-US" sz="1000" dirty="0" smtClean="0">
                          <a:solidFill>
                            <a:schemeClr val="tx2"/>
                          </a:solidFill>
                        </a:rPr>
                        <a:t>Report with Accuracy and Integrity – Provide required personal and account level information</a:t>
                      </a:r>
                      <a:endParaRPr lang="en-US" sz="1000" dirty="0">
                        <a:solidFill>
                          <a:schemeClr val="tx2"/>
                        </a:solidFill>
                      </a:endParaRPr>
                    </a:p>
                  </a:txBody>
                  <a:tcPr>
                    <a:solidFill>
                      <a:schemeClr val="tx2">
                        <a:lumMod val="20000"/>
                        <a:lumOff val="80000"/>
                      </a:schemeClr>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smtClean="0">
                          <a:solidFill>
                            <a:schemeClr val="tx2"/>
                          </a:solidFill>
                        </a:rPr>
                        <a:t>Provide full</a:t>
                      </a:r>
                      <a:r>
                        <a:rPr lang="en-US" sz="1000" baseline="0" dirty="0" smtClean="0">
                          <a:solidFill>
                            <a:schemeClr val="tx2"/>
                          </a:solidFill>
                        </a:rPr>
                        <a:t> name, DOB, address, SSN and date of first delinquency</a:t>
                      </a:r>
                    </a:p>
                    <a:p>
                      <a:pPr marL="0" marR="0" indent="0" algn="l" defTabSz="457200" rtl="0" eaLnBrk="1" fontAlgn="auto" latinLnBrk="0" hangingPunct="1">
                        <a:lnSpc>
                          <a:spcPct val="100000"/>
                        </a:lnSpc>
                        <a:spcBef>
                          <a:spcPts val="0"/>
                        </a:spcBef>
                        <a:spcAft>
                          <a:spcPts val="0"/>
                        </a:spcAft>
                        <a:buClrTx/>
                        <a:buSzTx/>
                        <a:buFontTx/>
                        <a:buNone/>
                        <a:tabLst/>
                        <a:defRPr/>
                      </a:pPr>
                      <a:r>
                        <a:rPr lang="en-US" sz="1000" b="1" baseline="0" dirty="0" smtClean="0">
                          <a:solidFill>
                            <a:schemeClr val="tx2"/>
                          </a:solidFill>
                        </a:rPr>
                        <a:t>(DOB is becoming a </a:t>
                      </a:r>
                      <a:r>
                        <a:rPr lang="en-US" sz="1000" b="1" u="sng" baseline="0" dirty="0" smtClean="0">
                          <a:solidFill>
                            <a:schemeClr val="tx2"/>
                          </a:solidFill>
                        </a:rPr>
                        <a:t>required</a:t>
                      </a:r>
                      <a:r>
                        <a:rPr lang="en-US" sz="1000" b="1" baseline="0" dirty="0" smtClean="0">
                          <a:solidFill>
                            <a:schemeClr val="tx2"/>
                          </a:solidFill>
                        </a:rPr>
                        <a:t> field)</a:t>
                      </a:r>
                      <a:endParaRPr lang="en-US" sz="1000" b="1" dirty="0" smtClean="0">
                        <a:solidFill>
                          <a:schemeClr val="tx2"/>
                        </a:solidFill>
                      </a:endParaRPr>
                    </a:p>
                    <a:p>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953869506"/>
                  </a:ext>
                </a:extLst>
              </a:tr>
              <a:tr h="370840">
                <a:tc>
                  <a:txBody>
                    <a:bodyPr/>
                    <a:lstStyle/>
                    <a:p>
                      <a:r>
                        <a:rPr lang="en-US" sz="1000" dirty="0" smtClean="0">
                          <a:solidFill>
                            <a:schemeClr val="tx2"/>
                          </a:solidFill>
                        </a:rPr>
                        <a:t>Investigate and respond to disputes and consider all relevant information included</a:t>
                      </a:r>
                      <a:r>
                        <a:rPr lang="en-US" sz="1000" baseline="0" dirty="0" smtClean="0">
                          <a:solidFill>
                            <a:schemeClr val="tx2"/>
                          </a:solidFill>
                        </a:rPr>
                        <a:t> with the dispute</a:t>
                      </a:r>
                      <a:endParaRPr lang="en-US" sz="1000" dirty="0">
                        <a:solidFill>
                          <a:schemeClr val="tx2"/>
                        </a:solidFill>
                      </a:endParaRPr>
                    </a:p>
                  </a:txBody>
                  <a:tcPr>
                    <a:solidFill>
                      <a:schemeClr val="tx2">
                        <a:lumMod val="20000"/>
                        <a:lumOff val="80000"/>
                      </a:schemeClr>
                    </a:solidFil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smtClean="0">
                          <a:solidFill>
                            <a:schemeClr val="tx2"/>
                          </a:solidFill>
                        </a:rPr>
                        <a:t>Provide prompt debt validation and identity theft decisions</a:t>
                      </a:r>
                    </a:p>
                    <a:p>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3985998353"/>
                  </a:ext>
                </a:extLst>
              </a:tr>
              <a:tr h="416967">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000" dirty="0" smtClean="0">
                          <a:solidFill>
                            <a:schemeClr val="tx2"/>
                          </a:solidFill>
                        </a:rPr>
                        <a:t>Furnish</a:t>
                      </a:r>
                      <a:r>
                        <a:rPr lang="en-US" sz="1000" baseline="0" dirty="0" smtClean="0">
                          <a:solidFill>
                            <a:schemeClr val="tx2"/>
                          </a:solidFill>
                        </a:rPr>
                        <a:t> the date of first delinquency</a:t>
                      </a:r>
                      <a:endParaRPr lang="en-US" sz="1000" dirty="0" smtClean="0">
                        <a:solidFill>
                          <a:schemeClr val="tx2"/>
                        </a:solidFill>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000" dirty="0" smtClean="0">
                        <a:solidFill>
                          <a:schemeClr val="tx2"/>
                        </a:solidFill>
                      </a:endParaRPr>
                    </a:p>
                  </a:txBody>
                  <a:tcPr>
                    <a:solidFill>
                      <a:schemeClr val="tx2">
                        <a:lumMod val="20000"/>
                        <a:lumOff val="80000"/>
                      </a:schemeClr>
                    </a:solidFill>
                  </a:tcPr>
                </a:tc>
                <a:tc>
                  <a:txBody>
                    <a:bodyPr/>
                    <a:lstStyle/>
                    <a:p>
                      <a:r>
                        <a:rPr lang="en-US" sz="1000" dirty="0" smtClean="0">
                          <a:solidFill>
                            <a:schemeClr val="tx2"/>
                          </a:solidFill>
                        </a:rPr>
                        <a:t>Provide the date of first delinquency</a:t>
                      </a:r>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1734140136"/>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000" dirty="0" smtClean="0">
                        <a:solidFill>
                          <a:schemeClr val="tx2"/>
                        </a:solidFill>
                      </a:endParaRPr>
                    </a:p>
                  </a:txBody>
                  <a:tcPr>
                    <a:solidFill>
                      <a:schemeClr val="tx2">
                        <a:lumMod val="20000"/>
                        <a:lumOff val="80000"/>
                      </a:schemeClr>
                    </a:solidFill>
                  </a:tcPr>
                </a:tc>
                <a:tc>
                  <a:txBody>
                    <a:bodyPr/>
                    <a:lstStyle/>
                    <a:p>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1170094199"/>
                  </a:ext>
                </a:extLst>
              </a:tr>
              <a:tr h="370840">
                <a:tc>
                  <a:txBody>
                    <a:bodyPr/>
                    <a:lstStyle/>
                    <a:p>
                      <a:endParaRPr lang="en-US" sz="1000" dirty="0">
                        <a:solidFill>
                          <a:schemeClr val="tx2"/>
                        </a:solidFill>
                      </a:endParaRPr>
                    </a:p>
                  </a:txBody>
                  <a:tcPr>
                    <a:solidFill>
                      <a:schemeClr val="tx2">
                        <a:lumMod val="20000"/>
                        <a:lumOff val="80000"/>
                      </a:schemeClr>
                    </a:solidFill>
                  </a:tcPr>
                </a:tc>
                <a:tc>
                  <a:txBody>
                    <a:bodyPr/>
                    <a:lstStyle/>
                    <a:p>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456739201"/>
                  </a:ext>
                </a:extLst>
              </a:tr>
              <a:tr h="37084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sz="1000" dirty="0" smtClean="0">
                        <a:solidFill>
                          <a:schemeClr val="tx2"/>
                        </a:solidFill>
                      </a:endParaRPr>
                    </a:p>
                  </a:txBody>
                  <a:tcPr>
                    <a:solidFill>
                      <a:schemeClr val="tx2">
                        <a:lumMod val="20000"/>
                        <a:lumOff val="80000"/>
                      </a:schemeClr>
                    </a:solidFill>
                  </a:tcPr>
                </a:tc>
                <a:tc>
                  <a:txBody>
                    <a:bodyPr/>
                    <a:lstStyle/>
                    <a:p>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3936249934"/>
                  </a:ext>
                </a:extLst>
              </a:tr>
              <a:tr h="370840">
                <a:tc>
                  <a:txBody>
                    <a:bodyPr/>
                    <a:lstStyle/>
                    <a:p>
                      <a:endParaRPr lang="en-US" sz="1000" dirty="0">
                        <a:solidFill>
                          <a:schemeClr val="tx2"/>
                        </a:solidFill>
                      </a:endParaRPr>
                    </a:p>
                  </a:txBody>
                  <a:tcPr>
                    <a:solidFill>
                      <a:schemeClr val="tx2">
                        <a:lumMod val="20000"/>
                        <a:lumOff val="80000"/>
                      </a:schemeClr>
                    </a:solidFill>
                  </a:tcPr>
                </a:tc>
                <a:tc>
                  <a:txBody>
                    <a:bodyPr/>
                    <a:lstStyle/>
                    <a:p>
                      <a:endParaRPr lang="en-US" sz="1000" dirty="0">
                        <a:solidFill>
                          <a:schemeClr val="tx2"/>
                        </a:solidFill>
                      </a:endParaRPr>
                    </a:p>
                  </a:txBody>
                  <a:tcPr>
                    <a:solidFill>
                      <a:schemeClr val="tx2">
                        <a:lumMod val="20000"/>
                        <a:lumOff val="80000"/>
                      </a:schemeClr>
                    </a:solidFill>
                  </a:tcPr>
                </a:tc>
                <a:extLst>
                  <a:ext uri="{0D108BD9-81ED-4DB2-BD59-A6C34878D82A}">
                    <a16:rowId xmlns:a16="http://schemas.microsoft.com/office/drawing/2014/main" val="180641450"/>
                  </a:ext>
                </a:extLst>
              </a:tr>
            </a:tbl>
          </a:graphicData>
        </a:graphic>
      </p:graphicFrame>
    </p:spTree>
    <p:extLst>
      <p:ext uri="{BB962C8B-B14F-4D97-AF65-F5344CB8AC3E}">
        <p14:creationId xmlns:p14="http://schemas.microsoft.com/office/powerpoint/2010/main" val="38324436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pic>
        <p:nvPicPr>
          <p:cNvPr id="9219"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5655" t="41529" r="45399" b="21041"/>
          <a:stretch/>
        </p:blipFill>
        <p:spPr bwMode="auto">
          <a:xfrm>
            <a:off x="2039815" y="1889089"/>
            <a:ext cx="5305530" cy="3486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8290037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Contact Information</a:t>
            </a:r>
            <a:endParaRPr lang="en-US" dirty="0"/>
          </a:p>
        </p:txBody>
      </p:sp>
      <p:sp>
        <p:nvSpPr>
          <p:cNvPr id="3" name="Content Placeholder 2"/>
          <p:cNvSpPr>
            <a:spLocks noGrp="1"/>
          </p:cNvSpPr>
          <p:nvPr>
            <p:ph idx="1"/>
          </p:nvPr>
        </p:nvSpPr>
        <p:spPr/>
        <p:txBody>
          <a:bodyPr/>
          <a:lstStyle/>
          <a:p>
            <a:pPr marL="0" indent="0" algn="ctr">
              <a:buNone/>
            </a:pPr>
            <a:endParaRPr lang="en-US" sz="2000" dirty="0" smtClean="0"/>
          </a:p>
          <a:p>
            <a:pPr marL="0" indent="0" algn="ctr">
              <a:buNone/>
            </a:pPr>
            <a:endParaRPr lang="en-US" sz="2000" dirty="0"/>
          </a:p>
          <a:p>
            <a:pPr marL="0" indent="0" algn="ctr">
              <a:buNone/>
            </a:pPr>
            <a:r>
              <a:rPr lang="en-US" sz="2000" dirty="0" smtClean="0"/>
              <a:t>Please feel free to contact  your </a:t>
            </a:r>
          </a:p>
          <a:p>
            <a:pPr marL="0" indent="0" algn="ctr">
              <a:buNone/>
            </a:pPr>
            <a:endParaRPr lang="en-US" sz="2000" dirty="0"/>
          </a:p>
          <a:p>
            <a:pPr marL="0" indent="0" algn="ctr">
              <a:buNone/>
            </a:pPr>
            <a:r>
              <a:rPr lang="en-US" sz="2000" b="1" dirty="0" smtClean="0"/>
              <a:t>Client Services Representative </a:t>
            </a:r>
          </a:p>
          <a:p>
            <a:pPr marL="0" indent="0" algn="ctr">
              <a:buNone/>
            </a:pPr>
            <a:endParaRPr lang="en-US" sz="2000" dirty="0" smtClean="0"/>
          </a:p>
          <a:p>
            <a:pPr marL="0" indent="0" algn="ctr">
              <a:buNone/>
            </a:pPr>
            <a:r>
              <a:rPr lang="en-US" sz="2000" dirty="0" smtClean="0"/>
              <a:t>at 800/234-1472, Option #2</a:t>
            </a:r>
          </a:p>
          <a:p>
            <a:pPr marL="0" indent="0" algn="ctr">
              <a:buNone/>
            </a:pPr>
            <a:endParaRPr lang="en-US" sz="2000" dirty="0" smtClean="0"/>
          </a:p>
          <a:p>
            <a:pPr marL="0" indent="0" algn="ctr">
              <a:buNone/>
            </a:pPr>
            <a:r>
              <a:rPr lang="en-US" sz="2000" dirty="0" smtClean="0"/>
              <a:t>should you have questions.</a:t>
            </a:r>
          </a:p>
          <a:p>
            <a:pPr marL="0" indent="0" algn="ctr">
              <a:buNone/>
            </a:pPr>
            <a:endParaRPr lang="en-US" sz="2000" dirty="0" smtClean="0"/>
          </a:p>
          <a:p>
            <a:pPr marL="0" indent="0" algn="ctr">
              <a:buNone/>
            </a:pPr>
            <a:endParaRPr lang="en-US" sz="2000" dirty="0" smtClean="0"/>
          </a:p>
          <a:p>
            <a:pPr marL="0" indent="0" algn="ctr">
              <a:buNone/>
            </a:pPr>
            <a:r>
              <a:rPr lang="en-US" sz="1600" dirty="0" smtClean="0"/>
              <a:t>This PowerPoint presentation will be emailed to all participants.</a:t>
            </a:r>
            <a:endParaRPr lang="en-US" sz="1600" dirty="0"/>
          </a:p>
        </p:txBody>
      </p:sp>
    </p:spTree>
    <p:extLst>
      <p:ext uri="{BB962C8B-B14F-4D97-AF65-F5344CB8AC3E}">
        <p14:creationId xmlns:p14="http://schemas.microsoft.com/office/powerpoint/2010/main" val="3498743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8760818"/>
      </p:ext>
    </p:extLst>
  </p:cSld>
  <p:clrMapOvr>
    <a:masterClrMapping/>
  </p:clrMapOvr>
</p:sld>
</file>

<file path=ppt/theme/theme1.xml><?xml version="1.0" encoding="utf-8"?>
<a:theme xmlns:a="http://schemas.openxmlformats.org/drawingml/2006/main" name="Navient">
  <a:themeElements>
    <a:clrScheme name="Custom 3">
      <a:dk1>
        <a:srgbClr val="414141"/>
      </a:dk1>
      <a:lt1>
        <a:sysClr val="window" lastClr="FFFFFF"/>
      </a:lt1>
      <a:dk2>
        <a:srgbClr val="A27518"/>
      </a:dk2>
      <a:lt2>
        <a:srgbClr val="BEBEBE"/>
      </a:lt2>
      <a:accent1>
        <a:srgbClr val="1F684E"/>
      </a:accent1>
      <a:accent2>
        <a:srgbClr val="EC9D04"/>
      </a:accent2>
      <a:accent3>
        <a:srgbClr val="838383"/>
      </a:accent3>
      <a:accent4>
        <a:srgbClr val="006569"/>
      </a:accent4>
      <a:accent5>
        <a:srgbClr val="1F68B2"/>
      </a:accent5>
      <a:accent6>
        <a:srgbClr val="007377"/>
      </a:accent6>
      <a:hlink>
        <a:srgbClr val="0057B8"/>
      </a:hlink>
      <a:folHlink>
        <a:srgbClr val="00AEE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25400">
          <a:solidFill>
            <a:schemeClr val="accent3"/>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Sallie Mae Document" ma:contentTypeID="0x01010002F5DE1884C17242B0322C437F498882001977E47EDC553B468C7920402698A0AE" ma:contentTypeVersion="5" ma:contentTypeDescription="Create a Document" ma:contentTypeScope="" ma:versionID="2edc24b62f8688978c705e38d24e4d42">
  <xsd:schema xmlns:xsd="http://www.w3.org/2001/XMLSchema" xmlns:xs="http://www.w3.org/2001/XMLSchema" xmlns:p="http://schemas.microsoft.com/office/2006/metadata/properties" xmlns:ns2="59f377ab-3149-42e7-8b22-0d1377e15050" targetNamespace="http://schemas.microsoft.com/office/2006/metadata/properties" ma:root="true" ma:fieldsID="e3ef53593ec2fe0278a32ed82fe7ac09" ns2:_="">
    <xsd:import namespace="59f377ab-3149-42e7-8b22-0d1377e15050"/>
    <xsd:element name="properties">
      <xsd:complexType>
        <xsd:sequence>
          <xsd:element name="documentManagement">
            <xsd:complexType>
              <xsd:all>
                <xsd:element ref="ns2:SLM_x0020_Compliance_x0020_ClassTaxHTField0" minOccurs="0"/>
                <xsd:element ref="ns2:TaxCatchAll" minOccurs="0"/>
                <xsd:element ref="ns2:TaxCatchAllLabel" minOccurs="0"/>
                <xsd:element ref="ns2:SLM_x0020_Business_x0020_AreaTaxHTField0" minOccurs="0"/>
                <xsd:element ref="ns2:SLM_x0020_Communication_x0020_TypeTaxHTField0" minOccurs="0"/>
                <xsd:element ref="ns2:SLM_x0020_Corporate_x0020_ProgramTaxHTField0" minOccurs="0"/>
                <xsd:element ref="ns2:SLM_x0020_LocationTaxHTField0" minOccurs="0"/>
                <xsd:element ref="ns2:SLM_x0020_OperationTaxHTField0"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9f377ab-3149-42e7-8b22-0d1377e15050" elementFormDefault="qualified">
    <xsd:import namespace="http://schemas.microsoft.com/office/2006/documentManagement/types"/>
    <xsd:import namespace="http://schemas.microsoft.com/office/infopath/2007/PartnerControls"/>
    <xsd:element name="SLM_x0020_Compliance_x0020_ClassTaxHTField0" ma:index="8" nillable="true" ma:taxonomy="true" ma:internalName="SLM_x0020_Compliance_x0020_ClassTaxHTField0" ma:taxonomyFieldName="SLM_x0020_Compliance_x0020_Class" ma:displayName="SLM Compliance Class" ma:readOnly="false" ma:default="" ma:fieldId="{a655fd19-a11f-4175-919e-4b5a1789a83e}" ma:taxonomyMulti="true" ma:sspId="bf766977-385a-4491-8897-31781b564afb" ma:termSetId="50a51d6e-130c-422b-aaf7-d18bb30b725f"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aa74b9a4-1225-40c5-ac04-ccdcb5b8ca65}" ma:internalName="TaxCatchAll" ma:readOnly="false" ma:showField="CatchAllData" ma:web="0079f65f-93d2-4503-af99-2f1c24b088b7">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aa74b9a4-1225-40c5-ac04-ccdcb5b8ca65}" ma:internalName="TaxCatchAllLabel" ma:readOnly="true" ma:showField="CatchAllDataLabel" ma:web="0079f65f-93d2-4503-af99-2f1c24b088b7">
      <xsd:complexType>
        <xsd:complexContent>
          <xsd:extension base="dms:MultiChoiceLookup">
            <xsd:sequence>
              <xsd:element name="Value" type="dms:Lookup" maxOccurs="unbounded" minOccurs="0" nillable="true"/>
            </xsd:sequence>
          </xsd:extension>
        </xsd:complexContent>
      </xsd:complexType>
    </xsd:element>
    <xsd:element name="SLM_x0020_Business_x0020_AreaTaxHTField0" ma:index="12" nillable="true" ma:taxonomy="true" ma:internalName="SLM_x0020_Business_x0020_AreaTaxHTField0" ma:taxonomyFieldName="SLM_x0020_Business_x0020_Area" ma:displayName="SLM Business Area" ma:readOnly="false" ma:default="" ma:fieldId="{b865cba3-5c64-4b0e-a8bf-2dd511330e36}" ma:taxonomyMulti="true" ma:sspId="bf766977-385a-4491-8897-31781b564afb" ma:termSetId="d33301e8-870b-4ecb-b1f0-bc02ceced676" ma:anchorId="00000000-0000-0000-0000-000000000000" ma:open="false" ma:isKeyword="false">
      <xsd:complexType>
        <xsd:sequence>
          <xsd:element ref="pc:Terms" minOccurs="0" maxOccurs="1"/>
        </xsd:sequence>
      </xsd:complexType>
    </xsd:element>
    <xsd:element name="SLM_x0020_Communication_x0020_TypeTaxHTField0" ma:index="14" nillable="true" ma:taxonomy="true" ma:internalName="SLM_x0020_Communication_x0020_TypeTaxHTField0" ma:taxonomyFieldName="SLM_x0020_Communication_x0020_Type" ma:displayName="SLM Communication Type" ma:readOnly="false" ma:default="" ma:fieldId="{1096dc3f-486c-48fe-9e10-023ddc0a126b}" ma:taxonomyMulti="true" ma:sspId="bf766977-385a-4491-8897-31781b564afb" ma:termSetId="a3206e6e-26d5-482f-a8fa-1cfec640aa61" ma:anchorId="00000000-0000-0000-0000-000000000000" ma:open="false" ma:isKeyword="false">
      <xsd:complexType>
        <xsd:sequence>
          <xsd:element ref="pc:Terms" minOccurs="0" maxOccurs="1"/>
        </xsd:sequence>
      </xsd:complexType>
    </xsd:element>
    <xsd:element name="SLM_x0020_Corporate_x0020_ProgramTaxHTField0" ma:index="16" nillable="true" ma:taxonomy="true" ma:internalName="SLM_x0020_Corporate_x0020_ProgramTaxHTField0" ma:taxonomyFieldName="SLM_x0020_Corporate_x0020_Program" ma:displayName="SLM Corporate Program" ma:readOnly="false" ma:default="" ma:fieldId="{4db56825-6286-49aa-93f8-920f7ecde704}" ma:taxonomyMulti="true" ma:sspId="bf766977-385a-4491-8897-31781b564afb" ma:termSetId="b5f09386-9a96-441f-86d0-735390500d3a" ma:anchorId="00000000-0000-0000-0000-000000000000" ma:open="false" ma:isKeyword="false">
      <xsd:complexType>
        <xsd:sequence>
          <xsd:element ref="pc:Terms" minOccurs="0" maxOccurs="1"/>
        </xsd:sequence>
      </xsd:complexType>
    </xsd:element>
    <xsd:element name="SLM_x0020_LocationTaxHTField0" ma:index="18" nillable="true" ma:taxonomy="true" ma:internalName="SLM_x0020_LocationTaxHTField0" ma:taxonomyFieldName="SLM_x0020_Location" ma:displayName="SLM Location" ma:readOnly="false" ma:default="" ma:fieldId="{991f1a59-6e22-4d60-a085-53aef8c56b2b}" ma:taxonomyMulti="true" ma:sspId="bf766977-385a-4491-8897-31781b564afb" ma:termSetId="a7787018-78fa-489b-a4f2-2ee54e371769" ma:anchorId="00000000-0000-0000-0000-000000000000" ma:open="false" ma:isKeyword="false">
      <xsd:complexType>
        <xsd:sequence>
          <xsd:element ref="pc:Terms" minOccurs="0" maxOccurs="1"/>
        </xsd:sequence>
      </xsd:complexType>
    </xsd:element>
    <xsd:element name="SLM_x0020_OperationTaxHTField0" ma:index="20" nillable="true" ma:taxonomy="true" ma:internalName="SLM_x0020_OperationTaxHTField0" ma:taxonomyFieldName="SLM_x0020_Operation" ma:displayName="SLM Operation" ma:readOnly="false" ma:default="" ma:fieldId="{5a21da26-64f7-47d4-9da9-e5d3a2c8c6bf}" ma:taxonomyMulti="true" ma:sspId="bf766977-385a-4491-8897-31781b564afb" ma:termSetId="b69b1cc7-0b21-4424-b8d0-f0eea6af9933"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9f377ab-3149-42e7-8b22-0d1377e15050"/>
    <SLM_x0020_Business_x0020_AreaTaxHTField0 xmlns="59f377ab-3149-42e7-8b22-0d1377e15050">
      <Terms xmlns="http://schemas.microsoft.com/office/infopath/2007/PartnerControls"/>
    </SLM_x0020_Business_x0020_AreaTaxHTField0>
    <SLM_x0020_Compliance_x0020_ClassTaxHTField0 xmlns="59f377ab-3149-42e7-8b22-0d1377e15050">
      <Terms xmlns="http://schemas.microsoft.com/office/infopath/2007/PartnerControls"/>
    </SLM_x0020_Compliance_x0020_ClassTaxHTField0>
    <SLM_x0020_Communication_x0020_TypeTaxHTField0 xmlns="59f377ab-3149-42e7-8b22-0d1377e15050">
      <Terms xmlns="http://schemas.microsoft.com/office/infopath/2007/PartnerControls"/>
    </SLM_x0020_Communication_x0020_TypeTaxHTField0>
    <SLM_x0020_LocationTaxHTField0 xmlns="59f377ab-3149-42e7-8b22-0d1377e15050">
      <Terms xmlns="http://schemas.microsoft.com/office/infopath/2007/PartnerControls"/>
    </SLM_x0020_LocationTaxHTField0>
    <SLM_x0020_Corporate_x0020_ProgramTaxHTField0 xmlns="59f377ab-3149-42e7-8b22-0d1377e15050">
      <Terms xmlns="http://schemas.microsoft.com/office/infopath/2007/PartnerControls"/>
    </SLM_x0020_Corporate_x0020_ProgramTaxHTField0>
    <SLM_x0020_OperationTaxHTField0 xmlns="59f377ab-3149-42e7-8b22-0d1377e15050">
      <Terms xmlns="http://schemas.microsoft.com/office/infopath/2007/PartnerControls"/>
    </SLM_x0020_OperationTaxHTField0>
  </documentManagement>
</p:properties>
</file>

<file path=customXml/itemProps1.xml><?xml version="1.0" encoding="utf-8"?>
<ds:datastoreItem xmlns:ds="http://schemas.openxmlformats.org/officeDocument/2006/customXml" ds:itemID="{D52DAE5F-E199-49CA-A6AD-2287D29842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9f377ab-3149-42e7-8b22-0d1377e1505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2DE6E23-6C85-4CA4-A194-D602FDB5D61F}">
  <ds:schemaRefs>
    <ds:schemaRef ds:uri="http://schemas.microsoft.com/sharepoint/v3/contenttype/forms"/>
  </ds:schemaRefs>
</ds:datastoreItem>
</file>

<file path=customXml/itemProps3.xml><?xml version="1.0" encoding="utf-8"?>
<ds:datastoreItem xmlns:ds="http://schemas.openxmlformats.org/officeDocument/2006/customXml" ds:itemID="{CE5F0C55-4D72-4BDF-BE1B-6FF6B11BA1BF}">
  <ds:schemaRefs>
    <ds:schemaRef ds:uri="http://purl.org/dc/terms/"/>
    <ds:schemaRef ds:uri="http://schemas.microsoft.com/office/2006/metadata/properties"/>
    <ds:schemaRef ds:uri="http://schemas.openxmlformats.org/package/2006/metadata/core-properties"/>
    <ds:schemaRef ds:uri="59f377ab-3149-42e7-8b22-0d1377e15050"/>
    <ds:schemaRef ds:uri="http://schemas.microsoft.com/office/2006/documentManagement/types"/>
    <ds:schemaRef ds:uri="http://purl.org/dc/elements/1.1/"/>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GRC-14-10320_GRC PowerPoint Template</Template>
  <TotalTime>7810</TotalTime>
  <Words>997</Words>
  <Application>Microsoft Office PowerPoint</Application>
  <PresentationFormat>On-screen Show (4:3)</PresentationFormat>
  <Paragraphs>196</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Lucida Grande</vt:lpstr>
      <vt:lpstr>Wingdings</vt:lpstr>
      <vt:lpstr>Navient</vt:lpstr>
      <vt:lpstr>Credit Reporting and The Fair Credit Reporting Act  Presented by  General Revenue Corporation June 2016  Hosted by  Evelyn Capodanno,  Senior Director of Compliance</vt:lpstr>
      <vt:lpstr>Agenda</vt:lpstr>
      <vt:lpstr>Fair Credit Reporting Act (FCRA)</vt:lpstr>
      <vt:lpstr>Fair Credit Reporting Act - History</vt:lpstr>
      <vt:lpstr>Fair Credit Reporting Act</vt:lpstr>
      <vt:lpstr>Consumer Rights</vt:lpstr>
      <vt:lpstr>Duties of Data Users and Furnishers </vt:lpstr>
      <vt:lpstr>Credit Reporting Disputes </vt:lpstr>
      <vt:lpstr>Credit Reporting Disputes</vt:lpstr>
      <vt:lpstr>Credit Reporting Disputes – CRAs (“ACDV”)</vt:lpstr>
      <vt:lpstr>Credit Reporting Disputes – Direct</vt:lpstr>
      <vt:lpstr>Upcoming Changes and CRA Business Rules</vt:lpstr>
      <vt:lpstr> </vt:lpstr>
      <vt:lpstr>Fair Credit Reporting Act:    What it means to you as a creditor…..</vt:lpstr>
      <vt:lpstr>Credit Reporting Advantages</vt:lpstr>
      <vt:lpstr>How You Can Make a Difference…. </vt:lpstr>
      <vt:lpstr>Questions???</vt:lpstr>
      <vt:lpstr>Contact Information</vt:lpstr>
      <vt:lpstr>PowerPoint Presentation</vt:lpstr>
    </vt:vector>
  </TitlesOfParts>
  <Company>Sallie Mae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Headline Arial Regular sentence case line 2</dc:title>
  <dc:creator>Tower, Harry</dc:creator>
  <cp:lastModifiedBy>Rice, Diane</cp:lastModifiedBy>
  <cp:revision>276</cp:revision>
  <cp:lastPrinted>2016-05-20T13:50:13Z</cp:lastPrinted>
  <dcterms:created xsi:type="dcterms:W3CDTF">2014-02-26T21:48:29Z</dcterms:created>
  <dcterms:modified xsi:type="dcterms:W3CDTF">2016-06-01T15:39:43Z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0x01010002F5DE1884C17242B0322C437F498882001977E47EDC553B468C7920402698A0AE</vt:lpwstr>
  </property>
  <property fmtid="{D5CDD505-2E9C-101B-9397-08002B2CF9AE}" pid="3" name="TaxKeyword">
    <vt:lpwstr/>
  </property>
  <property fmtid="{D5CDD505-2E9C-101B-9397-08002B2CF9AE}" pid="4" name="SLM Compliance Class">
    <vt:lpwstr/>
  </property>
  <property fmtid="{D5CDD505-2E9C-101B-9397-08002B2CF9AE}" pid="5" name="SLM Communication Type">
    <vt:lpwstr/>
  </property>
  <property fmtid="{D5CDD505-2E9C-101B-9397-08002B2CF9AE}" pid="6" name="SLM Corporate Program">
    <vt:lpwstr/>
  </property>
  <property fmtid="{D5CDD505-2E9C-101B-9397-08002B2CF9AE}" pid="7" name="SLM Location">
    <vt:lpwstr/>
  </property>
  <property fmtid="{D5CDD505-2E9C-101B-9397-08002B2CF9AE}" pid="8" name="SLM Operation">
    <vt:lpwstr/>
  </property>
  <property fmtid="{D5CDD505-2E9C-101B-9397-08002B2CF9AE}" pid="9" name="SLM Business Area">
    <vt:lpwstr/>
  </property>
  <property fmtid="{D5CDD505-2E9C-101B-9397-08002B2CF9AE}" pid="10" name="Order">
    <vt:r8>3900</vt:r8>
  </property>
  <property fmtid="{D5CDD505-2E9C-101B-9397-08002B2CF9AE}" pid="11" name="xd_Signature">
    <vt:bool>false</vt:bool>
  </property>
  <property fmtid="{D5CDD505-2E9C-101B-9397-08002B2CF9AE}" pid="12" name="xd_ProgID">
    <vt:lpwstr/>
  </property>
  <property fmtid="{D5CDD505-2E9C-101B-9397-08002B2CF9AE}" pid="13" name="TaxKeywordTaxHTField">
    <vt:lpwstr/>
  </property>
  <property fmtid="{D5CDD505-2E9C-101B-9397-08002B2CF9AE}" pid="14" name="TemplateUrl">
    <vt:lpwstr/>
  </property>
  <property fmtid="{D5CDD505-2E9C-101B-9397-08002B2CF9AE}" pid="15" name="SLM Business AreaTaxHTField0">
    <vt:lpwstr/>
  </property>
  <property fmtid="{D5CDD505-2E9C-101B-9397-08002B2CF9AE}" pid="16" name="SLM Compliance ClassTaxHTField0">
    <vt:lpwstr/>
  </property>
  <property fmtid="{D5CDD505-2E9C-101B-9397-08002B2CF9AE}" pid="17" name="SLM OperationTaxHTField0">
    <vt:lpwstr/>
  </property>
  <property fmtid="{D5CDD505-2E9C-101B-9397-08002B2CF9AE}" pid="18" name="SLM Communication TypeTaxHTField0">
    <vt:lpwstr/>
  </property>
  <property fmtid="{D5CDD505-2E9C-101B-9397-08002B2CF9AE}" pid="19" name="SLM LocationTaxHTField0">
    <vt:lpwstr/>
  </property>
  <property fmtid="{D5CDD505-2E9C-101B-9397-08002B2CF9AE}" pid="20" name="SLM Corporate ProgramTaxHTField0">
    <vt:lpwstr/>
  </property>
</Properties>
</file>